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46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950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are Team Hack Monster'z from Marwadi and Atmiya University, Rajkot. Our project is SheShield, a jewellery-style wearable that detects distress automatically, and lets her cancel a false alarm.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Harsh. I built the hardware, firmware and score logic. Mirali built the cancel window, SOS messaging, testing and documentation. Together, we built every layer.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safety devices need her to press a button. India recorded 4,45,256 crimes against women in 2022. In our survey of 12 women, 9 were not confident pressing a button if restrained, and 7 had switched off a safety app due to false alerts.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SheShield detects, decides and protects. Heart-rate and motion make a zero to hundred score. At 70, an 8-second cancel window starts, then SOS goes out. A long press sends SOS instantly. Today Telegram with live GPS location; final product GSM.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Heart-rate above her baseline gives up to 40 points, motion up to 40, rotation 20. Motion alone reaches only 60, so shaking never raises an alarm. Both signals must agree to cross 70. Every threshold is explainable.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working prototype on real hardware. Sensing, score, trigger, cancel window, long-press SOS and Telegram alert run end to end. It is a breadboard demo, and the alert carries live GPS location. Our video shows every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panic pendants, phone apps and shake alerts, SheShield needs no conscious press and controls false alarms. We do not claim to invent automatic detection; our novelty is passive detection with a human cancel window.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ESP32, MAX30102, MPU6050, OLED, buzzer and vibration motor. Prototype cost is about 900 to 1,400 rupees. The NEO-6M GPS gives live location; next comes a GSM module.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done. Next: GSM, compact PCB, wearable enclosure, and a pilot with 10 to 15 volunteers. Our main risk is wrist heart-rate noise, reduced by per-user tuning.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pilot targets, not results: 95 percent alert delivery, under 5 percent false alarms, SOS within 15 seconds. Year-one goal: 500 to 2,000 devices.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SheShield acts when she cannot. We seek pilot partners and mentorship for the GSM version. Our code is on GitHub.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E9F3"/>
        </a:solidFill>
        <a:effectLst/>
      </p:bgPr>
    </p:bg>
    <p:spTree>
      <p:nvGrpSpPr>
        <p:cNvPr id="1" name=""/>
        <p:cNvGrpSpPr/>
        <p:nvPr/>
      </p:nvGrpSpPr>
      <p:grpSpPr>
        <a:xfrm>
          <a:off x="0" y="0"/>
          <a:ext cx="0" cy="0"/>
          <a:chOff x="0" y="0"/>
          <a:chExt cx="0" cy="0"/>
        </a:xfrm>
      </p:grpSpPr>
      <p:pic>
        <p:nvPicPr>
          <p:cNvPr id="2" name="Image 0" descr="banner.png"/>
          <p:cNvPicPr>
            <a:picLocks noChangeAspect="1"/>
          </p:cNvPicPr>
          <p:nvPr/>
        </p:nvPicPr>
        <p:blipFill>
          <a:blip r:embed="rId3"/>
          <a:srcRect/>
          <a:stretch/>
        </p:blipFill>
        <p:spPr>
          <a:xfrm>
            <a:off x="0" y="0"/>
            <a:ext cx="9144000" cy="2286000"/>
          </a:xfrm>
          <a:prstGeom prst="rect">
            <a:avLst/>
          </a:prstGeom>
        </p:spPr>
      </p:pic>
      <p:sp>
        <p:nvSpPr>
          <p:cNvPr id="3" name="Text 0"/>
          <p:cNvSpPr txBox="1"/>
          <p:nvPr/>
        </p:nvSpPr>
        <p:spPr>
          <a:xfrm>
            <a:off x="457200" y="137160"/>
            <a:ext cx="5943600" cy="50292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IEEE WIE ILS 2026</a:t>
            </a:r>
            <a:endParaRPr lang="en-US" sz="3000" dirty="0"/>
          </a:p>
        </p:txBody>
      </p:sp>
      <p:sp>
        <p:nvSpPr>
          <p:cNvPr id="4" name="Text 1"/>
          <p:cNvSpPr txBox="1"/>
          <p:nvPr/>
        </p:nvSpPr>
        <p:spPr>
          <a:xfrm>
            <a:off x="457200" y="685800"/>
            <a:ext cx="5943600" cy="256032"/>
          </a:xfrm>
          <a:prstGeom prst="rect">
            <a:avLst/>
          </a:prstGeom>
          <a:noFill/>
          <a:ln/>
        </p:spPr>
        <p:txBody>
          <a:bodyPr wrap="square" lIns="0" tIns="0" rIns="0" bIns="0" rtlCol="0" anchor="ctr"/>
          <a:lstStyle/>
          <a:p>
            <a:pPr marL="0" indent="0">
              <a:buNone/>
            </a:pPr>
            <a:r>
              <a:rPr lang="en-US" sz="1200" b="1" kern="0" spc="200" dirty="0">
                <a:solidFill>
                  <a:srgbClr val="E7C8F5"/>
                </a:solidFill>
                <a:latin typeface="Calibri" pitchFamily="34" charset="0"/>
                <a:ea typeface="Calibri" pitchFamily="34" charset="-122"/>
                <a:cs typeface="Calibri" pitchFamily="34" charset="-120"/>
              </a:rPr>
              <a:t>ROUND 2  ·  PPT &amp; PROTOTYPE VIDEO</a:t>
            </a:r>
            <a:endParaRPr lang="en-US" sz="1200" dirty="0"/>
          </a:p>
        </p:txBody>
      </p:sp>
      <p:sp>
        <p:nvSpPr>
          <p:cNvPr id="5" name="Text 2"/>
          <p:cNvSpPr txBox="1"/>
          <p:nvPr/>
        </p:nvSpPr>
        <p:spPr>
          <a:xfrm>
            <a:off x="457200" y="1783080"/>
            <a:ext cx="5943600" cy="228600"/>
          </a:xfrm>
          <a:prstGeom prst="rect">
            <a:avLst/>
          </a:prstGeom>
          <a:noFill/>
          <a:ln/>
        </p:spPr>
        <p:txBody>
          <a:bodyPr wrap="square" lIns="0" tIns="0" rIns="0" bIns="0" rtlCol="0" anchor="ctr"/>
          <a:lstStyle/>
          <a:p>
            <a:pPr marL="0" indent="0">
              <a:buNone/>
            </a:pPr>
            <a:r>
              <a:rPr lang="en-US" sz="1050" b="1" kern="0" spc="300" dirty="0">
                <a:solidFill>
                  <a:srgbClr val="E7C8F5"/>
                </a:solidFill>
                <a:latin typeface="Calibri" pitchFamily="34" charset="0"/>
                <a:ea typeface="Calibri" pitchFamily="34" charset="-122"/>
                <a:cs typeface="Calibri" pitchFamily="34" charset="-120"/>
              </a:rPr>
              <a:t>IDEATE.  INNOVATE.  IMPACT.</a:t>
            </a:r>
            <a:endParaRPr lang="en-US" sz="1050" dirty="0"/>
          </a:p>
        </p:txBody>
      </p:sp>
      <p:sp>
        <p:nvSpPr>
          <p:cNvPr id="6" name="Text 3"/>
          <p:cNvSpPr txBox="1"/>
          <p:nvPr/>
        </p:nvSpPr>
        <p:spPr>
          <a:xfrm>
            <a:off x="457200" y="2011680"/>
            <a:ext cx="5943600" cy="182880"/>
          </a:xfrm>
          <a:prstGeom prst="rect">
            <a:avLst/>
          </a:prstGeom>
          <a:noFill/>
          <a:ln/>
        </p:spPr>
        <p:txBody>
          <a:bodyPr wrap="square" lIns="0" tIns="0" rIns="0" bIns="0" rtlCol="0" anchor="ctr"/>
          <a:lstStyle/>
          <a:p>
            <a:pPr marL="0" indent="0">
              <a:buNone/>
            </a:pPr>
            <a:r>
              <a:rPr lang="en-US" sz="850" kern="0" spc="100" dirty="0">
                <a:solidFill>
                  <a:srgbClr val="CDB0E0"/>
                </a:solidFill>
                <a:latin typeface="Calibri" pitchFamily="34" charset="0"/>
                <a:ea typeface="Calibri" pitchFamily="34" charset="-122"/>
                <a:cs typeface="Calibri" pitchFamily="34" charset="-120"/>
              </a:rPr>
              <a:t>POWERING SOLUTIONS.  EMPOWERING WOMEN.  SHAPING TOMORROW.</a:t>
            </a:r>
            <a:endParaRPr lang="en-US" sz="850" dirty="0"/>
          </a:p>
        </p:txBody>
      </p:sp>
      <p:sp>
        <p:nvSpPr>
          <p:cNvPr id="7" name="Text 4"/>
          <p:cNvSpPr txBox="1"/>
          <p:nvPr/>
        </p:nvSpPr>
        <p:spPr>
          <a:xfrm>
            <a:off x="457200" y="2395728"/>
            <a:ext cx="3657600" cy="548640"/>
          </a:xfrm>
          <a:prstGeom prst="rect">
            <a:avLst/>
          </a:prstGeom>
          <a:noFill/>
          <a:ln/>
        </p:spPr>
        <p:txBody>
          <a:bodyPr wrap="square" lIns="0" tIns="0" rIns="0" bIns="0" rtlCol="0" anchor="ctr"/>
          <a:lstStyle/>
          <a:p>
            <a:pPr marL="0" indent="0">
              <a:buNone/>
            </a:pPr>
            <a:r>
              <a:rPr lang="en-US" sz="3400" b="1" dirty="0">
                <a:solidFill>
                  <a:srgbClr val="5E1B8E"/>
                </a:solidFill>
                <a:latin typeface="Calibri" pitchFamily="34" charset="0"/>
                <a:ea typeface="Calibri" pitchFamily="34" charset="-122"/>
                <a:cs typeface="Calibri" pitchFamily="34" charset="-120"/>
              </a:rPr>
              <a:t>SheShield</a:t>
            </a:r>
            <a:endParaRPr lang="en-US" sz="3400" dirty="0"/>
          </a:p>
        </p:txBody>
      </p:sp>
      <p:sp>
        <p:nvSpPr>
          <p:cNvPr id="8" name="Text 5"/>
          <p:cNvSpPr txBox="1"/>
          <p:nvPr/>
        </p:nvSpPr>
        <p:spPr>
          <a:xfrm>
            <a:off x="2926080" y="2395728"/>
            <a:ext cx="5760720" cy="548640"/>
          </a:xfrm>
          <a:prstGeom prst="rect">
            <a:avLst/>
          </a:prstGeom>
          <a:noFill/>
          <a:ln/>
        </p:spPr>
        <p:txBody>
          <a:bodyPr wrap="square" lIns="0" tIns="0" rIns="0" bIns="0" rtlCol="0" anchor="ctr"/>
          <a:lstStyle/>
          <a:p>
            <a:pPr marL="0" indent="0">
              <a:buNone/>
            </a:pPr>
            <a:r>
              <a:rPr lang="en-US" sz="2200" b="1" i="1" dirty="0">
                <a:solidFill>
                  <a:srgbClr val="C2185B"/>
                </a:solidFill>
                <a:latin typeface="Calibri" pitchFamily="34" charset="0"/>
                <a:ea typeface="Calibri" pitchFamily="34" charset="-122"/>
                <a:cs typeface="Calibri" pitchFamily="34" charset="-120"/>
              </a:rPr>
              <a:t>It acts when she cannot.</a:t>
            </a:r>
            <a:endParaRPr lang="en-US" sz="2200" dirty="0"/>
          </a:p>
        </p:txBody>
      </p:sp>
      <p:sp>
        <p:nvSpPr>
          <p:cNvPr id="9" name="Text 6"/>
          <p:cNvSpPr txBox="1"/>
          <p:nvPr/>
        </p:nvSpPr>
        <p:spPr>
          <a:xfrm>
            <a:off x="457200" y="2990088"/>
            <a:ext cx="8229600" cy="274320"/>
          </a:xfrm>
          <a:prstGeom prst="rect">
            <a:avLst/>
          </a:prstGeom>
          <a:noFill/>
          <a:ln/>
        </p:spPr>
        <p:txBody>
          <a:bodyPr wrap="square" lIns="0" tIns="0" rIns="0" bIns="0" rtlCol="0" anchor="ctr"/>
          <a:lstStyle/>
          <a:p>
            <a:pPr marL="0" indent="0">
              <a:buNone/>
            </a:pPr>
            <a:r>
              <a:rPr lang="en-US" sz="1300" dirty="0">
                <a:solidFill>
                  <a:srgbClr val="2A1A3A"/>
                </a:solidFill>
                <a:latin typeface="Calibri" pitchFamily="34" charset="0"/>
                <a:ea typeface="Calibri" pitchFamily="34" charset="-122"/>
                <a:cs typeface="Calibri" pitchFamily="34" charset="-120"/>
              </a:rPr>
              <a:t>A jewellery-style wearable that detects distress automatically, and still lets her cancel a false alarm.</a:t>
            </a:r>
            <a:endParaRPr lang="en-US" sz="1300" dirty="0"/>
          </a:p>
        </p:txBody>
      </p:sp>
      <p:sp>
        <p:nvSpPr>
          <p:cNvPr id="10" name="Shape 7"/>
          <p:cNvSpPr/>
          <p:nvPr/>
        </p:nvSpPr>
        <p:spPr>
          <a:xfrm>
            <a:off x="457200" y="3401568"/>
            <a:ext cx="1783080" cy="384048"/>
          </a:xfrm>
          <a:prstGeom prst="roundRect">
            <a:avLst>
              <a:gd name="adj" fmla="val 14286"/>
            </a:avLst>
          </a:prstGeom>
          <a:solidFill>
            <a:srgbClr val="5E1B8E"/>
          </a:solidFill>
          <a:ln w="12700">
            <a:solidFill>
              <a:srgbClr val="5E1B8E"/>
            </a:solidFill>
            <a:prstDash val="solid"/>
          </a:ln>
        </p:spPr>
      </p:sp>
      <p:sp>
        <p:nvSpPr>
          <p:cNvPr id="11" name="Text 8"/>
          <p:cNvSpPr txBox="1"/>
          <p:nvPr/>
        </p:nvSpPr>
        <p:spPr>
          <a:xfrm>
            <a:off x="457200" y="3401568"/>
            <a:ext cx="17830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Heart-rate + Motion</a:t>
            </a:r>
            <a:endParaRPr lang="en-US" sz="1150" dirty="0"/>
          </a:p>
        </p:txBody>
      </p:sp>
      <p:sp>
        <p:nvSpPr>
          <p:cNvPr id="12" name="Shape 9"/>
          <p:cNvSpPr/>
          <p:nvPr/>
        </p:nvSpPr>
        <p:spPr>
          <a:xfrm>
            <a:off x="2340864" y="3520440"/>
            <a:ext cx="164592" cy="146304"/>
          </a:xfrm>
          <a:prstGeom prst="rightArrow">
            <a:avLst/>
          </a:prstGeom>
          <a:solidFill>
            <a:srgbClr val="C2185B"/>
          </a:solidFill>
          <a:ln w="12700">
            <a:solidFill>
              <a:srgbClr val="C2185B"/>
            </a:solidFill>
            <a:prstDash val="solid"/>
          </a:ln>
        </p:spPr>
      </p:sp>
      <p:sp>
        <p:nvSpPr>
          <p:cNvPr id="13" name="Shape 10"/>
          <p:cNvSpPr/>
          <p:nvPr/>
        </p:nvSpPr>
        <p:spPr>
          <a:xfrm>
            <a:off x="2606040" y="3401568"/>
            <a:ext cx="1783080" cy="384048"/>
          </a:xfrm>
          <a:prstGeom prst="roundRect">
            <a:avLst>
              <a:gd name="adj" fmla="val 14286"/>
            </a:avLst>
          </a:prstGeom>
          <a:solidFill>
            <a:srgbClr val="5E1B8E"/>
          </a:solidFill>
          <a:ln w="12700">
            <a:solidFill>
              <a:srgbClr val="5E1B8E"/>
            </a:solidFill>
            <a:prstDash val="solid"/>
          </a:ln>
        </p:spPr>
      </p:sp>
      <p:sp>
        <p:nvSpPr>
          <p:cNvPr id="14" name="Text 11"/>
          <p:cNvSpPr txBox="1"/>
          <p:nvPr/>
        </p:nvSpPr>
        <p:spPr>
          <a:xfrm>
            <a:off x="2606040" y="3401568"/>
            <a:ext cx="17830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Confidence Score</a:t>
            </a:r>
            <a:endParaRPr lang="en-US" sz="1150" dirty="0"/>
          </a:p>
        </p:txBody>
      </p:sp>
      <p:sp>
        <p:nvSpPr>
          <p:cNvPr id="15" name="Shape 12"/>
          <p:cNvSpPr/>
          <p:nvPr/>
        </p:nvSpPr>
        <p:spPr>
          <a:xfrm>
            <a:off x="4489704" y="3520440"/>
            <a:ext cx="164592" cy="146304"/>
          </a:xfrm>
          <a:prstGeom prst="rightArrow">
            <a:avLst/>
          </a:prstGeom>
          <a:solidFill>
            <a:srgbClr val="C2185B"/>
          </a:solidFill>
          <a:ln w="12700">
            <a:solidFill>
              <a:srgbClr val="C2185B"/>
            </a:solidFill>
            <a:prstDash val="solid"/>
          </a:ln>
        </p:spPr>
      </p:sp>
      <p:sp>
        <p:nvSpPr>
          <p:cNvPr id="16" name="Shape 13"/>
          <p:cNvSpPr/>
          <p:nvPr/>
        </p:nvSpPr>
        <p:spPr>
          <a:xfrm>
            <a:off x="4754880" y="3401568"/>
            <a:ext cx="1783080" cy="384048"/>
          </a:xfrm>
          <a:prstGeom prst="roundRect">
            <a:avLst>
              <a:gd name="adj" fmla="val 14286"/>
            </a:avLst>
          </a:prstGeom>
          <a:solidFill>
            <a:srgbClr val="5E1B8E"/>
          </a:solidFill>
          <a:ln w="12700">
            <a:solidFill>
              <a:srgbClr val="5E1B8E"/>
            </a:solidFill>
            <a:prstDash val="solid"/>
          </a:ln>
        </p:spPr>
      </p:sp>
      <p:sp>
        <p:nvSpPr>
          <p:cNvPr id="17" name="Text 14"/>
          <p:cNvSpPr txBox="1"/>
          <p:nvPr/>
        </p:nvSpPr>
        <p:spPr>
          <a:xfrm>
            <a:off x="4754880" y="3401568"/>
            <a:ext cx="17830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Cancel Window</a:t>
            </a:r>
            <a:endParaRPr lang="en-US" sz="1150" dirty="0"/>
          </a:p>
        </p:txBody>
      </p:sp>
      <p:sp>
        <p:nvSpPr>
          <p:cNvPr id="18" name="Shape 15"/>
          <p:cNvSpPr/>
          <p:nvPr/>
        </p:nvSpPr>
        <p:spPr>
          <a:xfrm>
            <a:off x="6638544" y="3520440"/>
            <a:ext cx="164592" cy="146304"/>
          </a:xfrm>
          <a:prstGeom prst="rightArrow">
            <a:avLst/>
          </a:prstGeom>
          <a:solidFill>
            <a:srgbClr val="C2185B"/>
          </a:solidFill>
          <a:ln w="12700">
            <a:solidFill>
              <a:srgbClr val="C2185B"/>
            </a:solidFill>
            <a:prstDash val="solid"/>
          </a:ln>
        </p:spPr>
      </p:sp>
      <p:sp>
        <p:nvSpPr>
          <p:cNvPr id="19" name="Shape 16"/>
          <p:cNvSpPr/>
          <p:nvPr/>
        </p:nvSpPr>
        <p:spPr>
          <a:xfrm>
            <a:off x="6903720" y="3401568"/>
            <a:ext cx="1783080" cy="384048"/>
          </a:xfrm>
          <a:prstGeom prst="roundRect">
            <a:avLst>
              <a:gd name="adj" fmla="val 14286"/>
            </a:avLst>
          </a:prstGeom>
          <a:solidFill>
            <a:srgbClr val="5E1B8E"/>
          </a:solidFill>
          <a:ln w="12700">
            <a:solidFill>
              <a:srgbClr val="5E1B8E"/>
            </a:solidFill>
            <a:prstDash val="solid"/>
          </a:ln>
        </p:spPr>
      </p:sp>
      <p:sp>
        <p:nvSpPr>
          <p:cNvPr id="20" name="Text 17"/>
          <p:cNvSpPr txBox="1"/>
          <p:nvPr/>
        </p:nvSpPr>
        <p:spPr>
          <a:xfrm>
            <a:off x="6903720" y="3401568"/>
            <a:ext cx="17830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SOS</a:t>
            </a:r>
            <a:endParaRPr lang="en-US" sz="1150" dirty="0"/>
          </a:p>
        </p:txBody>
      </p:sp>
      <p:sp>
        <p:nvSpPr>
          <p:cNvPr id="21" name="Shape 18"/>
          <p:cNvSpPr/>
          <p:nvPr/>
        </p:nvSpPr>
        <p:spPr>
          <a:xfrm>
            <a:off x="457200" y="3977640"/>
            <a:ext cx="1828800" cy="365760"/>
          </a:xfrm>
          <a:prstGeom prst="roundRect">
            <a:avLst>
              <a:gd name="adj" fmla="val 25000"/>
            </a:avLst>
          </a:prstGeom>
          <a:solidFill>
            <a:srgbClr val="FFFFFF"/>
          </a:solidFill>
          <a:ln w="12700">
            <a:solidFill>
              <a:srgbClr val="5E1B8E"/>
            </a:solidFill>
            <a:prstDash val="solid"/>
          </a:ln>
        </p:spPr>
      </p:sp>
      <p:sp>
        <p:nvSpPr>
          <p:cNvPr id="22" name="Text 19"/>
          <p:cNvSpPr txBox="1"/>
          <p:nvPr/>
        </p:nvSpPr>
        <p:spPr>
          <a:xfrm>
            <a:off x="457200" y="3977640"/>
            <a:ext cx="1828800" cy="365760"/>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Hack Monster’z</a:t>
            </a:r>
            <a:endParaRPr lang="en-US" sz="1150" dirty="0"/>
          </a:p>
        </p:txBody>
      </p:sp>
      <p:sp>
        <p:nvSpPr>
          <p:cNvPr id="23" name="Shape 20"/>
          <p:cNvSpPr/>
          <p:nvPr/>
        </p:nvSpPr>
        <p:spPr>
          <a:xfrm>
            <a:off x="2423160" y="3977640"/>
            <a:ext cx="3063240" cy="365760"/>
          </a:xfrm>
          <a:prstGeom prst="roundRect">
            <a:avLst>
              <a:gd name="adj" fmla="val 25000"/>
            </a:avLst>
          </a:prstGeom>
          <a:solidFill>
            <a:srgbClr val="FFFFFF"/>
          </a:solidFill>
          <a:ln w="12700">
            <a:solidFill>
              <a:srgbClr val="5E1B8E"/>
            </a:solidFill>
            <a:prstDash val="solid"/>
          </a:ln>
        </p:spPr>
      </p:sp>
      <p:sp>
        <p:nvSpPr>
          <p:cNvPr id="24" name="Text 21"/>
          <p:cNvSpPr txBox="1"/>
          <p:nvPr/>
        </p:nvSpPr>
        <p:spPr>
          <a:xfrm>
            <a:off x="2423160" y="3977640"/>
            <a:ext cx="3063240" cy="365760"/>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P6 – SheShield Wearable (Hybrid)</a:t>
            </a:r>
            <a:endParaRPr lang="en-US" sz="1150" dirty="0"/>
          </a:p>
        </p:txBody>
      </p:sp>
      <p:sp>
        <p:nvSpPr>
          <p:cNvPr id="25" name="Shape 22"/>
          <p:cNvSpPr/>
          <p:nvPr/>
        </p:nvSpPr>
        <p:spPr>
          <a:xfrm>
            <a:off x="5623560" y="3977640"/>
            <a:ext cx="2971800" cy="365760"/>
          </a:xfrm>
          <a:prstGeom prst="roundRect">
            <a:avLst>
              <a:gd name="adj" fmla="val 25000"/>
            </a:avLst>
          </a:prstGeom>
          <a:solidFill>
            <a:srgbClr val="FFFFFF"/>
          </a:solidFill>
          <a:ln w="12700">
            <a:solidFill>
              <a:srgbClr val="5E1B8E"/>
            </a:solidFill>
            <a:prstDash val="solid"/>
          </a:ln>
        </p:spPr>
      </p:sp>
      <p:sp>
        <p:nvSpPr>
          <p:cNvPr id="26" name="Text 23"/>
          <p:cNvSpPr txBox="1"/>
          <p:nvPr/>
        </p:nvSpPr>
        <p:spPr>
          <a:xfrm>
            <a:off x="5623560" y="3977640"/>
            <a:ext cx="2971800" cy="365760"/>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Track 3 – SheLeads (WIE Special Track)</a:t>
            </a:r>
            <a:endParaRPr lang="en-US" sz="1150" dirty="0"/>
          </a:p>
        </p:txBody>
      </p:sp>
      <p:sp>
        <p:nvSpPr>
          <p:cNvPr id="27" name="Text 24"/>
          <p:cNvSpPr txBox="1"/>
          <p:nvPr/>
        </p:nvSpPr>
        <p:spPr>
          <a:xfrm>
            <a:off x="457200" y="4526280"/>
            <a:ext cx="8229600" cy="365760"/>
          </a:xfrm>
          <a:prstGeom prst="rect">
            <a:avLst/>
          </a:prstGeom>
          <a:noFill/>
          <a:ln/>
        </p:spPr>
        <p:txBody>
          <a:bodyPr wrap="square" lIns="0" tIns="0" rIns="0" bIns="0" rtlCol="0" anchor="t"/>
          <a:lstStyle/>
          <a:p>
            <a:pPr marL="0" indent="0">
              <a:buNone/>
            </a:pPr>
            <a:r>
              <a:rPr lang="en-US" sz="1000" dirty="0">
                <a:solidFill>
                  <a:srgbClr val="6B5B7B"/>
                </a:solidFill>
                <a:latin typeface="Calibri" pitchFamily="34" charset="0"/>
                <a:ea typeface="Calibri" pitchFamily="34" charset="-122"/>
                <a:cs typeface="Calibri" pitchFamily="34" charset="-120"/>
              </a:rPr>
              <a:t>Marwadi University &amp; Atmiya University, Rajkot  ·  Round 2  ·  Empower to Inspire: Thriving Together for an Inclusive and Sustainable Future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Team Hack Monster’z: we built every layer</a:t>
            </a:r>
            <a:endParaRPr lang="en-US" sz="2600" dirty="0"/>
          </a:p>
        </p:txBody>
      </p:sp>
      <p:sp>
        <p:nvSpPr>
          <p:cNvPr id="3" name="Shape 1"/>
          <p:cNvSpPr/>
          <p:nvPr/>
        </p:nvSpPr>
        <p:spPr>
          <a:xfrm>
            <a:off x="457200" y="914400"/>
            <a:ext cx="4023360" cy="2011680"/>
          </a:xfrm>
          <a:prstGeom prst="roundRect">
            <a:avLst>
              <a:gd name="adj" fmla="val 3636"/>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4" name="Shape 2"/>
          <p:cNvSpPr/>
          <p:nvPr/>
        </p:nvSpPr>
        <p:spPr>
          <a:xfrm>
            <a:off x="685800" y="1051560"/>
            <a:ext cx="548640" cy="548640"/>
          </a:xfrm>
          <a:prstGeom prst="ellipse">
            <a:avLst/>
          </a:prstGeom>
          <a:solidFill>
            <a:srgbClr val="5E1B8E"/>
          </a:solidFill>
          <a:ln w="12700">
            <a:solidFill>
              <a:srgbClr val="5E1B8E"/>
            </a:solidFill>
            <a:prstDash val="solid"/>
          </a:ln>
        </p:spPr>
      </p:sp>
      <p:pic>
        <p:nvPicPr>
          <p:cNvPr id="5" name="Image 0" descr="preencoded.png"/>
          <p:cNvPicPr>
            <a:picLocks noChangeAspect="1"/>
          </p:cNvPicPr>
          <p:nvPr/>
        </p:nvPicPr>
        <p:blipFill>
          <a:blip r:embed="rId3"/>
          <a:stretch>
            <a:fillRect/>
          </a:stretch>
        </p:blipFill>
        <p:spPr>
          <a:xfrm>
            <a:off x="828446" y="1194206"/>
            <a:ext cx="263347" cy="263347"/>
          </a:xfrm>
          <a:prstGeom prst="rect">
            <a:avLst/>
          </a:prstGeom>
        </p:spPr>
      </p:pic>
      <p:sp>
        <p:nvSpPr>
          <p:cNvPr id="6" name="Text 3"/>
          <p:cNvSpPr txBox="1"/>
          <p:nvPr/>
        </p:nvSpPr>
        <p:spPr>
          <a:xfrm>
            <a:off x="1417320" y="1024128"/>
            <a:ext cx="2926080" cy="320040"/>
          </a:xfrm>
          <a:prstGeom prst="rect">
            <a:avLst/>
          </a:prstGeom>
          <a:noFill/>
          <a:ln/>
        </p:spPr>
        <p:txBody>
          <a:bodyPr wrap="square" lIns="0" tIns="0" rIns="0" bIns="0" rtlCol="0" anchor="ctr"/>
          <a:lstStyle/>
          <a:p>
            <a:pPr marL="0" indent="0">
              <a:buNone/>
            </a:pPr>
            <a:r>
              <a:rPr lang="en-US" sz="1900" b="1" dirty="0">
                <a:solidFill>
                  <a:srgbClr val="5E1B8E"/>
                </a:solidFill>
                <a:latin typeface="Calibri" pitchFamily="34" charset="0"/>
                <a:ea typeface="Calibri" pitchFamily="34" charset="-122"/>
                <a:cs typeface="Calibri" pitchFamily="34" charset="-120"/>
              </a:rPr>
              <a:t>Harsh Parmar</a:t>
            </a:r>
            <a:endParaRPr lang="en-US" sz="1900" dirty="0"/>
          </a:p>
        </p:txBody>
      </p:sp>
      <p:sp>
        <p:nvSpPr>
          <p:cNvPr id="7" name="Text 4"/>
          <p:cNvSpPr txBox="1"/>
          <p:nvPr/>
        </p:nvSpPr>
        <p:spPr>
          <a:xfrm>
            <a:off x="1417320" y="1344168"/>
            <a:ext cx="2926080" cy="228600"/>
          </a:xfrm>
          <a:prstGeom prst="rect">
            <a:avLst/>
          </a:prstGeom>
          <a:noFill/>
          <a:ln/>
        </p:spPr>
        <p:txBody>
          <a:bodyPr wrap="square" lIns="0" tIns="0" rIns="0" bIns="0" rtlCol="0" anchor="ctr"/>
          <a:lstStyle/>
          <a:p>
            <a:pPr marL="0" indent="0">
              <a:buNone/>
            </a:pPr>
            <a:r>
              <a:rPr lang="en-US" sz="1150" b="1" dirty="0">
                <a:solidFill>
                  <a:srgbClr val="C2185B"/>
                </a:solidFill>
                <a:latin typeface="Calibri" pitchFamily="34" charset="0"/>
                <a:ea typeface="Calibri" pitchFamily="34" charset="-122"/>
                <a:cs typeface="Calibri" pitchFamily="34" charset="-120"/>
              </a:rPr>
              <a:t>Team Lead · Hardware &amp; Firmware</a:t>
            </a:r>
            <a:endParaRPr lang="en-US" sz="1150" dirty="0"/>
          </a:p>
        </p:txBody>
      </p:sp>
      <p:sp>
        <p:nvSpPr>
          <p:cNvPr id="90" name="University 90"/>
          <p:cNvSpPr txBox="1"/>
          <p:nvPr/>
        </p:nvSpPr>
        <p:spPr>
          <a:xfrm>
            <a:off x="1417320" y="1600200"/>
            <a:ext cx="2926080" cy="200000"/>
          </a:xfrm>
          <a:prstGeom prst="rect">
            <a:avLst/>
          </a:prstGeom>
          <a:noFill/>
          <a:ln/>
        </p:spPr>
        <p:txBody>
          <a:bodyPr wrap="square" lIns="0" tIns="0" rIns="0" bIns="0" rtlCol="0" anchor="t"/>
          <a:lstStyle/>
          <a:p>
            <a:pPr marL="0" indent="0">
              <a:buNone/>
            </a:pPr>
            <a:r>
              <a:rPr lang="en-US" sz="1050" dirty="0">
                <a:solidFill>
                  <a:srgbClr val="6B5B7B"/>
                </a:solidFill>
                <a:latin typeface="Calibri" pitchFamily="34" charset="0"/>
              </a:rPr>
              <a:t>Marwadi University, Rajkot</a:t>
            </a:r>
          </a:p>
        </p:txBody>
      </p:sp>
      <p:sp>
        <p:nvSpPr>
          <p:cNvPr id="8" name="Text 5"/>
          <p:cNvSpPr txBox="1"/>
          <p:nvPr/>
        </p:nvSpPr>
        <p:spPr>
          <a:xfrm>
            <a:off x="685800" y="1828800"/>
            <a:ext cx="3611880" cy="10058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A1A3A"/>
                </a:solidFill>
                <a:latin typeface="Calibri" pitchFamily="34" charset="0"/>
                <a:ea typeface="Calibri" pitchFamily="34" charset="-122"/>
                <a:cs typeface="Calibri" pitchFamily="34" charset="-120"/>
              </a:rPr>
              <a:t>Sensor integration: MAX30102 heart-rate + MPU6050 motion</a:t>
            </a:r>
            <a:endParaRPr lang="en-US" sz="1200" dirty="0"/>
          </a:p>
          <a:p>
            <a:pPr marL="342900" indent="-342900">
              <a:spcAft>
                <a:spcPts val="400"/>
              </a:spcAft>
              <a:buSzPct val="100000"/>
              <a:buChar char="•"/>
            </a:pPr>
            <a:r>
              <a:rPr lang="en-US" sz="1200" dirty="0">
                <a:solidFill>
                  <a:srgbClr val="2A1A3A"/>
                </a:solidFill>
                <a:latin typeface="Calibri" pitchFamily="34" charset="0"/>
                <a:ea typeface="Calibri" pitchFamily="34" charset="-122"/>
                <a:cs typeface="Calibri" pitchFamily="34" charset="-120"/>
              </a:rPr>
              <a:t>Confidence-score logic on the ESP32</a:t>
            </a:r>
            <a:endParaRPr lang="en-US" sz="1200" dirty="0"/>
          </a:p>
          <a:p>
            <a:pPr marL="342900" indent="-342900">
              <a:spcAft>
                <a:spcPts val="400"/>
              </a:spcAft>
              <a:buSzPct val="100000"/>
              <a:buChar char="•"/>
            </a:pPr>
            <a:r>
              <a:rPr lang="en-US" sz="1200" dirty="0">
                <a:solidFill>
                  <a:srgbClr val="2A1A3A"/>
                </a:solidFill>
                <a:latin typeface="Calibri" pitchFamily="34" charset="0"/>
                <a:ea typeface="Calibri" pitchFamily="34" charset="-122"/>
                <a:cs typeface="Calibri" pitchFamily="34" charset="-120"/>
              </a:rPr>
              <a:t>Team coordination and problem research</a:t>
            </a:r>
            <a:endParaRPr lang="en-US" sz="1200" dirty="0"/>
          </a:p>
        </p:txBody>
      </p:sp>
      <p:sp>
        <p:nvSpPr>
          <p:cNvPr id="9" name="Shape 6"/>
          <p:cNvSpPr/>
          <p:nvPr/>
        </p:nvSpPr>
        <p:spPr>
          <a:xfrm>
            <a:off x="4663440" y="914400"/>
            <a:ext cx="4023360" cy="2011680"/>
          </a:xfrm>
          <a:prstGeom prst="roundRect">
            <a:avLst>
              <a:gd name="adj" fmla="val 3636"/>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0" name="Shape 7"/>
          <p:cNvSpPr/>
          <p:nvPr/>
        </p:nvSpPr>
        <p:spPr>
          <a:xfrm>
            <a:off x="4892040" y="1051560"/>
            <a:ext cx="548640" cy="548640"/>
          </a:xfrm>
          <a:prstGeom prst="ellipse">
            <a:avLst/>
          </a:prstGeom>
          <a:solidFill>
            <a:srgbClr val="5E1B8E"/>
          </a:solidFill>
          <a:ln w="12700">
            <a:solidFill>
              <a:srgbClr val="5E1B8E"/>
            </a:solidFill>
            <a:prstDash val="solid"/>
          </a:ln>
        </p:spPr>
      </p:sp>
      <p:pic>
        <p:nvPicPr>
          <p:cNvPr id="11" name="Image 1" descr="preencoded.png"/>
          <p:cNvPicPr>
            <a:picLocks noChangeAspect="1"/>
          </p:cNvPicPr>
          <p:nvPr/>
        </p:nvPicPr>
        <p:blipFill>
          <a:blip r:embed="rId3"/>
          <a:stretch>
            <a:fillRect/>
          </a:stretch>
        </p:blipFill>
        <p:spPr>
          <a:xfrm>
            <a:off x="5034686" y="1194206"/>
            <a:ext cx="263347" cy="263347"/>
          </a:xfrm>
          <a:prstGeom prst="rect">
            <a:avLst/>
          </a:prstGeom>
        </p:spPr>
      </p:pic>
      <p:sp>
        <p:nvSpPr>
          <p:cNvPr id="12" name="Text 8"/>
          <p:cNvSpPr txBox="1"/>
          <p:nvPr/>
        </p:nvSpPr>
        <p:spPr>
          <a:xfrm>
            <a:off x="5623560" y="1024128"/>
            <a:ext cx="2926080" cy="320040"/>
          </a:xfrm>
          <a:prstGeom prst="rect">
            <a:avLst/>
          </a:prstGeom>
          <a:noFill/>
          <a:ln/>
        </p:spPr>
        <p:txBody>
          <a:bodyPr wrap="square" lIns="0" tIns="0" rIns="0" bIns="0" rtlCol="0" anchor="ctr"/>
          <a:lstStyle/>
          <a:p>
            <a:pPr marL="0" indent="0">
              <a:buNone/>
            </a:pPr>
            <a:r>
              <a:rPr lang="en-US" sz="1900" b="1" dirty="0">
                <a:solidFill>
                  <a:srgbClr val="5E1B8E"/>
                </a:solidFill>
                <a:latin typeface="Calibri" pitchFamily="34" charset="0"/>
                <a:ea typeface="Calibri" pitchFamily="34" charset="-122"/>
                <a:cs typeface="Calibri" pitchFamily="34" charset="-120"/>
              </a:rPr>
              <a:t>Mirali Sankaliya</a:t>
            </a:r>
            <a:endParaRPr lang="en-US" sz="1900" dirty="0"/>
          </a:p>
        </p:txBody>
      </p:sp>
      <p:sp>
        <p:nvSpPr>
          <p:cNvPr id="13" name="Text 9"/>
          <p:cNvSpPr txBox="1"/>
          <p:nvPr/>
        </p:nvSpPr>
        <p:spPr>
          <a:xfrm>
            <a:off x="5623560" y="1344168"/>
            <a:ext cx="2926080" cy="228600"/>
          </a:xfrm>
          <a:prstGeom prst="rect">
            <a:avLst/>
          </a:prstGeom>
          <a:noFill/>
          <a:ln/>
        </p:spPr>
        <p:txBody>
          <a:bodyPr wrap="square" lIns="0" tIns="0" rIns="0" bIns="0" rtlCol="0" anchor="ctr"/>
          <a:lstStyle/>
          <a:p>
            <a:pPr marL="0" indent="0">
              <a:buNone/>
            </a:pPr>
            <a:r>
              <a:rPr lang="en-US" sz="1150" b="1" dirty="0">
                <a:solidFill>
                  <a:srgbClr val="C2185B"/>
                </a:solidFill>
                <a:latin typeface="Calibri" pitchFamily="34" charset="0"/>
                <a:ea typeface="Calibri" pitchFamily="34" charset="-122"/>
                <a:cs typeface="Calibri" pitchFamily="34" charset="-120"/>
              </a:rPr>
              <a:t>SOS Integration &amp; Documentation</a:t>
            </a:r>
            <a:endParaRPr lang="en-US" sz="1150" dirty="0"/>
          </a:p>
        </p:txBody>
      </p:sp>
      <p:sp>
        <p:nvSpPr>
          <p:cNvPr id="91" name="University 91"/>
          <p:cNvSpPr txBox="1"/>
          <p:nvPr/>
        </p:nvSpPr>
        <p:spPr>
          <a:xfrm>
            <a:off x="5623560" y="1600200"/>
            <a:ext cx="2926080" cy="200000"/>
          </a:xfrm>
          <a:prstGeom prst="rect">
            <a:avLst/>
          </a:prstGeom>
          <a:noFill/>
          <a:ln/>
        </p:spPr>
        <p:txBody>
          <a:bodyPr wrap="square" lIns="0" tIns="0" rIns="0" bIns="0" rtlCol="0" anchor="t"/>
          <a:lstStyle/>
          <a:p>
            <a:pPr marL="0" indent="0">
              <a:buNone/>
            </a:pPr>
            <a:r>
              <a:rPr lang="en-US" sz="1050" dirty="0">
                <a:solidFill>
                  <a:srgbClr val="6B5B7B"/>
                </a:solidFill>
                <a:latin typeface="Calibri" pitchFamily="34" charset="0"/>
              </a:rPr>
              <a:t>Atmiya University, Rajkot</a:t>
            </a:r>
          </a:p>
        </p:txBody>
      </p:sp>
      <p:sp>
        <p:nvSpPr>
          <p:cNvPr id="14" name="Text 10"/>
          <p:cNvSpPr txBox="1"/>
          <p:nvPr/>
        </p:nvSpPr>
        <p:spPr>
          <a:xfrm>
            <a:off x="4892040" y="1828800"/>
            <a:ext cx="3611880" cy="10058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A1A3A"/>
                </a:solidFill>
                <a:latin typeface="Calibri" pitchFamily="34" charset="0"/>
                <a:ea typeface="Calibri" pitchFamily="34" charset="-122"/>
                <a:cs typeface="Calibri" pitchFamily="34" charset="-120"/>
              </a:rPr>
              <a:t>Cancel-window and SOS messaging logic</a:t>
            </a:r>
            <a:endParaRPr lang="en-US" sz="1200" dirty="0"/>
          </a:p>
          <a:p>
            <a:pPr marL="342900" indent="-342900">
              <a:spcAft>
                <a:spcPts val="400"/>
              </a:spcAft>
              <a:buSzPct val="100000"/>
              <a:buChar char="•"/>
            </a:pPr>
            <a:r>
              <a:rPr lang="en-US" sz="1200" dirty="0">
                <a:solidFill>
                  <a:srgbClr val="2A1A3A"/>
                </a:solidFill>
                <a:latin typeface="Calibri" pitchFamily="34" charset="0"/>
                <a:ea typeface="Calibri" pitchFamily="34" charset="-122"/>
                <a:cs typeface="Calibri" pitchFamily="34" charset="-120"/>
              </a:rPr>
              <a:t>Testing and feedback collection</a:t>
            </a:r>
            <a:endParaRPr lang="en-US" sz="1200" dirty="0"/>
          </a:p>
          <a:p>
            <a:pPr marL="342900" indent="-342900">
              <a:spcAft>
                <a:spcPts val="400"/>
              </a:spcAft>
              <a:buSzPct val="100000"/>
              <a:buChar char="•"/>
            </a:pPr>
            <a:r>
              <a:rPr lang="en-US" sz="1200" dirty="0">
                <a:solidFill>
                  <a:srgbClr val="2A1A3A"/>
                </a:solidFill>
                <a:latin typeface="Calibri" pitchFamily="34" charset="0"/>
                <a:ea typeface="Calibri" pitchFamily="34" charset="-122"/>
                <a:cs typeface="Calibri" pitchFamily="34" charset="-120"/>
              </a:rPr>
              <a:t>Documentation, diagrams and presentation</a:t>
            </a:r>
            <a:endParaRPr lang="en-US" sz="1200" dirty="0"/>
          </a:p>
        </p:txBody>
      </p:sp>
      <p:sp>
        <p:nvSpPr>
          <p:cNvPr id="15" name="Text 11"/>
          <p:cNvSpPr txBox="1"/>
          <p:nvPr/>
        </p:nvSpPr>
        <p:spPr>
          <a:xfrm>
            <a:off x="457200" y="3108960"/>
            <a:ext cx="8229600" cy="228600"/>
          </a:xfrm>
          <a:prstGeom prst="rect">
            <a:avLst/>
          </a:prstGeom>
          <a:noFill/>
          <a:ln/>
        </p:spPr>
        <p:txBody>
          <a:bodyPr wrap="square" lIns="0" tIns="0" rIns="0" bIns="0" rtlCol="0" anchor="t"/>
          <a:lstStyle/>
          <a:p>
            <a:pPr marL="0" indent="0">
              <a:buNone/>
            </a:pPr>
            <a:r>
              <a:rPr lang="en-US" sz="1100" b="1" dirty="0">
                <a:solidFill>
                  <a:srgbClr val="5E1B8E"/>
                </a:solidFill>
                <a:latin typeface="Calibri" pitchFamily="34" charset="0"/>
                <a:ea typeface="Calibri" pitchFamily="34" charset="-122"/>
                <a:cs typeface="Calibri" pitchFamily="34" charset="-120"/>
              </a:rPr>
              <a:t>HOW THE WORK CONNECTS</a:t>
            </a:r>
            <a:endParaRPr lang="en-US" sz="1100" dirty="0"/>
          </a:p>
        </p:txBody>
      </p:sp>
      <p:sp>
        <p:nvSpPr>
          <p:cNvPr id="16" name="Shape 12"/>
          <p:cNvSpPr/>
          <p:nvPr/>
        </p:nvSpPr>
        <p:spPr>
          <a:xfrm>
            <a:off x="457200" y="3383280"/>
            <a:ext cx="1188720" cy="457200"/>
          </a:xfrm>
          <a:prstGeom prst="roundRect">
            <a:avLst>
              <a:gd name="adj" fmla="val 12000"/>
            </a:avLst>
          </a:prstGeom>
          <a:solidFill>
            <a:srgbClr val="5E1B8E"/>
          </a:solidFill>
          <a:ln w="12700">
            <a:solidFill>
              <a:srgbClr val="5E1B8E"/>
            </a:solidFill>
            <a:prstDash val="solid"/>
          </a:ln>
        </p:spPr>
      </p:sp>
      <p:sp>
        <p:nvSpPr>
          <p:cNvPr id="17" name="Text 13"/>
          <p:cNvSpPr txBox="1"/>
          <p:nvPr/>
        </p:nvSpPr>
        <p:spPr>
          <a:xfrm>
            <a:off x="457200" y="3383280"/>
            <a:ext cx="11887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Hardware</a:t>
            </a:r>
            <a:endParaRPr lang="en-US" sz="1100" dirty="0"/>
          </a:p>
        </p:txBody>
      </p:sp>
      <p:sp>
        <p:nvSpPr>
          <p:cNvPr id="18" name="Shape 14"/>
          <p:cNvSpPr/>
          <p:nvPr/>
        </p:nvSpPr>
        <p:spPr>
          <a:xfrm>
            <a:off x="1673352" y="3538728"/>
            <a:ext cx="164592" cy="146304"/>
          </a:xfrm>
          <a:prstGeom prst="rightArrow">
            <a:avLst/>
          </a:prstGeom>
          <a:solidFill>
            <a:srgbClr val="C2185B"/>
          </a:solidFill>
          <a:ln w="12700">
            <a:solidFill>
              <a:srgbClr val="C2185B"/>
            </a:solidFill>
            <a:prstDash val="solid"/>
          </a:ln>
        </p:spPr>
      </p:sp>
      <p:sp>
        <p:nvSpPr>
          <p:cNvPr id="19" name="Shape 15"/>
          <p:cNvSpPr/>
          <p:nvPr/>
        </p:nvSpPr>
        <p:spPr>
          <a:xfrm>
            <a:off x="1865376" y="3383280"/>
            <a:ext cx="1188720" cy="457200"/>
          </a:xfrm>
          <a:prstGeom prst="roundRect">
            <a:avLst>
              <a:gd name="adj" fmla="val 12000"/>
            </a:avLst>
          </a:prstGeom>
          <a:solidFill>
            <a:srgbClr val="5E1B8E"/>
          </a:solidFill>
          <a:ln w="12700">
            <a:solidFill>
              <a:srgbClr val="5E1B8E"/>
            </a:solidFill>
            <a:prstDash val="solid"/>
          </a:ln>
        </p:spPr>
      </p:sp>
      <p:sp>
        <p:nvSpPr>
          <p:cNvPr id="20" name="Text 16"/>
          <p:cNvSpPr txBox="1"/>
          <p:nvPr/>
        </p:nvSpPr>
        <p:spPr>
          <a:xfrm>
            <a:off x="1865376" y="3383280"/>
            <a:ext cx="11887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Firmware</a:t>
            </a:r>
            <a:endParaRPr lang="en-US" sz="1100" dirty="0"/>
          </a:p>
        </p:txBody>
      </p:sp>
      <p:sp>
        <p:nvSpPr>
          <p:cNvPr id="21" name="Shape 17"/>
          <p:cNvSpPr/>
          <p:nvPr/>
        </p:nvSpPr>
        <p:spPr>
          <a:xfrm>
            <a:off x="3081528" y="3538728"/>
            <a:ext cx="164592" cy="146304"/>
          </a:xfrm>
          <a:prstGeom prst="rightArrow">
            <a:avLst/>
          </a:prstGeom>
          <a:solidFill>
            <a:srgbClr val="C2185B"/>
          </a:solidFill>
          <a:ln w="12700">
            <a:solidFill>
              <a:srgbClr val="C2185B"/>
            </a:solidFill>
            <a:prstDash val="solid"/>
          </a:ln>
        </p:spPr>
      </p:sp>
      <p:sp>
        <p:nvSpPr>
          <p:cNvPr id="22" name="Shape 18"/>
          <p:cNvSpPr/>
          <p:nvPr/>
        </p:nvSpPr>
        <p:spPr>
          <a:xfrm>
            <a:off x="3273552" y="3383280"/>
            <a:ext cx="1188720" cy="457200"/>
          </a:xfrm>
          <a:prstGeom prst="roundRect">
            <a:avLst>
              <a:gd name="adj" fmla="val 12000"/>
            </a:avLst>
          </a:prstGeom>
          <a:solidFill>
            <a:srgbClr val="5E1B8E"/>
          </a:solidFill>
          <a:ln w="12700">
            <a:solidFill>
              <a:srgbClr val="5E1B8E"/>
            </a:solidFill>
            <a:prstDash val="solid"/>
          </a:ln>
        </p:spPr>
      </p:sp>
      <p:sp>
        <p:nvSpPr>
          <p:cNvPr id="23" name="Text 19"/>
          <p:cNvSpPr txBox="1"/>
          <p:nvPr/>
        </p:nvSpPr>
        <p:spPr>
          <a:xfrm>
            <a:off x="3273552" y="3383280"/>
            <a:ext cx="11887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Score logic</a:t>
            </a:r>
            <a:endParaRPr lang="en-US" sz="1100" dirty="0"/>
          </a:p>
        </p:txBody>
      </p:sp>
      <p:sp>
        <p:nvSpPr>
          <p:cNvPr id="24" name="Shape 20"/>
          <p:cNvSpPr/>
          <p:nvPr/>
        </p:nvSpPr>
        <p:spPr>
          <a:xfrm>
            <a:off x="4489704" y="3538728"/>
            <a:ext cx="164592" cy="146304"/>
          </a:xfrm>
          <a:prstGeom prst="rightArrow">
            <a:avLst/>
          </a:prstGeom>
          <a:solidFill>
            <a:srgbClr val="C2185B"/>
          </a:solidFill>
          <a:ln w="12700">
            <a:solidFill>
              <a:srgbClr val="C2185B"/>
            </a:solidFill>
            <a:prstDash val="solid"/>
          </a:ln>
        </p:spPr>
      </p:sp>
      <p:sp>
        <p:nvSpPr>
          <p:cNvPr id="25" name="Shape 21"/>
          <p:cNvSpPr/>
          <p:nvPr/>
        </p:nvSpPr>
        <p:spPr>
          <a:xfrm>
            <a:off x="4681728" y="3383280"/>
            <a:ext cx="1188720" cy="457200"/>
          </a:xfrm>
          <a:prstGeom prst="roundRect">
            <a:avLst>
              <a:gd name="adj" fmla="val 12000"/>
            </a:avLst>
          </a:prstGeom>
          <a:solidFill>
            <a:srgbClr val="5E1B8E"/>
          </a:solidFill>
          <a:ln w="12700">
            <a:solidFill>
              <a:srgbClr val="5E1B8E"/>
            </a:solidFill>
            <a:prstDash val="solid"/>
          </a:ln>
        </p:spPr>
      </p:sp>
      <p:sp>
        <p:nvSpPr>
          <p:cNvPr id="26" name="Text 22"/>
          <p:cNvSpPr txBox="1"/>
          <p:nvPr/>
        </p:nvSpPr>
        <p:spPr>
          <a:xfrm>
            <a:off x="4681728" y="3383280"/>
            <a:ext cx="11887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SOS + cancel</a:t>
            </a:r>
            <a:endParaRPr lang="en-US" sz="1100" dirty="0"/>
          </a:p>
        </p:txBody>
      </p:sp>
      <p:sp>
        <p:nvSpPr>
          <p:cNvPr id="27" name="Shape 23"/>
          <p:cNvSpPr/>
          <p:nvPr/>
        </p:nvSpPr>
        <p:spPr>
          <a:xfrm>
            <a:off x="5897880" y="3538728"/>
            <a:ext cx="164592" cy="146304"/>
          </a:xfrm>
          <a:prstGeom prst="rightArrow">
            <a:avLst/>
          </a:prstGeom>
          <a:solidFill>
            <a:srgbClr val="C2185B"/>
          </a:solidFill>
          <a:ln w="12700">
            <a:solidFill>
              <a:srgbClr val="C2185B"/>
            </a:solidFill>
            <a:prstDash val="solid"/>
          </a:ln>
        </p:spPr>
      </p:sp>
      <p:sp>
        <p:nvSpPr>
          <p:cNvPr id="28" name="Shape 24"/>
          <p:cNvSpPr/>
          <p:nvPr/>
        </p:nvSpPr>
        <p:spPr>
          <a:xfrm>
            <a:off x="6089904" y="3383280"/>
            <a:ext cx="1188720" cy="457200"/>
          </a:xfrm>
          <a:prstGeom prst="roundRect">
            <a:avLst>
              <a:gd name="adj" fmla="val 12000"/>
            </a:avLst>
          </a:prstGeom>
          <a:solidFill>
            <a:srgbClr val="5E1B8E"/>
          </a:solidFill>
          <a:ln w="12700">
            <a:solidFill>
              <a:srgbClr val="5E1B8E"/>
            </a:solidFill>
            <a:prstDash val="solid"/>
          </a:ln>
        </p:spPr>
      </p:sp>
      <p:sp>
        <p:nvSpPr>
          <p:cNvPr id="29" name="Text 25"/>
          <p:cNvSpPr txBox="1"/>
          <p:nvPr/>
        </p:nvSpPr>
        <p:spPr>
          <a:xfrm>
            <a:off x="6089904" y="3383280"/>
            <a:ext cx="11887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Testing</a:t>
            </a:r>
            <a:endParaRPr lang="en-US" sz="1100" dirty="0"/>
          </a:p>
        </p:txBody>
      </p:sp>
      <p:sp>
        <p:nvSpPr>
          <p:cNvPr id="30" name="Shape 26"/>
          <p:cNvSpPr/>
          <p:nvPr/>
        </p:nvSpPr>
        <p:spPr>
          <a:xfrm>
            <a:off x="7306056" y="3538728"/>
            <a:ext cx="164592" cy="146304"/>
          </a:xfrm>
          <a:prstGeom prst="rightArrow">
            <a:avLst/>
          </a:prstGeom>
          <a:solidFill>
            <a:srgbClr val="C2185B"/>
          </a:solidFill>
          <a:ln w="12700">
            <a:solidFill>
              <a:srgbClr val="C2185B"/>
            </a:solidFill>
            <a:prstDash val="solid"/>
          </a:ln>
        </p:spPr>
      </p:sp>
      <p:sp>
        <p:nvSpPr>
          <p:cNvPr id="31" name="Shape 27"/>
          <p:cNvSpPr/>
          <p:nvPr/>
        </p:nvSpPr>
        <p:spPr>
          <a:xfrm>
            <a:off x="7498080" y="3383280"/>
            <a:ext cx="1188720" cy="457200"/>
          </a:xfrm>
          <a:prstGeom prst="roundRect">
            <a:avLst>
              <a:gd name="adj" fmla="val 12000"/>
            </a:avLst>
          </a:prstGeom>
          <a:solidFill>
            <a:srgbClr val="5E1B8E"/>
          </a:solidFill>
          <a:ln w="12700">
            <a:solidFill>
              <a:srgbClr val="5E1B8E"/>
            </a:solidFill>
            <a:prstDash val="solid"/>
          </a:ln>
        </p:spPr>
      </p:sp>
      <p:sp>
        <p:nvSpPr>
          <p:cNvPr id="32" name="Text 28"/>
          <p:cNvSpPr txBox="1"/>
          <p:nvPr/>
        </p:nvSpPr>
        <p:spPr>
          <a:xfrm>
            <a:off x="7498080" y="3383280"/>
            <a:ext cx="11887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Documentation</a:t>
            </a:r>
            <a:endParaRPr lang="en-US" sz="1100" dirty="0"/>
          </a:p>
        </p:txBody>
      </p:sp>
      <p:sp>
        <p:nvSpPr>
          <p:cNvPr id="33" name="Shape 29"/>
          <p:cNvSpPr/>
          <p:nvPr/>
        </p:nvSpPr>
        <p:spPr>
          <a:xfrm>
            <a:off x="457200" y="4069080"/>
            <a:ext cx="8229600" cy="594360"/>
          </a:xfrm>
          <a:prstGeom prst="roundRect">
            <a:avLst>
              <a:gd name="adj" fmla="val 12308"/>
            </a:avLst>
          </a:prstGeom>
          <a:solidFill>
            <a:srgbClr val="F1E6F9"/>
          </a:solidFill>
          <a:ln w="9525">
            <a:solidFill>
              <a:srgbClr val="D9C3EA"/>
            </a:solidFill>
            <a:prstDash val="solid"/>
          </a:ln>
          <a:effectLst>
            <a:outerShdw blurRad="76200" dist="25400" dir="5400000" algn="bl" rotWithShape="0">
              <a:srgbClr val="000000">
                <a:alpha val="12000"/>
              </a:srgbClr>
            </a:outerShdw>
          </a:effectLst>
        </p:spPr>
      </p:sp>
      <p:sp>
        <p:nvSpPr>
          <p:cNvPr id="34" name="Text 30"/>
          <p:cNvSpPr txBox="1"/>
          <p:nvPr/>
        </p:nvSpPr>
        <p:spPr>
          <a:xfrm>
            <a:off x="640080" y="4069080"/>
            <a:ext cx="7863840" cy="594360"/>
          </a:xfrm>
          <a:prstGeom prst="rect">
            <a:avLst/>
          </a:prstGeom>
          <a:noFill/>
          <a:ln/>
        </p:spPr>
        <p:txBody>
          <a:bodyPr wrap="square" lIns="0" tIns="0" rIns="0" bIns="0" rtlCol="0" anchor="ctr"/>
          <a:lstStyle/>
          <a:p>
            <a:pPr marL="0" indent="0">
              <a:buNone/>
            </a:pPr>
            <a:r>
              <a:rPr lang="en-US" sz="1100" b="1" dirty="0">
                <a:solidFill>
                  <a:srgbClr val="5E1B8E"/>
                </a:solidFill>
                <a:latin typeface="Calibri" pitchFamily="34" charset="0"/>
                <a:ea typeface="Calibri" pitchFamily="34" charset="-122"/>
                <a:cs typeface="Calibri" pitchFamily="34" charset="-120"/>
              </a:rPr>
              <a:t>Marwadi University &amp; Atmiya University, Rajkot, Gujarat  ·  IEEE WIE ILS 2026 National Hackathon  ·  Track 3 – SheLeads</a:t>
            </a:r>
            <a:endParaRPr lang="en-US" sz="1100" dirty="0"/>
          </a:p>
          <a:p>
            <a:pPr marL="0" indent="0">
              <a:buNone/>
            </a:pPr>
            <a:r>
              <a:rPr lang="en-US" sz="1100" b="1" dirty="0">
                <a:solidFill>
                  <a:srgbClr val="5E1B8E"/>
                </a:solidFill>
                <a:latin typeface="Calibri" pitchFamily="34" charset="0"/>
                <a:ea typeface="Calibri" pitchFamily="34" charset="-122"/>
                <a:cs typeface="Calibri" pitchFamily="34" charset="-120"/>
              </a:rPr>
              <a:t>Team Lead: hp259369@gmail.com  ·  8401357854</a:t>
            </a:r>
            <a:endParaRPr lang="en-US" sz="1100" dirty="0"/>
          </a:p>
        </p:txBody>
      </p:sp>
      <p:sp>
        <p:nvSpPr>
          <p:cNvPr id="35" name="Text 31"/>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36" name="Text 32"/>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Problem: safety devices assume she can act</a:t>
            </a:r>
            <a:endParaRPr lang="en-US" sz="2600" dirty="0"/>
          </a:p>
        </p:txBody>
      </p:sp>
      <p:sp>
        <p:nvSpPr>
          <p:cNvPr id="3" name="Shape 1"/>
          <p:cNvSpPr/>
          <p:nvPr/>
        </p:nvSpPr>
        <p:spPr>
          <a:xfrm>
            <a:off x="457200" y="896112"/>
            <a:ext cx="8229600" cy="640080"/>
          </a:xfrm>
          <a:prstGeom prst="roundRect">
            <a:avLst>
              <a:gd name="adj" fmla="val 11429"/>
            </a:avLst>
          </a:prstGeom>
          <a:solidFill>
            <a:srgbClr val="5E1B8E"/>
          </a:solidFill>
          <a:ln w="12700">
            <a:solidFill>
              <a:srgbClr val="5E1B8E"/>
            </a:solidFill>
            <a:prstDash val="solid"/>
          </a:ln>
        </p:spPr>
      </p:sp>
      <p:sp>
        <p:nvSpPr>
          <p:cNvPr id="4" name="Text 2"/>
          <p:cNvSpPr txBox="1"/>
          <p:nvPr/>
        </p:nvSpPr>
        <p:spPr>
          <a:xfrm>
            <a:off x="685800" y="932688"/>
            <a:ext cx="2743200" cy="182880"/>
          </a:xfrm>
          <a:prstGeom prst="rect">
            <a:avLst/>
          </a:prstGeom>
          <a:noFill/>
          <a:ln/>
        </p:spPr>
        <p:txBody>
          <a:bodyPr wrap="square" lIns="0" tIns="0" rIns="0" bIns="0" rtlCol="0" anchor="t"/>
          <a:lstStyle/>
          <a:p>
            <a:pPr marL="0" indent="0">
              <a:buNone/>
            </a:pPr>
            <a:r>
              <a:rPr lang="en-US" sz="900" b="1" dirty="0">
                <a:solidFill>
                  <a:srgbClr val="F4B6D2"/>
                </a:solidFill>
                <a:latin typeface="Calibri" pitchFamily="34" charset="0"/>
                <a:ea typeface="Calibri" pitchFamily="34" charset="-122"/>
                <a:cs typeface="Calibri" pitchFamily="34" charset="-120"/>
              </a:rPr>
              <a:t>THE FAILURE POINT</a:t>
            </a:r>
            <a:endParaRPr lang="en-US" sz="900" dirty="0"/>
          </a:p>
        </p:txBody>
      </p:sp>
      <p:sp>
        <p:nvSpPr>
          <p:cNvPr id="5" name="Text 3"/>
          <p:cNvSpPr txBox="1"/>
          <p:nvPr/>
        </p:nvSpPr>
        <p:spPr>
          <a:xfrm>
            <a:off x="685800" y="1097280"/>
            <a:ext cx="777240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Almost every safety solution needs the user to act: press a button, unlock a phone. In a real assault her hands may be restrained, or she may be in shock.</a:t>
            </a:r>
            <a:endParaRPr lang="en-US" sz="1250" dirty="0"/>
          </a:p>
        </p:txBody>
      </p:sp>
      <p:sp>
        <p:nvSpPr>
          <p:cNvPr id="6" name="Shape 4"/>
          <p:cNvSpPr/>
          <p:nvPr/>
        </p:nvSpPr>
        <p:spPr>
          <a:xfrm>
            <a:off x="457200" y="1664208"/>
            <a:ext cx="1920240" cy="1298448"/>
          </a:xfrm>
          <a:prstGeom prst="roundRect">
            <a:avLst>
              <a:gd name="adj" fmla="val 563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7" name="Text 5"/>
          <p:cNvSpPr txBox="1"/>
          <p:nvPr/>
        </p:nvSpPr>
        <p:spPr>
          <a:xfrm>
            <a:off x="585216" y="1719072"/>
            <a:ext cx="1691640" cy="384048"/>
          </a:xfrm>
          <a:prstGeom prst="rect">
            <a:avLst/>
          </a:prstGeom>
          <a:noFill/>
          <a:ln/>
        </p:spPr>
        <p:txBody>
          <a:bodyPr wrap="square" lIns="0" tIns="0" rIns="0" bIns="0" rtlCol="0" anchor="ctr"/>
          <a:lstStyle/>
          <a:p>
            <a:pPr marL="0" indent="0">
              <a:buNone/>
            </a:pPr>
            <a:r>
              <a:rPr lang="en-US" sz="2300" b="1" dirty="0">
                <a:solidFill>
                  <a:srgbClr val="C2185B"/>
                </a:solidFill>
                <a:latin typeface="Calibri" pitchFamily="34" charset="0"/>
                <a:ea typeface="Calibri" pitchFamily="34" charset="-122"/>
                <a:cs typeface="Calibri" pitchFamily="34" charset="-120"/>
              </a:rPr>
              <a:t>4,45,256</a:t>
            </a:r>
            <a:endParaRPr lang="en-US" sz="2300" dirty="0"/>
          </a:p>
        </p:txBody>
      </p:sp>
      <p:sp>
        <p:nvSpPr>
          <p:cNvPr id="8" name="Text 6"/>
          <p:cNvSpPr txBox="1"/>
          <p:nvPr/>
        </p:nvSpPr>
        <p:spPr>
          <a:xfrm>
            <a:off x="585216" y="2130552"/>
            <a:ext cx="1691640" cy="594360"/>
          </a:xfrm>
          <a:prstGeom prst="rect">
            <a:avLst/>
          </a:prstGeom>
          <a:noFill/>
          <a:ln/>
        </p:spPr>
        <p:txBody>
          <a:bodyPr wrap="square" lIns="0" tIns="0" rIns="0" bIns="0" rtlCol="0" anchor="t"/>
          <a:lstStyle/>
          <a:p>
            <a:pPr marL="0" indent="0">
              <a:buNone/>
            </a:pPr>
            <a:r>
              <a:rPr lang="en-US" sz="1000" dirty="0">
                <a:solidFill>
                  <a:srgbClr val="2A1A3A"/>
                </a:solidFill>
                <a:latin typeface="Calibri" pitchFamily="34" charset="0"/>
                <a:ea typeface="Calibri" pitchFamily="34" charset="-122"/>
                <a:cs typeface="Calibri" pitchFamily="34" charset="-120"/>
              </a:rPr>
              <a:t>crimes against women registered in India in 2022 (about 51 FIRs every hour)</a:t>
            </a:r>
            <a:endParaRPr lang="en-US" sz="1000" dirty="0"/>
          </a:p>
        </p:txBody>
      </p:sp>
      <p:sp>
        <p:nvSpPr>
          <p:cNvPr id="9" name="Text 7"/>
          <p:cNvSpPr txBox="1"/>
          <p:nvPr/>
        </p:nvSpPr>
        <p:spPr>
          <a:xfrm>
            <a:off x="585216" y="2724912"/>
            <a:ext cx="1691640" cy="201168"/>
          </a:xfrm>
          <a:prstGeom prst="rect">
            <a:avLst/>
          </a:prstGeom>
          <a:noFill/>
          <a:ln/>
        </p:spPr>
        <p:txBody>
          <a:bodyPr wrap="square" lIns="0" tIns="0" rIns="0" bIns="0" rtlCol="0" anchor="t"/>
          <a:lstStyle/>
          <a:p>
            <a:pPr marL="0" indent="0">
              <a:buNone/>
            </a:pPr>
            <a:r>
              <a:rPr lang="en-US" sz="850" i="1" dirty="0">
                <a:solidFill>
                  <a:srgbClr val="6B5B7B"/>
                </a:solidFill>
                <a:latin typeface="Calibri" pitchFamily="34" charset="0"/>
                <a:ea typeface="Calibri" pitchFamily="34" charset="-122"/>
                <a:cs typeface="Calibri" pitchFamily="34" charset="-120"/>
              </a:rPr>
              <a:t>NCRB, Crime in India 2022</a:t>
            </a:r>
            <a:endParaRPr lang="en-US" sz="850" dirty="0"/>
          </a:p>
        </p:txBody>
      </p:sp>
      <p:sp>
        <p:nvSpPr>
          <p:cNvPr id="10" name="Shape 8"/>
          <p:cNvSpPr/>
          <p:nvPr/>
        </p:nvSpPr>
        <p:spPr>
          <a:xfrm>
            <a:off x="2560320" y="1664208"/>
            <a:ext cx="1920240" cy="1298448"/>
          </a:xfrm>
          <a:prstGeom prst="roundRect">
            <a:avLst>
              <a:gd name="adj" fmla="val 563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1" name="Text 9"/>
          <p:cNvSpPr txBox="1"/>
          <p:nvPr/>
        </p:nvSpPr>
        <p:spPr>
          <a:xfrm>
            <a:off x="2688336" y="1719072"/>
            <a:ext cx="1691640" cy="384048"/>
          </a:xfrm>
          <a:prstGeom prst="rect">
            <a:avLst/>
          </a:prstGeom>
          <a:noFill/>
          <a:ln/>
        </p:spPr>
        <p:txBody>
          <a:bodyPr wrap="square" lIns="0" tIns="0" rIns="0" bIns="0" rtlCol="0" anchor="ctr"/>
          <a:lstStyle/>
          <a:p>
            <a:pPr marL="0" indent="0">
              <a:buNone/>
            </a:pPr>
            <a:r>
              <a:rPr lang="en-US" sz="2300" b="1" dirty="0">
                <a:solidFill>
                  <a:srgbClr val="C2185B"/>
                </a:solidFill>
                <a:latin typeface="Calibri" pitchFamily="34" charset="0"/>
                <a:ea typeface="Calibri" pitchFamily="34" charset="-122"/>
                <a:cs typeface="Calibri" pitchFamily="34" charset="-120"/>
              </a:rPr>
              <a:t>32%</a:t>
            </a:r>
            <a:endParaRPr lang="en-US" sz="2300" dirty="0"/>
          </a:p>
        </p:txBody>
      </p:sp>
      <p:sp>
        <p:nvSpPr>
          <p:cNvPr id="12" name="Text 10"/>
          <p:cNvSpPr txBox="1"/>
          <p:nvPr/>
        </p:nvSpPr>
        <p:spPr>
          <a:xfrm>
            <a:off x="2688336" y="2130552"/>
            <a:ext cx="1691640" cy="594360"/>
          </a:xfrm>
          <a:prstGeom prst="rect">
            <a:avLst/>
          </a:prstGeom>
          <a:noFill/>
          <a:ln/>
        </p:spPr>
        <p:txBody>
          <a:bodyPr wrap="square" lIns="0" tIns="0" rIns="0" bIns="0" rtlCol="0" anchor="t"/>
          <a:lstStyle/>
          <a:p>
            <a:pPr marL="0" indent="0">
              <a:buNone/>
            </a:pPr>
            <a:r>
              <a:rPr lang="en-US" sz="1000" dirty="0">
                <a:solidFill>
                  <a:srgbClr val="2A1A3A"/>
                </a:solidFill>
                <a:latin typeface="Calibri" pitchFamily="34" charset="0"/>
                <a:ea typeface="Calibri" pitchFamily="34" charset="-122"/>
                <a:cs typeface="Calibri" pitchFamily="34" charset="-120"/>
              </a:rPr>
              <a:t>of ever-married women (18–49) reported spousal physical, sexual or emotional violence</a:t>
            </a:r>
            <a:endParaRPr lang="en-US" sz="1000" dirty="0"/>
          </a:p>
        </p:txBody>
      </p:sp>
      <p:sp>
        <p:nvSpPr>
          <p:cNvPr id="13" name="Text 11"/>
          <p:cNvSpPr txBox="1"/>
          <p:nvPr/>
        </p:nvSpPr>
        <p:spPr>
          <a:xfrm>
            <a:off x="2688336" y="2724912"/>
            <a:ext cx="1691640" cy="201168"/>
          </a:xfrm>
          <a:prstGeom prst="rect">
            <a:avLst/>
          </a:prstGeom>
          <a:noFill/>
          <a:ln/>
        </p:spPr>
        <p:txBody>
          <a:bodyPr wrap="square" lIns="0" tIns="0" rIns="0" bIns="0" rtlCol="0" anchor="t"/>
          <a:lstStyle/>
          <a:p>
            <a:pPr marL="0" indent="0">
              <a:buNone/>
            </a:pPr>
            <a:r>
              <a:rPr lang="en-US" sz="850" i="1" dirty="0">
                <a:solidFill>
                  <a:srgbClr val="6B5B7B"/>
                </a:solidFill>
                <a:latin typeface="Calibri" pitchFamily="34" charset="0"/>
                <a:ea typeface="Calibri" pitchFamily="34" charset="-122"/>
                <a:cs typeface="Calibri" pitchFamily="34" charset="-120"/>
              </a:rPr>
              <a:t>NFHS-5, 2019–21</a:t>
            </a:r>
            <a:endParaRPr lang="en-US" sz="850" dirty="0"/>
          </a:p>
        </p:txBody>
      </p:sp>
      <p:sp>
        <p:nvSpPr>
          <p:cNvPr id="14" name="Shape 12"/>
          <p:cNvSpPr/>
          <p:nvPr/>
        </p:nvSpPr>
        <p:spPr>
          <a:xfrm>
            <a:off x="4663440" y="1664208"/>
            <a:ext cx="1920240" cy="1298448"/>
          </a:xfrm>
          <a:prstGeom prst="roundRect">
            <a:avLst>
              <a:gd name="adj" fmla="val 563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5" name="Text 13"/>
          <p:cNvSpPr txBox="1"/>
          <p:nvPr/>
        </p:nvSpPr>
        <p:spPr>
          <a:xfrm>
            <a:off x="4791456" y="1719072"/>
            <a:ext cx="1691640" cy="384048"/>
          </a:xfrm>
          <a:prstGeom prst="rect">
            <a:avLst/>
          </a:prstGeom>
          <a:noFill/>
          <a:ln/>
        </p:spPr>
        <p:txBody>
          <a:bodyPr wrap="square" lIns="0" tIns="0" rIns="0" bIns="0" rtlCol="0" anchor="ctr"/>
          <a:lstStyle/>
          <a:p>
            <a:pPr marL="0" indent="0">
              <a:buNone/>
            </a:pPr>
            <a:r>
              <a:rPr lang="en-US" sz="2300" b="1" dirty="0">
                <a:solidFill>
                  <a:srgbClr val="C2185B"/>
                </a:solidFill>
                <a:latin typeface="Calibri" pitchFamily="34" charset="0"/>
                <a:ea typeface="Calibri" pitchFamily="34" charset="-122"/>
                <a:cs typeface="Calibri" pitchFamily="34" charset="-120"/>
              </a:rPr>
              <a:t>9 of 12</a:t>
            </a:r>
            <a:endParaRPr lang="en-US" sz="2300" dirty="0"/>
          </a:p>
        </p:txBody>
      </p:sp>
      <p:sp>
        <p:nvSpPr>
          <p:cNvPr id="16" name="Text 14"/>
          <p:cNvSpPr txBox="1"/>
          <p:nvPr/>
        </p:nvSpPr>
        <p:spPr>
          <a:xfrm>
            <a:off x="4791456" y="2130552"/>
            <a:ext cx="1691640" cy="594360"/>
          </a:xfrm>
          <a:prstGeom prst="rect">
            <a:avLst/>
          </a:prstGeom>
          <a:noFill/>
          <a:ln/>
        </p:spPr>
        <p:txBody>
          <a:bodyPr wrap="square" lIns="0" tIns="0" rIns="0" bIns="0" rtlCol="0" anchor="t"/>
          <a:lstStyle/>
          <a:p>
            <a:pPr marL="0" indent="0">
              <a:buNone/>
            </a:pPr>
            <a:r>
              <a:rPr lang="en-US" sz="1000" dirty="0">
                <a:solidFill>
                  <a:srgbClr val="2A1A3A"/>
                </a:solidFill>
                <a:latin typeface="Calibri" pitchFamily="34" charset="0"/>
                <a:ea typeface="Calibri" pitchFamily="34" charset="-122"/>
                <a:cs typeface="Calibri" pitchFamily="34" charset="-120"/>
              </a:rPr>
              <a:t>campus women not confident they could press a panic button if restrained or in shock</a:t>
            </a:r>
            <a:endParaRPr lang="en-US" sz="1000" dirty="0"/>
          </a:p>
        </p:txBody>
      </p:sp>
      <p:sp>
        <p:nvSpPr>
          <p:cNvPr id="17" name="Text 15"/>
          <p:cNvSpPr txBox="1"/>
          <p:nvPr/>
        </p:nvSpPr>
        <p:spPr>
          <a:xfrm>
            <a:off x="4791456" y="2724912"/>
            <a:ext cx="1691640" cy="201168"/>
          </a:xfrm>
          <a:prstGeom prst="rect">
            <a:avLst/>
          </a:prstGeom>
          <a:noFill/>
          <a:ln/>
        </p:spPr>
        <p:txBody>
          <a:bodyPr wrap="square" lIns="0" tIns="0" rIns="0" bIns="0" rtlCol="0" anchor="t"/>
          <a:lstStyle/>
          <a:p>
            <a:pPr marL="0" indent="0">
              <a:buNone/>
            </a:pPr>
            <a:r>
              <a:rPr lang="en-US" sz="850" i="1" dirty="0">
                <a:solidFill>
                  <a:srgbClr val="6B5B7B"/>
                </a:solidFill>
                <a:latin typeface="Calibri" pitchFamily="34" charset="0"/>
                <a:ea typeface="Calibri" pitchFamily="34" charset="-122"/>
                <a:cs typeface="Calibri" pitchFamily="34" charset="-120"/>
              </a:rPr>
              <a:t>Our informal conversations, n = 12</a:t>
            </a:r>
            <a:endParaRPr lang="en-US" sz="850" dirty="0"/>
          </a:p>
        </p:txBody>
      </p:sp>
      <p:sp>
        <p:nvSpPr>
          <p:cNvPr id="18" name="Shape 16"/>
          <p:cNvSpPr/>
          <p:nvPr/>
        </p:nvSpPr>
        <p:spPr>
          <a:xfrm>
            <a:off x="6766560" y="1664208"/>
            <a:ext cx="1920240" cy="1298448"/>
          </a:xfrm>
          <a:prstGeom prst="roundRect">
            <a:avLst>
              <a:gd name="adj" fmla="val 563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9" name="Text 17"/>
          <p:cNvSpPr txBox="1"/>
          <p:nvPr/>
        </p:nvSpPr>
        <p:spPr>
          <a:xfrm>
            <a:off x="6894576" y="1719072"/>
            <a:ext cx="1691640" cy="384048"/>
          </a:xfrm>
          <a:prstGeom prst="rect">
            <a:avLst/>
          </a:prstGeom>
          <a:noFill/>
          <a:ln/>
        </p:spPr>
        <p:txBody>
          <a:bodyPr wrap="square" lIns="0" tIns="0" rIns="0" bIns="0" rtlCol="0" anchor="ctr"/>
          <a:lstStyle/>
          <a:p>
            <a:pPr marL="0" indent="0">
              <a:buNone/>
            </a:pPr>
            <a:r>
              <a:rPr lang="en-US" sz="2300" b="1" dirty="0">
                <a:solidFill>
                  <a:srgbClr val="C2185B"/>
                </a:solidFill>
                <a:latin typeface="Calibri" pitchFamily="34" charset="0"/>
                <a:ea typeface="Calibri" pitchFamily="34" charset="-122"/>
                <a:cs typeface="Calibri" pitchFamily="34" charset="-120"/>
              </a:rPr>
              <a:t>7 of 12</a:t>
            </a:r>
            <a:endParaRPr lang="en-US" sz="2300" dirty="0"/>
          </a:p>
        </p:txBody>
      </p:sp>
      <p:sp>
        <p:nvSpPr>
          <p:cNvPr id="20" name="Text 18"/>
          <p:cNvSpPr txBox="1"/>
          <p:nvPr/>
        </p:nvSpPr>
        <p:spPr>
          <a:xfrm>
            <a:off x="6894576" y="2130552"/>
            <a:ext cx="1691640" cy="594360"/>
          </a:xfrm>
          <a:prstGeom prst="rect">
            <a:avLst/>
          </a:prstGeom>
          <a:noFill/>
          <a:ln/>
        </p:spPr>
        <p:txBody>
          <a:bodyPr wrap="square" lIns="0" tIns="0" rIns="0" bIns="0" rtlCol="0" anchor="t"/>
          <a:lstStyle/>
          <a:p>
            <a:pPr marL="0" indent="0">
              <a:buNone/>
            </a:pPr>
            <a:r>
              <a:rPr lang="en-US" sz="1000" dirty="0">
                <a:solidFill>
                  <a:srgbClr val="2A1A3A"/>
                </a:solidFill>
                <a:latin typeface="Calibri" pitchFamily="34" charset="0"/>
                <a:ea typeface="Calibri" pitchFamily="34" charset="-122"/>
                <a:cs typeface="Calibri" pitchFamily="34" charset="-120"/>
              </a:rPr>
              <a:t>had turned off a safety app because of false alerts</a:t>
            </a:r>
            <a:endParaRPr lang="en-US" sz="1000" dirty="0"/>
          </a:p>
        </p:txBody>
      </p:sp>
      <p:sp>
        <p:nvSpPr>
          <p:cNvPr id="21" name="Text 19"/>
          <p:cNvSpPr txBox="1"/>
          <p:nvPr/>
        </p:nvSpPr>
        <p:spPr>
          <a:xfrm>
            <a:off x="6894576" y="2724912"/>
            <a:ext cx="1691640" cy="201168"/>
          </a:xfrm>
          <a:prstGeom prst="rect">
            <a:avLst/>
          </a:prstGeom>
          <a:noFill/>
          <a:ln/>
        </p:spPr>
        <p:txBody>
          <a:bodyPr wrap="square" lIns="0" tIns="0" rIns="0" bIns="0" rtlCol="0" anchor="t"/>
          <a:lstStyle/>
          <a:p>
            <a:pPr marL="0" indent="0">
              <a:buNone/>
            </a:pPr>
            <a:r>
              <a:rPr lang="en-US" sz="850" i="1" dirty="0">
                <a:solidFill>
                  <a:srgbClr val="6B5B7B"/>
                </a:solidFill>
                <a:latin typeface="Calibri" pitchFamily="34" charset="0"/>
                <a:ea typeface="Calibri" pitchFamily="34" charset="-122"/>
                <a:cs typeface="Calibri" pitchFamily="34" charset="-120"/>
              </a:rPr>
              <a:t>Our informal conversations, n = 12</a:t>
            </a:r>
            <a:endParaRPr lang="en-US" sz="850" dirty="0"/>
          </a:p>
        </p:txBody>
      </p:sp>
      <p:sp>
        <p:nvSpPr>
          <p:cNvPr id="22" name="Text 20"/>
          <p:cNvSpPr txBox="1"/>
          <p:nvPr/>
        </p:nvSpPr>
        <p:spPr>
          <a:xfrm>
            <a:off x="457200" y="3108960"/>
            <a:ext cx="2103120" cy="347472"/>
          </a:xfrm>
          <a:prstGeom prst="rect">
            <a:avLst/>
          </a:prstGeom>
          <a:noFill/>
          <a:ln/>
        </p:spPr>
        <p:txBody>
          <a:bodyPr wrap="square" lIns="0" tIns="0" rIns="0" bIns="0" rtlCol="0" anchor="ctr"/>
          <a:lstStyle/>
          <a:p>
            <a:pPr marL="0" indent="0">
              <a:buNone/>
            </a:pPr>
            <a:r>
              <a:rPr lang="en-US" sz="950" b="1" dirty="0">
                <a:solidFill>
                  <a:srgbClr val="6B5B7B"/>
                </a:solidFill>
                <a:latin typeface="Calibri" pitchFamily="34" charset="0"/>
                <a:ea typeface="Calibri" pitchFamily="34" charset="-122"/>
                <a:cs typeface="Calibri" pitchFamily="34" charset="-120"/>
              </a:rPr>
              <a:t>TODAY’S ASSUMPTION</a:t>
            </a:r>
            <a:endParaRPr lang="en-US" sz="950" dirty="0"/>
          </a:p>
        </p:txBody>
      </p:sp>
      <p:sp>
        <p:nvSpPr>
          <p:cNvPr id="23" name="Shape 21"/>
          <p:cNvSpPr/>
          <p:nvPr/>
        </p:nvSpPr>
        <p:spPr>
          <a:xfrm>
            <a:off x="2606040" y="3108960"/>
            <a:ext cx="1783080" cy="347472"/>
          </a:xfrm>
          <a:prstGeom prst="roundRect">
            <a:avLst>
              <a:gd name="adj" fmla="val 15789"/>
            </a:avLst>
          </a:prstGeom>
          <a:solidFill>
            <a:srgbClr val="8C7A9B"/>
          </a:solidFill>
          <a:ln w="12700">
            <a:solidFill>
              <a:srgbClr val="8C7A9B"/>
            </a:solidFill>
            <a:prstDash val="solid"/>
          </a:ln>
        </p:spPr>
      </p:sp>
      <p:sp>
        <p:nvSpPr>
          <p:cNvPr id="24" name="Text 22"/>
          <p:cNvSpPr txBox="1"/>
          <p:nvPr/>
        </p:nvSpPr>
        <p:spPr>
          <a:xfrm>
            <a:off x="2606040" y="3108960"/>
            <a:ext cx="17830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She is free to act</a:t>
            </a:r>
            <a:endParaRPr lang="en-US" sz="1050" dirty="0"/>
          </a:p>
        </p:txBody>
      </p:sp>
      <p:sp>
        <p:nvSpPr>
          <p:cNvPr id="25" name="Shape 23"/>
          <p:cNvSpPr/>
          <p:nvPr/>
        </p:nvSpPr>
        <p:spPr>
          <a:xfrm>
            <a:off x="4489704" y="3209544"/>
            <a:ext cx="164592" cy="146304"/>
          </a:xfrm>
          <a:prstGeom prst="rightArrow">
            <a:avLst/>
          </a:prstGeom>
          <a:solidFill>
            <a:srgbClr val="C2185B"/>
          </a:solidFill>
          <a:ln w="12700">
            <a:solidFill>
              <a:srgbClr val="C2185B"/>
            </a:solidFill>
            <a:prstDash val="solid"/>
          </a:ln>
        </p:spPr>
      </p:sp>
      <p:sp>
        <p:nvSpPr>
          <p:cNvPr id="26" name="Shape 24"/>
          <p:cNvSpPr/>
          <p:nvPr/>
        </p:nvSpPr>
        <p:spPr>
          <a:xfrm>
            <a:off x="4754880" y="3108960"/>
            <a:ext cx="1783080" cy="347472"/>
          </a:xfrm>
          <a:prstGeom prst="roundRect">
            <a:avLst>
              <a:gd name="adj" fmla="val 15789"/>
            </a:avLst>
          </a:prstGeom>
          <a:solidFill>
            <a:srgbClr val="8C7A9B"/>
          </a:solidFill>
          <a:ln w="12700">
            <a:solidFill>
              <a:srgbClr val="8C7A9B"/>
            </a:solidFill>
            <a:prstDash val="solid"/>
          </a:ln>
        </p:spPr>
      </p:sp>
      <p:sp>
        <p:nvSpPr>
          <p:cNvPr id="27" name="Text 25"/>
          <p:cNvSpPr txBox="1"/>
          <p:nvPr/>
        </p:nvSpPr>
        <p:spPr>
          <a:xfrm>
            <a:off x="4754880" y="3108960"/>
            <a:ext cx="17830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Presses / unlocks</a:t>
            </a:r>
            <a:endParaRPr lang="en-US" sz="1050" dirty="0"/>
          </a:p>
        </p:txBody>
      </p:sp>
      <p:sp>
        <p:nvSpPr>
          <p:cNvPr id="28" name="Shape 26"/>
          <p:cNvSpPr/>
          <p:nvPr/>
        </p:nvSpPr>
        <p:spPr>
          <a:xfrm>
            <a:off x="6638544" y="3209544"/>
            <a:ext cx="164592" cy="146304"/>
          </a:xfrm>
          <a:prstGeom prst="rightArrow">
            <a:avLst/>
          </a:prstGeom>
          <a:solidFill>
            <a:srgbClr val="C2185B"/>
          </a:solidFill>
          <a:ln w="12700">
            <a:solidFill>
              <a:srgbClr val="C2185B"/>
            </a:solidFill>
            <a:prstDash val="solid"/>
          </a:ln>
        </p:spPr>
      </p:sp>
      <p:sp>
        <p:nvSpPr>
          <p:cNvPr id="29" name="Shape 27"/>
          <p:cNvSpPr/>
          <p:nvPr/>
        </p:nvSpPr>
        <p:spPr>
          <a:xfrm>
            <a:off x="6903720" y="3108960"/>
            <a:ext cx="1783080" cy="347472"/>
          </a:xfrm>
          <a:prstGeom prst="roundRect">
            <a:avLst>
              <a:gd name="adj" fmla="val 15789"/>
            </a:avLst>
          </a:prstGeom>
          <a:solidFill>
            <a:srgbClr val="8C7A9B"/>
          </a:solidFill>
          <a:ln w="12700">
            <a:solidFill>
              <a:srgbClr val="8C7A9B"/>
            </a:solidFill>
            <a:prstDash val="solid"/>
          </a:ln>
        </p:spPr>
      </p:sp>
      <p:sp>
        <p:nvSpPr>
          <p:cNvPr id="30" name="Text 28"/>
          <p:cNvSpPr txBox="1"/>
          <p:nvPr/>
        </p:nvSpPr>
        <p:spPr>
          <a:xfrm>
            <a:off x="6903720" y="3108960"/>
            <a:ext cx="17830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Alert sent</a:t>
            </a:r>
            <a:endParaRPr lang="en-US" sz="1050" dirty="0"/>
          </a:p>
        </p:txBody>
      </p:sp>
      <p:sp>
        <p:nvSpPr>
          <p:cNvPr id="31" name="Text 29"/>
          <p:cNvSpPr txBox="1"/>
          <p:nvPr/>
        </p:nvSpPr>
        <p:spPr>
          <a:xfrm>
            <a:off x="457200" y="3520440"/>
            <a:ext cx="2103120" cy="347472"/>
          </a:xfrm>
          <a:prstGeom prst="rect">
            <a:avLst/>
          </a:prstGeom>
          <a:noFill/>
          <a:ln/>
        </p:spPr>
        <p:txBody>
          <a:bodyPr wrap="square" lIns="0" tIns="0" rIns="0" bIns="0" rtlCol="0" anchor="ctr"/>
          <a:lstStyle/>
          <a:p>
            <a:pPr marL="0" indent="0">
              <a:buNone/>
            </a:pPr>
            <a:r>
              <a:rPr lang="en-US" sz="950" b="1" dirty="0">
                <a:solidFill>
                  <a:srgbClr val="C2185B"/>
                </a:solidFill>
                <a:latin typeface="Calibri" pitchFamily="34" charset="0"/>
                <a:ea typeface="Calibri" pitchFamily="34" charset="-122"/>
                <a:cs typeface="Calibri" pitchFamily="34" charset="-120"/>
              </a:rPr>
              <a:t>SHESHIELD’S DIFFERENCE</a:t>
            </a:r>
            <a:endParaRPr lang="en-US" sz="950" dirty="0"/>
          </a:p>
        </p:txBody>
      </p:sp>
      <p:sp>
        <p:nvSpPr>
          <p:cNvPr id="32" name="Shape 30"/>
          <p:cNvSpPr/>
          <p:nvPr/>
        </p:nvSpPr>
        <p:spPr>
          <a:xfrm>
            <a:off x="2606040" y="3520440"/>
            <a:ext cx="1783080" cy="347472"/>
          </a:xfrm>
          <a:prstGeom prst="roundRect">
            <a:avLst>
              <a:gd name="adj" fmla="val 15789"/>
            </a:avLst>
          </a:prstGeom>
          <a:solidFill>
            <a:srgbClr val="5E1B8E"/>
          </a:solidFill>
          <a:ln w="12700">
            <a:solidFill>
              <a:srgbClr val="5E1B8E"/>
            </a:solidFill>
            <a:prstDash val="solid"/>
          </a:ln>
        </p:spPr>
      </p:sp>
      <p:sp>
        <p:nvSpPr>
          <p:cNvPr id="33" name="Text 31"/>
          <p:cNvSpPr txBox="1"/>
          <p:nvPr/>
        </p:nvSpPr>
        <p:spPr>
          <a:xfrm>
            <a:off x="2606040" y="3520440"/>
            <a:ext cx="17830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Distress detected</a:t>
            </a:r>
            <a:endParaRPr lang="en-US" sz="1050" dirty="0"/>
          </a:p>
        </p:txBody>
      </p:sp>
      <p:sp>
        <p:nvSpPr>
          <p:cNvPr id="34" name="Shape 32"/>
          <p:cNvSpPr/>
          <p:nvPr/>
        </p:nvSpPr>
        <p:spPr>
          <a:xfrm>
            <a:off x="4489704" y="3621024"/>
            <a:ext cx="164592" cy="146304"/>
          </a:xfrm>
          <a:prstGeom prst="rightArrow">
            <a:avLst/>
          </a:prstGeom>
          <a:solidFill>
            <a:srgbClr val="C2185B"/>
          </a:solidFill>
          <a:ln w="12700">
            <a:solidFill>
              <a:srgbClr val="C2185B"/>
            </a:solidFill>
            <a:prstDash val="solid"/>
          </a:ln>
        </p:spPr>
      </p:sp>
      <p:sp>
        <p:nvSpPr>
          <p:cNvPr id="35" name="Shape 33"/>
          <p:cNvSpPr/>
          <p:nvPr/>
        </p:nvSpPr>
        <p:spPr>
          <a:xfrm>
            <a:off x="4754880" y="3520440"/>
            <a:ext cx="1783080" cy="347472"/>
          </a:xfrm>
          <a:prstGeom prst="roundRect">
            <a:avLst>
              <a:gd name="adj" fmla="val 15789"/>
            </a:avLst>
          </a:prstGeom>
          <a:solidFill>
            <a:srgbClr val="5E1B8E"/>
          </a:solidFill>
          <a:ln w="12700">
            <a:solidFill>
              <a:srgbClr val="5E1B8E"/>
            </a:solidFill>
            <a:prstDash val="solid"/>
          </a:ln>
        </p:spPr>
      </p:sp>
      <p:sp>
        <p:nvSpPr>
          <p:cNvPr id="36" name="Text 34"/>
          <p:cNvSpPr txBox="1"/>
          <p:nvPr/>
        </p:nvSpPr>
        <p:spPr>
          <a:xfrm>
            <a:off x="4754880" y="3520440"/>
            <a:ext cx="17830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Confidence score</a:t>
            </a:r>
            <a:endParaRPr lang="en-US" sz="1050" dirty="0"/>
          </a:p>
        </p:txBody>
      </p:sp>
      <p:sp>
        <p:nvSpPr>
          <p:cNvPr id="37" name="Shape 35"/>
          <p:cNvSpPr/>
          <p:nvPr/>
        </p:nvSpPr>
        <p:spPr>
          <a:xfrm>
            <a:off x="6638544" y="3621024"/>
            <a:ext cx="164592" cy="146304"/>
          </a:xfrm>
          <a:prstGeom prst="rightArrow">
            <a:avLst/>
          </a:prstGeom>
          <a:solidFill>
            <a:srgbClr val="C2185B"/>
          </a:solidFill>
          <a:ln w="12700">
            <a:solidFill>
              <a:srgbClr val="C2185B"/>
            </a:solidFill>
            <a:prstDash val="solid"/>
          </a:ln>
        </p:spPr>
      </p:sp>
      <p:sp>
        <p:nvSpPr>
          <p:cNvPr id="38" name="Shape 36"/>
          <p:cNvSpPr/>
          <p:nvPr/>
        </p:nvSpPr>
        <p:spPr>
          <a:xfrm>
            <a:off x="6903720" y="3520440"/>
            <a:ext cx="1783080" cy="347472"/>
          </a:xfrm>
          <a:prstGeom prst="roundRect">
            <a:avLst>
              <a:gd name="adj" fmla="val 15789"/>
            </a:avLst>
          </a:prstGeom>
          <a:solidFill>
            <a:srgbClr val="5E1B8E"/>
          </a:solidFill>
          <a:ln w="12700">
            <a:solidFill>
              <a:srgbClr val="5E1B8E"/>
            </a:solidFill>
            <a:prstDash val="solid"/>
          </a:ln>
        </p:spPr>
      </p:sp>
      <p:sp>
        <p:nvSpPr>
          <p:cNvPr id="39" name="Text 37"/>
          <p:cNvSpPr txBox="1"/>
          <p:nvPr/>
        </p:nvSpPr>
        <p:spPr>
          <a:xfrm>
            <a:off x="6903720" y="3520440"/>
            <a:ext cx="178308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Alert (can cancel)</a:t>
            </a:r>
            <a:endParaRPr lang="en-US" sz="1050" dirty="0"/>
          </a:p>
        </p:txBody>
      </p:sp>
      <p:sp>
        <p:nvSpPr>
          <p:cNvPr id="40" name="Shape 38"/>
          <p:cNvSpPr/>
          <p:nvPr/>
        </p:nvSpPr>
        <p:spPr>
          <a:xfrm>
            <a:off x="457200" y="4023360"/>
            <a:ext cx="402336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41" name="Shape 39"/>
          <p:cNvSpPr/>
          <p:nvPr/>
        </p:nvSpPr>
        <p:spPr>
          <a:xfrm>
            <a:off x="4663440" y="4023360"/>
            <a:ext cx="402336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42" name="Shape 40"/>
          <p:cNvSpPr/>
          <p:nvPr/>
        </p:nvSpPr>
        <p:spPr>
          <a:xfrm>
            <a:off x="566928" y="4114800"/>
            <a:ext cx="457200" cy="457200"/>
          </a:xfrm>
          <a:prstGeom prst="ellipse">
            <a:avLst/>
          </a:prstGeom>
          <a:solidFill>
            <a:srgbClr val="5E1B8E"/>
          </a:solidFill>
          <a:ln w="12700">
            <a:solidFill>
              <a:srgbClr val="5E1B8E"/>
            </a:solidFill>
            <a:prstDash val="solid"/>
          </a:ln>
        </p:spPr>
      </p:sp>
      <p:pic>
        <p:nvPicPr>
          <p:cNvPr id="43" name="Image 0" descr="preencoded.png"/>
          <p:cNvPicPr>
            <a:picLocks noChangeAspect="1"/>
          </p:cNvPicPr>
          <p:nvPr/>
        </p:nvPicPr>
        <p:blipFill>
          <a:blip r:embed="rId3"/>
          <a:stretch>
            <a:fillRect/>
          </a:stretch>
        </p:blipFill>
        <p:spPr>
          <a:xfrm>
            <a:off x="685800" y="4233672"/>
            <a:ext cx="219456" cy="219456"/>
          </a:xfrm>
          <a:prstGeom prst="rect">
            <a:avLst/>
          </a:prstGeom>
        </p:spPr>
      </p:pic>
      <p:sp>
        <p:nvSpPr>
          <p:cNvPr id="44" name="Shape 41"/>
          <p:cNvSpPr/>
          <p:nvPr/>
        </p:nvSpPr>
        <p:spPr>
          <a:xfrm>
            <a:off x="4773168" y="4114800"/>
            <a:ext cx="457200" cy="457200"/>
          </a:xfrm>
          <a:prstGeom prst="ellipse">
            <a:avLst/>
          </a:prstGeom>
          <a:solidFill>
            <a:srgbClr val="C2185B"/>
          </a:solidFill>
          <a:ln w="12700">
            <a:solidFill>
              <a:srgbClr val="C2185B"/>
            </a:solidFill>
            <a:prstDash val="solid"/>
          </a:ln>
        </p:spPr>
      </p:sp>
      <p:pic>
        <p:nvPicPr>
          <p:cNvPr id="45" name="Image 1" descr="preencoded.png"/>
          <p:cNvPicPr>
            <a:picLocks noChangeAspect="1"/>
          </p:cNvPicPr>
          <p:nvPr/>
        </p:nvPicPr>
        <p:blipFill>
          <a:blip r:embed="rId4"/>
          <a:stretch>
            <a:fillRect/>
          </a:stretch>
        </p:blipFill>
        <p:spPr>
          <a:xfrm>
            <a:off x="4892040" y="4233672"/>
            <a:ext cx="219456" cy="219456"/>
          </a:xfrm>
          <a:prstGeom prst="rect">
            <a:avLst/>
          </a:prstGeom>
        </p:spPr>
      </p:pic>
      <p:sp>
        <p:nvSpPr>
          <p:cNvPr id="46" name="Text 42"/>
          <p:cNvSpPr txBox="1"/>
          <p:nvPr/>
        </p:nvSpPr>
        <p:spPr>
          <a:xfrm>
            <a:off x="1143000" y="4023360"/>
            <a:ext cx="3246120" cy="658368"/>
          </a:xfrm>
          <a:prstGeom prst="rect">
            <a:avLst/>
          </a:prstGeom>
          <a:noFill/>
          <a:ln/>
        </p:spPr>
        <p:txBody>
          <a:bodyPr wrap="square" lIns="0" tIns="0" rIns="0" bIns="0" rtlCol="0" anchor="ctr"/>
          <a:lstStyle/>
          <a:p>
            <a:pPr marL="0" indent="0">
              <a:buNone/>
            </a:pPr>
            <a:r>
              <a:rPr lang="en-US" sz="1050" b="1" dirty="0">
                <a:solidFill>
                  <a:srgbClr val="5E1B8E"/>
                </a:solidFill>
                <a:latin typeface="Calibri" pitchFamily="34" charset="0"/>
                <a:ea typeface="Calibri" pitchFamily="34" charset="-122"/>
                <a:cs typeface="Calibri" pitchFamily="34" charset="-120"/>
              </a:rPr>
              <a:t>Last-mile risk  </a:t>
            </a:r>
            <a:r>
              <a:rPr lang="en-US" sz="1050" dirty="0">
                <a:solidFill>
                  <a:srgbClr val="2A1A3A"/>
                </a:solidFill>
                <a:latin typeface="Calibri" pitchFamily="34" charset="0"/>
                <a:ea typeface="Calibri" pitchFamily="34" charset="-122"/>
                <a:cs typeface="Calibri" pitchFamily="34" charset="-120"/>
              </a:rPr>
              <a:t>Bus stop to destination: fewer people around, slowest help.</a:t>
            </a:r>
            <a:endParaRPr lang="en-US" sz="1050" dirty="0"/>
          </a:p>
        </p:txBody>
      </p:sp>
      <p:sp>
        <p:nvSpPr>
          <p:cNvPr id="47" name="Text 43"/>
          <p:cNvSpPr txBox="1"/>
          <p:nvPr/>
        </p:nvSpPr>
        <p:spPr>
          <a:xfrm>
            <a:off x="5349240" y="4023360"/>
            <a:ext cx="3246120" cy="658368"/>
          </a:xfrm>
          <a:prstGeom prst="rect">
            <a:avLst/>
          </a:prstGeom>
          <a:noFill/>
          <a:ln/>
        </p:spPr>
        <p:txBody>
          <a:bodyPr wrap="square" lIns="0" tIns="0" rIns="0" bIns="0" rtlCol="0" anchor="ctr"/>
          <a:lstStyle/>
          <a:p>
            <a:pPr marL="0" indent="0">
              <a:buNone/>
            </a:pPr>
            <a:r>
              <a:rPr lang="en-US" sz="1050" b="1" dirty="0">
                <a:solidFill>
                  <a:srgbClr val="5E1B8E"/>
                </a:solidFill>
                <a:latin typeface="Calibri" pitchFamily="34" charset="0"/>
                <a:ea typeface="Calibri" pitchFamily="34" charset="-122"/>
                <a:cs typeface="Calibri" pitchFamily="34" charset="-120"/>
              </a:rPr>
              <a:t>Inclusion  </a:t>
            </a:r>
            <a:r>
              <a:rPr lang="en-US" sz="1050" dirty="0">
                <a:solidFill>
                  <a:srgbClr val="2A1A3A"/>
                </a:solidFill>
                <a:latin typeface="Calibri" pitchFamily="34" charset="0"/>
                <a:ea typeface="Calibri" pitchFamily="34" charset="-122"/>
                <a:cs typeface="Calibri" pitchFamily="34" charset="-120"/>
              </a:rPr>
              <a:t>Safety is a precondition for women’s education, work and public life.</a:t>
            </a:r>
            <a:endParaRPr lang="en-US" sz="1050" dirty="0"/>
          </a:p>
        </p:txBody>
      </p:sp>
      <p:sp>
        <p:nvSpPr>
          <p:cNvPr id="48" name="Text 44"/>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49" name="Text 45"/>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Solution: SheShield detects distress, she stays in control</a:t>
            </a:r>
            <a:endParaRPr lang="en-US" sz="2600" dirty="0"/>
          </a:p>
        </p:txBody>
      </p:sp>
      <p:sp>
        <p:nvSpPr>
          <p:cNvPr id="3" name="Shape 1"/>
          <p:cNvSpPr/>
          <p:nvPr/>
        </p:nvSpPr>
        <p:spPr>
          <a:xfrm>
            <a:off x="457200" y="896112"/>
            <a:ext cx="8229600" cy="685800"/>
          </a:xfrm>
          <a:prstGeom prst="roundRect">
            <a:avLst>
              <a:gd name="adj" fmla="val 10667"/>
            </a:avLst>
          </a:prstGeom>
          <a:solidFill>
            <a:srgbClr val="5E1B8E"/>
          </a:solidFill>
          <a:ln w="12700">
            <a:solidFill>
              <a:srgbClr val="5E1B8E"/>
            </a:solidFill>
            <a:prstDash val="solid"/>
          </a:ln>
        </p:spPr>
      </p:sp>
      <p:sp>
        <p:nvSpPr>
          <p:cNvPr id="4" name="Shape 2"/>
          <p:cNvSpPr/>
          <p:nvPr/>
        </p:nvSpPr>
        <p:spPr>
          <a:xfrm>
            <a:off x="621792" y="969264"/>
            <a:ext cx="548640" cy="548640"/>
          </a:xfrm>
          <a:prstGeom prst="ellipse">
            <a:avLst/>
          </a:prstGeom>
          <a:solidFill>
            <a:srgbClr val="C2185B"/>
          </a:solidFill>
          <a:ln w="12700">
            <a:solidFill>
              <a:srgbClr val="C2185B"/>
            </a:solidFill>
            <a:prstDash val="solid"/>
          </a:ln>
        </p:spPr>
      </p:sp>
      <p:pic>
        <p:nvPicPr>
          <p:cNvPr id="5" name="Image 0" descr="preencoded.png"/>
          <p:cNvPicPr>
            <a:picLocks noChangeAspect="1"/>
          </p:cNvPicPr>
          <p:nvPr/>
        </p:nvPicPr>
        <p:blipFill>
          <a:blip r:embed="rId3"/>
          <a:stretch>
            <a:fillRect/>
          </a:stretch>
        </p:blipFill>
        <p:spPr>
          <a:xfrm>
            <a:off x="764438" y="1111910"/>
            <a:ext cx="263347" cy="263347"/>
          </a:xfrm>
          <a:prstGeom prst="rect">
            <a:avLst/>
          </a:prstGeom>
        </p:spPr>
      </p:pic>
      <p:sp>
        <p:nvSpPr>
          <p:cNvPr id="6" name="Text 3"/>
          <p:cNvSpPr txBox="1"/>
          <p:nvPr/>
        </p:nvSpPr>
        <p:spPr>
          <a:xfrm>
            <a:off x="1371600" y="914400"/>
            <a:ext cx="2743200" cy="164592"/>
          </a:xfrm>
          <a:prstGeom prst="rect">
            <a:avLst/>
          </a:prstGeom>
          <a:noFill/>
          <a:ln/>
        </p:spPr>
        <p:txBody>
          <a:bodyPr wrap="square" lIns="0" tIns="0" rIns="0" bIns="0" rtlCol="0" anchor="t"/>
          <a:lstStyle/>
          <a:p>
            <a:pPr marL="0" indent="0">
              <a:buNone/>
            </a:pPr>
            <a:r>
              <a:rPr lang="en-US" sz="850" b="1" dirty="0">
                <a:solidFill>
                  <a:srgbClr val="F4B6D2"/>
                </a:solidFill>
                <a:latin typeface="Calibri" pitchFamily="34" charset="0"/>
                <a:ea typeface="Calibri" pitchFamily="34" charset="-122"/>
                <a:cs typeface="Calibri" pitchFamily="34" charset="-120"/>
              </a:rPr>
              <a:t>WHAT IT IS</a:t>
            </a:r>
            <a:endParaRPr lang="en-US" sz="850" dirty="0"/>
          </a:p>
        </p:txBody>
      </p:sp>
      <p:sp>
        <p:nvSpPr>
          <p:cNvPr id="7" name="Text 4"/>
          <p:cNvSpPr txBox="1"/>
          <p:nvPr/>
        </p:nvSpPr>
        <p:spPr>
          <a:xfrm>
            <a:off x="1371600" y="1069848"/>
            <a:ext cx="713232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 jewellery-style wearable (bracelet / pendant concept) that detects distress automatically.</a:t>
            </a:r>
            <a:endParaRPr lang="en-US" sz="1200" dirty="0"/>
          </a:p>
          <a:p>
            <a:pPr marL="0" indent="0">
              <a:buNone/>
            </a:pPr>
            <a:r>
              <a:rPr lang="en-US" sz="1100" dirty="0">
                <a:solidFill>
                  <a:srgbClr val="FFFFFF"/>
                </a:solidFill>
                <a:latin typeface="Calibri" pitchFamily="34" charset="0"/>
                <a:ea typeface="Calibri" pitchFamily="34" charset="-122"/>
                <a:cs typeface="Calibri" pitchFamily="34" charset="-120"/>
              </a:rPr>
              <a:t>No button press to trigger. She stays in control: press to cancel, long-press for instant SOS.</a:t>
            </a:r>
            <a:endParaRPr lang="en-US" sz="1200" dirty="0"/>
          </a:p>
        </p:txBody>
      </p:sp>
      <p:sp>
        <p:nvSpPr>
          <p:cNvPr id="8" name="Shape 5"/>
          <p:cNvSpPr/>
          <p:nvPr/>
        </p:nvSpPr>
        <p:spPr>
          <a:xfrm>
            <a:off x="457200" y="1719072"/>
            <a:ext cx="2606040" cy="1463040"/>
          </a:xfrm>
          <a:prstGeom prst="roundRect">
            <a:avLst>
              <a:gd name="adj" fmla="val 5000"/>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9" name="Shape 6"/>
          <p:cNvSpPr/>
          <p:nvPr/>
        </p:nvSpPr>
        <p:spPr>
          <a:xfrm>
            <a:off x="594360" y="1810512"/>
            <a:ext cx="411480" cy="411480"/>
          </a:xfrm>
          <a:prstGeom prst="ellipse">
            <a:avLst/>
          </a:prstGeom>
          <a:solidFill>
            <a:srgbClr val="5E1B8E"/>
          </a:solidFill>
          <a:ln w="12700">
            <a:solidFill>
              <a:srgbClr val="5E1B8E"/>
            </a:solidFill>
            <a:prstDash val="solid"/>
          </a:ln>
        </p:spPr>
      </p:sp>
      <p:pic>
        <p:nvPicPr>
          <p:cNvPr id="10" name="Image 1" descr="preencoded.png"/>
          <p:cNvPicPr>
            <a:picLocks noChangeAspect="1"/>
          </p:cNvPicPr>
          <p:nvPr/>
        </p:nvPicPr>
        <p:blipFill>
          <a:blip r:embed="rId4"/>
          <a:stretch>
            <a:fillRect/>
          </a:stretch>
        </p:blipFill>
        <p:spPr>
          <a:xfrm>
            <a:off x="701345" y="1917497"/>
            <a:ext cx="197510" cy="197510"/>
          </a:xfrm>
          <a:prstGeom prst="rect">
            <a:avLst/>
          </a:prstGeom>
        </p:spPr>
      </p:pic>
      <p:sp>
        <p:nvSpPr>
          <p:cNvPr id="11" name="Text 7"/>
          <p:cNvSpPr txBox="1"/>
          <p:nvPr/>
        </p:nvSpPr>
        <p:spPr>
          <a:xfrm>
            <a:off x="1115568" y="1810512"/>
            <a:ext cx="1828800" cy="411480"/>
          </a:xfrm>
          <a:prstGeom prst="rect">
            <a:avLst/>
          </a:prstGeom>
          <a:noFill/>
          <a:ln/>
        </p:spPr>
        <p:txBody>
          <a:bodyPr wrap="square" lIns="0" tIns="0" rIns="0" bIns="0" rtlCol="0" anchor="ctr"/>
          <a:lstStyle/>
          <a:p>
            <a:pPr marL="0" indent="0">
              <a:buNone/>
            </a:pPr>
            <a:r>
              <a:rPr lang="en-US" sz="1300" b="1" dirty="0">
                <a:solidFill>
                  <a:srgbClr val="5E1B8E"/>
                </a:solidFill>
                <a:latin typeface="Calibri" pitchFamily="34" charset="0"/>
                <a:ea typeface="Calibri" pitchFamily="34" charset="-122"/>
                <a:cs typeface="Calibri" pitchFamily="34" charset="-120"/>
              </a:rPr>
              <a:t>01  DETECT</a:t>
            </a:r>
            <a:endParaRPr lang="en-US" sz="1300" dirty="0"/>
          </a:p>
        </p:txBody>
      </p:sp>
      <p:sp>
        <p:nvSpPr>
          <p:cNvPr id="12" name="Text 8"/>
          <p:cNvSpPr txBox="1"/>
          <p:nvPr/>
        </p:nvSpPr>
        <p:spPr>
          <a:xfrm>
            <a:off x="594360" y="2286000"/>
            <a:ext cx="2377440" cy="228600"/>
          </a:xfrm>
          <a:prstGeom prst="rect">
            <a:avLst/>
          </a:prstGeom>
          <a:noFill/>
          <a:ln/>
        </p:spPr>
        <p:txBody>
          <a:bodyPr wrap="square" lIns="0" tIns="0" rIns="0" bIns="0" rtlCol="0" anchor="t"/>
          <a:lstStyle/>
          <a:p>
            <a:pPr marL="0" indent="0">
              <a:buNone/>
            </a:pPr>
            <a:r>
              <a:rPr lang="en-US" sz="1100" b="1" dirty="0">
                <a:solidFill>
                  <a:srgbClr val="2A1A3A"/>
                </a:solidFill>
                <a:latin typeface="Calibri" pitchFamily="34" charset="0"/>
                <a:ea typeface="Calibri" pitchFamily="34" charset="-122"/>
                <a:cs typeface="Calibri" pitchFamily="34" charset="-120"/>
              </a:rPr>
              <a:t>Heart-rate + motion, always on</a:t>
            </a:r>
            <a:endParaRPr lang="en-US" sz="1100" dirty="0"/>
          </a:p>
        </p:txBody>
      </p:sp>
      <p:sp>
        <p:nvSpPr>
          <p:cNvPr id="13" name="Text 9"/>
          <p:cNvSpPr txBox="1"/>
          <p:nvPr/>
        </p:nvSpPr>
        <p:spPr>
          <a:xfrm>
            <a:off x="594360" y="2542032"/>
            <a:ext cx="2377440" cy="365760"/>
          </a:xfrm>
          <a:prstGeom prst="rect">
            <a:avLst/>
          </a:prstGeom>
          <a:noFill/>
          <a:ln/>
        </p:spPr>
        <p:txBody>
          <a:bodyPr wrap="square" lIns="0" tIns="0" rIns="0" bIns="0" rtlCol="0" anchor="t"/>
          <a:lstStyle/>
          <a:p>
            <a:pPr marL="0" indent="0">
              <a:buNone/>
            </a:pPr>
            <a:r>
              <a:rPr lang="en-US" sz="1000" dirty="0">
                <a:solidFill>
                  <a:srgbClr val="2A1A3A"/>
                </a:solidFill>
                <a:latin typeface="Calibri" pitchFamily="34" charset="0"/>
                <a:ea typeface="Calibri" pitchFamily="34" charset="-122"/>
                <a:cs typeface="Calibri" pitchFamily="34" charset="-120"/>
              </a:rPr>
              <a:t>MAX30102 + MPU6050. No button press needed.</a:t>
            </a:r>
            <a:endParaRPr lang="en-US" sz="1000" dirty="0"/>
          </a:p>
        </p:txBody>
      </p:sp>
      <p:sp>
        <p:nvSpPr>
          <p:cNvPr id="14" name="Text 10"/>
          <p:cNvSpPr txBox="1"/>
          <p:nvPr/>
        </p:nvSpPr>
        <p:spPr>
          <a:xfrm>
            <a:off x="594360" y="2926080"/>
            <a:ext cx="2377440" cy="201168"/>
          </a:xfrm>
          <a:prstGeom prst="rect">
            <a:avLst/>
          </a:prstGeom>
          <a:noFill/>
          <a:ln/>
        </p:spPr>
        <p:txBody>
          <a:bodyPr wrap="square" lIns="0" tIns="0" rIns="0" bIns="0" rtlCol="0" anchor="t"/>
          <a:lstStyle/>
          <a:p>
            <a:pPr marL="0" indent="0">
              <a:buNone/>
            </a:pPr>
            <a:r>
              <a:rPr lang="en-US" sz="950" b="1" dirty="0">
                <a:solidFill>
                  <a:srgbClr val="C2185B"/>
                </a:solidFill>
                <a:latin typeface="Calibri" pitchFamily="34" charset="0"/>
                <a:ea typeface="Calibri" pitchFamily="34" charset="-122"/>
                <a:cs typeface="Calibri" pitchFamily="34" charset="-120"/>
              </a:rPr>
              <a:t>Fixes: she cannot press the button</a:t>
            </a:r>
            <a:endParaRPr lang="en-US" sz="950" dirty="0"/>
          </a:p>
        </p:txBody>
      </p:sp>
      <p:sp>
        <p:nvSpPr>
          <p:cNvPr id="15" name="Shape 11"/>
          <p:cNvSpPr/>
          <p:nvPr/>
        </p:nvSpPr>
        <p:spPr>
          <a:xfrm>
            <a:off x="3246120" y="1719072"/>
            <a:ext cx="2606040" cy="1463040"/>
          </a:xfrm>
          <a:prstGeom prst="roundRect">
            <a:avLst>
              <a:gd name="adj" fmla="val 5000"/>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6" name="Shape 12"/>
          <p:cNvSpPr/>
          <p:nvPr/>
        </p:nvSpPr>
        <p:spPr>
          <a:xfrm>
            <a:off x="3383280" y="1810512"/>
            <a:ext cx="411480" cy="411480"/>
          </a:xfrm>
          <a:prstGeom prst="ellipse">
            <a:avLst/>
          </a:prstGeom>
          <a:solidFill>
            <a:srgbClr val="5E1B8E"/>
          </a:solidFill>
          <a:ln w="12700">
            <a:solidFill>
              <a:srgbClr val="5E1B8E"/>
            </a:solidFill>
            <a:prstDash val="solid"/>
          </a:ln>
        </p:spPr>
      </p:sp>
      <p:pic>
        <p:nvPicPr>
          <p:cNvPr id="17" name="Image 2" descr="preencoded.png"/>
          <p:cNvPicPr>
            <a:picLocks noChangeAspect="1"/>
          </p:cNvPicPr>
          <p:nvPr/>
        </p:nvPicPr>
        <p:blipFill>
          <a:blip r:embed="rId5"/>
          <a:stretch>
            <a:fillRect/>
          </a:stretch>
        </p:blipFill>
        <p:spPr>
          <a:xfrm>
            <a:off x="3490265" y="1917497"/>
            <a:ext cx="197510" cy="197510"/>
          </a:xfrm>
          <a:prstGeom prst="rect">
            <a:avLst/>
          </a:prstGeom>
        </p:spPr>
      </p:pic>
      <p:sp>
        <p:nvSpPr>
          <p:cNvPr id="18" name="Text 13"/>
          <p:cNvSpPr txBox="1"/>
          <p:nvPr/>
        </p:nvSpPr>
        <p:spPr>
          <a:xfrm>
            <a:off x="3904488" y="1810512"/>
            <a:ext cx="1828800" cy="411480"/>
          </a:xfrm>
          <a:prstGeom prst="rect">
            <a:avLst/>
          </a:prstGeom>
          <a:noFill/>
          <a:ln/>
        </p:spPr>
        <p:txBody>
          <a:bodyPr wrap="square" lIns="0" tIns="0" rIns="0" bIns="0" rtlCol="0" anchor="ctr"/>
          <a:lstStyle/>
          <a:p>
            <a:pPr marL="0" indent="0">
              <a:buNone/>
            </a:pPr>
            <a:r>
              <a:rPr lang="en-US" sz="1300" b="1" dirty="0">
                <a:solidFill>
                  <a:srgbClr val="5E1B8E"/>
                </a:solidFill>
                <a:latin typeface="Calibri" pitchFamily="34" charset="0"/>
                <a:ea typeface="Calibri" pitchFamily="34" charset="-122"/>
                <a:cs typeface="Calibri" pitchFamily="34" charset="-120"/>
              </a:rPr>
              <a:t>02  DECIDE</a:t>
            </a:r>
            <a:endParaRPr lang="en-US" sz="1300" dirty="0"/>
          </a:p>
        </p:txBody>
      </p:sp>
      <p:sp>
        <p:nvSpPr>
          <p:cNvPr id="19" name="Text 14"/>
          <p:cNvSpPr txBox="1"/>
          <p:nvPr/>
        </p:nvSpPr>
        <p:spPr>
          <a:xfrm>
            <a:off x="3383280" y="2286000"/>
            <a:ext cx="2377440" cy="228600"/>
          </a:xfrm>
          <a:prstGeom prst="rect">
            <a:avLst/>
          </a:prstGeom>
          <a:noFill/>
          <a:ln/>
        </p:spPr>
        <p:txBody>
          <a:bodyPr wrap="square" lIns="0" tIns="0" rIns="0" bIns="0" rtlCol="0" anchor="t"/>
          <a:lstStyle/>
          <a:p>
            <a:pPr marL="0" indent="0">
              <a:buNone/>
            </a:pPr>
            <a:r>
              <a:rPr lang="en-US" sz="1100" b="1" dirty="0">
                <a:solidFill>
                  <a:srgbClr val="2A1A3A"/>
                </a:solidFill>
                <a:latin typeface="Calibri" pitchFamily="34" charset="0"/>
                <a:ea typeface="Calibri" pitchFamily="34" charset="-122"/>
                <a:cs typeface="Calibri" pitchFamily="34" charset="-120"/>
              </a:rPr>
              <a:t>Explainable 0–100 confidence score</a:t>
            </a:r>
            <a:endParaRPr lang="en-US" sz="1100" dirty="0"/>
          </a:p>
        </p:txBody>
      </p:sp>
      <p:sp>
        <p:nvSpPr>
          <p:cNvPr id="20" name="Text 15"/>
          <p:cNvSpPr txBox="1"/>
          <p:nvPr/>
        </p:nvSpPr>
        <p:spPr>
          <a:xfrm>
            <a:off x="3383280" y="2542032"/>
            <a:ext cx="2377440" cy="365760"/>
          </a:xfrm>
          <a:prstGeom prst="rect">
            <a:avLst/>
          </a:prstGeom>
          <a:noFill/>
          <a:ln/>
        </p:spPr>
        <p:txBody>
          <a:bodyPr wrap="square" lIns="0" tIns="0" rIns="0" bIns="0" rtlCol="0" anchor="t"/>
          <a:lstStyle/>
          <a:p>
            <a:pPr marL="0" indent="0">
              <a:buNone/>
            </a:pPr>
            <a:r>
              <a:rPr lang="en-US" sz="1000" dirty="0">
                <a:solidFill>
                  <a:srgbClr val="2A1A3A"/>
                </a:solidFill>
                <a:latin typeface="Calibri" pitchFamily="34" charset="0"/>
                <a:ea typeface="Calibri" pitchFamily="34" charset="-122"/>
                <a:cs typeface="Calibri" pitchFamily="34" charset="-120"/>
              </a:rPr>
              <a:t>Heart-rate AND motion must agree. Trigger at 70.</a:t>
            </a:r>
            <a:endParaRPr lang="en-US" sz="1000" dirty="0"/>
          </a:p>
        </p:txBody>
      </p:sp>
      <p:sp>
        <p:nvSpPr>
          <p:cNvPr id="21" name="Text 16"/>
          <p:cNvSpPr txBox="1"/>
          <p:nvPr/>
        </p:nvSpPr>
        <p:spPr>
          <a:xfrm>
            <a:off x="3383280" y="2926080"/>
            <a:ext cx="2377440" cy="201168"/>
          </a:xfrm>
          <a:prstGeom prst="rect">
            <a:avLst/>
          </a:prstGeom>
          <a:noFill/>
          <a:ln/>
        </p:spPr>
        <p:txBody>
          <a:bodyPr wrap="square" lIns="0" tIns="0" rIns="0" bIns="0" rtlCol="0" anchor="t"/>
          <a:lstStyle/>
          <a:p>
            <a:pPr marL="0" indent="0">
              <a:buNone/>
            </a:pPr>
            <a:r>
              <a:rPr lang="en-US" sz="950" b="1" dirty="0">
                <a:solidFill>
                  <a:srgbClr val="C2185B"/>
                </a:solidFill>
                <a:latin typeface="Calibri" pitchFamily="34" charset="0"/>
                <a:ea typeface="Calibri" pitchFamily="34" charset="-122"/>
                <a:cs typeface="Calibri" pitchFamily="34" charset="-120"/>
              </a:rPr>
              <a:t>Fixes: false alarms and alert fatigue</a:t>
            </a:r>
            <a:endParaRPr lang="en-US" sz="950" dirty="0"/>
          </a:p>
        </p:txBody>
      </p:sp>
      <p:sp>
        <p:nvSpPr>
          <p:cNvPr id="22" name="Shape 17"/>
          <p:cNvSpPr/>
          <p:nvPr/>
        </p:nvSpPr>
        <p:spPr>
          <a:xfrm>
            <a:off x="6035040" y="1719072"/>
            <a:ext cx="2606040" cy="1463040"/>
          </a:xfrm>
          <a:prstGeom prst="roundRect">
            <a:avLst>
              <a:gd name="adj" fmla="val 5000"/>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3" name="Shape 18"/>
          <p:cNvSpPr/>
          <p:nvPr/>
        </p:nvSpPr>
        <p:spPr>
          <a:xfrm>
            <a:off x="6172200" y="1810512"/>
            <a:ext cx="411480" cy="411480"/>
          </a:xfrm>
          <a:prstGeom prst="ellipse">
            <a:avLst/>
          </a:prstGeom>
          <a:solidFill>
            <a:srgbClr val="C2185B"/>
          </a:solidFill>
          <a:ln w="12700">
            <a:solidFill>
              <a:srgbClr val="C2185B"/>
            </a:solidFill>
            <a:prstDash val="solid"/>
          </a:ln>
        </p:spPr>
      </p:sp>
      <p:pic>
        <p:nvPicPr>
          <p:cNvPr id="24" name="Image 3" descr="preencoded.png"/>
          <p:cNvPicPr>
            <a:picLocks noChangeAspect="1"/>
          </p:cNvPicPr>
          <p:nvPr/>
        </p:nvPicPr>
        <p:blipFill>
          <a:blip r:embed="rId6"/>
          <a:stretch>
            <a:fillRect/>
          </a:stretch>
        </p:blipFill>
        <p:spPr>
          <a:xfrm>
            <a:off x="6279185" y="1917497"/>
            <a:ext cx="197510" cy="197510"/>
          </a:xfrm>
          <a:prstGeom prst="rect">
            <a:avLst/>
          </a:prstGeom>
        </p:spPr>
      </p:pic>
      <p:sp>
        <p:nvSpPr>
          <p:cNvPr id="25" name="Text 19"/>
          <p:cNvSpPr txBox="1"/>
          <p:nvPr/>
        </p:nvSpPr>
        <p:spPr>
          <a:xfrm>
            <a:off x="6693408" y="1810512"/>
            <a:ext cx="1828800" cy="411480"/>
          </a:xfrm>
          <a:prstGeom prst="rect">
            <a:avLst/>
          </a:prstGeom>
          <a:noFill/>
          <a:ln/>
        </p:spPr>
        <p:txBody>
          <a:bodyPr wrap="square" lIns="0" tIns="0" rIns="0" bIns="0" rtlCol="0" anchor="ctr"/>
          <a:lstStyle/>
          <a:p>
            <a:pPr marL="0" indent="0">
              <a:buNone/>
            </a:pPr>
            <a:r>
              <a:rPr lang="en-US" sz="1300" b="1" dirty="0">
                <a:solidFill>
                  <a:srgbClr val="5E1B8E"/>
                </a:solidFill>
                <a:latin typeface="Calibri" pitchFamily="34" charset="0"/>
                <a:ea typeface="Calibri" pitchFamily="34" charset="-122"/>
                <a:cs typeface="Calibri" pitchFamily="34" charset="-120"/>
              </a:rPr>
              <a:t>03  PROTECT</a:t>
            </a:r>
            <a:endParaRPr lang="en-US" sz="1300" dirty="0"/>
          </a:p>
        </p:txBody>
      </p:sp>
      <p:sp>
        <p:nvSpPr>
          <p:cNvPr id="26" name="Text 20"/>
          <p:cNvSpPr txBox="1"/>
          <p:nvPr/>
        </p:nvSpPr>
        <p:spPr>
          <a:xfrm>
            <a:off x="6172200" y="2286000"/>
            <a:ext cx="2377440" cy="228600"/>
          </a:xfrm>
          <a:prstGeom prst="rect">
            <a:avLst/>
          </a:prstGeom>
          <a:noFill/>
          <a:ln/>
        </p:spPr>
        <p:txBody>
          <a:bodyPr wrap="square" lIns="0" tIns="0" rIns="0" bIns="0" rtlCol="0" anchor="t"/>
          <a:lstStyle/>
          <a:p>
            <a:pPr marL="0" indent="0">
              <a:buNone/>
            </a:pPr>
            <a:r>
              <a:rPr lang="en-US" sz="1100" b="1" dirty="0">
                <a:solidFill>
                  <a:srgbClr val="2A1A3A"/>
                </a:solidFill>
                <a:latin typeface="Calibri" pitchFamily="34" charset="0"/>
                <a:ea typeface="Calibri" pitchFamily="34" charset="-122"/>
                <a:cs typeface="Calibri" pitchFamily="34" charset="-120"/>
              </a:rPr>
              <a:t>8-second cancel window, then SOS</a:t>
            </a:r>
            <a:endParaRPr lang="en-US" sz="1100" dirty="0"/>
          </a:p>
        </p:txBody>
      </p:sp>
      <p:sp>
        <p:nvSpPr>
          <p:cNvPr id="27" name="Text 21"/>
          <p:cNvSpPr txBox="1"/>
          <p:nvPr/>
        </p:nvSpPr>
        <p:spPr>
          <a:xfrm>
            <a:off x="6172200" y="2542032"/>
            <a:ext cx="2377440" cy="365760"/>
          </a:xfrm>
          <a:prstGeom prst="rect">
            <a:avLst/>
          </a:prstGeom>
          <a:noFill/>
          <a:ln/>
        </p:spPr>
        <p:txBody>
          <a:bodyPr wrap="square" lIns="0" tIns="0" rIns="0" bIns="0" rtlCol="0" anchor="t"/>
          <a:lstStyle/>
          <a:p>
            <a:pPr marL="0" indent="0">
              <a:buNone/>
            </a:pPr>
            <a:r>
              <a:rPr lang="en-US" sz="1000" dirty="0">
                <a:solidFill>
                  <a:srgbClr val="2A1A3A"/>
                </a:solidFill>
                <a:latin typeface="Calibri" pitchFamily="34" charset="0"/>
                <a:ea typeface="Calibri" pitchFamily="34" charset="-122"/>
                <a:cs typeface="Calibri" pitchFamily="34" charset="-120"/>
              </a:rPr>
              <a:t>Press to cancel. Long-press = instant SOS.</a:t>
            </a:r>
            <a:endParaRPr lang="en-US" sz="1000" dirty="0"/>
          </a:p>
        </p:txBody>
      </p:sp>
      <p:sp>
        <p:nvSpPr>
          <p:cNvPr id="28" name="Text 22"/>
          <p:cNvSpPr txBox="1"/>
          <p:nvPr/>
        </p:nvSpPr>
        <p:spPr>
          <a:xfrm>
            <a:off x="6172200" y="2926080"/>
            <a:ext cx="2377440" cy="201168"/>
          </a:xfrm>
          <a:prstGeom prst="rect">
            <a:avLst/>
          </a:prstGeom>
          <a:noFill/>
          <a:ln/>
        </p:spPr>
        <p:txBody>
          <a:bodyPr wrap="square" lIns="0" tIns="0" rIns="0" bIns="0" rtlCol="0" anchor="t"/>
          <a:lstStyle/>
          <a:p>
            <a:pPr marL="0" indent="0">
              <a:buNone/>
            </a:pPr>
            <a:r>
              <a:rPr lang="en-US" sz="950" b="1" dirty="0">
                <a:solidFill>
                  <a:srgbClr val="C2185B"/>
                </a:solidFill>
                <a:latin typeface="Calibri" pitchFamily="34" charset="0"/>
                <a:ea typeface="Calibri" pitchFamily="34" charset="-122"/>
                <a:cs typeface="Calibri" pitchFamily="34" charset="-120"/>
              </a:rPr>
              <a:t>Phone-free in the final product (GSM)</a:t>
            </a:r>
            <a:endParaRPr lang="en-US" sz="950" dirty="0"/>
          </a:p>
        </p:txBody>
      </p:sp>
      <p:sp>
        <p:nvSpPr>
          <p:cNvPr id="29" name="Shape 23"/>
          <p:cNvSpPr/>
          <p:nvPr/>
        </p:nvSpPr>
        <p:spPr>
          <a:xfrm>
            <a:off x="457200" y="3337560"/>
            <a:ext cx="4023360" cy="1371600"/>
          </a:xfrm>
          <a:prstGeom prst="roundRect">
            <a:avLst>
              <a:gd name="adj" fmla="val 5333"/>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30" name="Text 24"/>
          <p:cNvSpPr txBox="1"/>
          <p:nvPr/>
        </p:nvSpPr>
        <p:spPr>
          <a:xfrm>
            <a:off x="640080" y="3383280"/>
            <a:ext cx="3657600" cy="256032"/>
          </a:xfrm>
          <a:prstGeom prst="rect">
            <a:avLst/>
          </a:prstGeom>
          <a:noFill/>
          <a:ln/>
        </p:spPr>
        <p:txBody>
          <a:bodyPr wrap="square" lIns="0" tIns="0" rIns="0" bIns="0" rtlCol="0" anchor="ctr"/>
          <a:lstStyle/>
          <a:p>
            <a:pPr marL="0" indent="0">
              <a:buNone/>
            </a:pPr>
            <a:r>
              <a:rPr lang="en-US" sz="1100" b="1" dirty="0">
                <a:solidFill>
                  <a:srgbClr val="5E1B8E"/>
                </a:solidFill>
                <a:latin typeface="Calibri" pitchFamily="34" charset="0"/>
                <a:ea typeface="Calibri" pitchFamily="34" charset="-122"/>
                <a:cs typeface="Calibri" pitchFamily="34" charset="-120"/>
              </a:rPr>
              <a:t>BUILT  ·  PROTOTYPE, shown in our video</a:t>
            </a:r>
            <a:endParaRPr lang="en-US" sz="1100" dirty="0"/>
          </a:p>
        </p:txBody>
      </p:sp>
      <p:sp>
        <p:nvSpPr>
          <p:cNvPr id="31" name="Text 25"/>
          <p:cNvSpPr txBox="1"/>
          <p:nvPr/>
        </p:nvSpPr>
        <p:spPr>
          <a:xfrm>
            <a:off x="640080" y="3657600"/>
            <a:ext cx="3657600" cy="10058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Score, cancel window and long-press SOS working</a:t>
            </a:r>
            <a:endParaRPr lang="en-US" sz="1050" dirty="0"/>
          </a:p>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SOS via Telegram over hotspot, with live GPS location</a:t>
            </a:r>
            <a:endParaRPr lang="en-US" sz="1050" dirty="0"/>
          </a:p>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Breadboard build in a project box</a:t>
            </a:r>
            <a:endParaRPr lang="en-US" sz="1050" dirty="0"/>
          </a:p>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Heart-rate read from the fingertip</a:t>
            </a:r>
            <a:endParaRPr lang="en-US" sz="1050" dirty="0"/>
          </a:p>
        </p:txBody>
      </p:sp>
      <p:sp>
        <p:nvSpPr>
          <p:cNvPr id="32" name="Shape 26"/>
          <p:cNvSpPr/>
          <p:nvPr/>
        </p:nvSpPr>
        <p:spPr>
          <a:xfrm>
            <a:off x="4663440" y="3337560"/>
            <a:ext cx="4023360" cy="1371600"/>
          </a:xfrm>
          <a:prstGeom prst="roundRect">
            <a:avLst>
              <a:gd name="adj" fmla="val 5333"/>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33" name="Text 27"/>
          <p:cNvSpPr txBox="1"/>
          <p:nvPr/>
        </p:nvSpPr>
        <p:spPr>
          <a:xfrm>
            <a:off x="4846320" y="3383280"/>
            <a:ext cx="3657600" cy="256032"/>
          </a:xfrm>
          <a:prstGeom prst="rect">
            <a:avLst/>
          </a:prstGeom>
          <a:noFill/>
          <a:ln/>
        </p:spPr>
        <p:txBody>
          <a:bodyPr wrap="square" lIns="0" tIns="0" rIns="0" bIns="0" rtlCol="0" anchor="ctr"/>
          <a:lstStyle/>
          <a:p>
            <a:pPr marL="0" indent="0">
              <a:buNone/>
            </a:pPr>
            <a:r>
              <a:rPr lang="en-US" sz="1100" b="1" dirty="0">
                <a:solidFill>
                  <a:srgbClr val="C2185B"/>
                </a:solidFill>
                <a:latin typeface="Calibri" pitchFamily="34" charset="0"/>
                <a:ea typeface="Calibri" pitchFamily="34" charset="-122"/>
                <a:cs typeface="Calibri" pitchFamily="34" charset="-120"/>
              </a:rPr>
              <a:t>PLANNED  ·  FINAL PRODUCT, phone-free</a:t>
            </a:r>
            <a:endParaRPr lang="en-US" sz="1100" dirty="0"/>
          </a:p>
        </p:txBody>
      </p:sp>
      <p:sp>
        <p:nvSpPr>
          <p:cNvPr id="34" name="Text 28"/>
          <p:cNvSpPr txBox="1"/>
          <p:nvPr/>
        </p:nvSpPr>
        <p:spPr>
          <a:xfrm>
            <a:off x="4846320" y="3657600"/>
            <a:ext cx="3657600" cy="10058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SOS by GSM SMS: no phone or internet</a:t>
            </a:r>
            <a:endParaRPr lang="en-US" sz="1050" dirty="0"/>
          </a:p>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Jewellery-style wearable enclosure</a:t>
            </a:r>
            <a:endParaRPr lang="en-US" sz="1050" dirty="0"/>
          </a:p>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Wrist heart-rate, tuned in a pilot</a:t>
            </a:r>
            <a:endParaRPr lang="en-US" sz="1050" dirty="0"/>
          </a:p>
          <a:p>
            <a:pPr marL="342900" indent="-342900">
              <a:spcAft>
                <a:spcPts val="200"/>
              </a:spcAft>
              <a:buSzPct val="100000"/>
              <a:buChar char="•"/>
            </a:pPr>
            <a:r>
              <a:rPr lang="en-US" sz="1050" dirty="0">
                <a:solidFill>
                  <a:srgbClr val="2A1A3A"/>
                </a:solidFill>
                <a:latin typeface="Calibri" pitchFamily="34" charset="0"/>
                <a:ea typeface="Calibri" pitchFamily="34" charset="-122"/>
                <a:cs typeface="Calibri" pitchFamily="34" charset="-120"/>
              </a:rPr>
              <a:t>Final product est. cost ≈ ₹2,000</a:t>
            </a:r>
            <a:endParaRPr lang="en-US" sz="1050" dirty="0"/>
          </a:p>
        </p:txBody>
      </p:sp>
      <p:sp>
        <p:nvSpPr>
          <p:cNvPr id="35" name="Text 29"/>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36" name="Text 30"/>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How it works: sense, score, cancel, SOS</a:t>
            </a:r>
            <a:endParaRPr lang="en-US" sz="2600" dirty="0"/>
          </a:p>
        </p:txBody>
      </p:sp>
      <p:sp>
        <p:nvSpPr>
          <p:cNvPr id="3" name="Shape 1"/>
          <p:cNvSpPr/>
          <p:nvPr/>
        </p:nvSpPr>
        <p:spPr>
          <a:xfrm>
            <a:off x="457200" y="896112"/>
            <a:ext cx="1426464"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4" name="Shape 2"/>
          <p:cNvSpPr/>
          <p:nvPr/>
        </p:nvSpPr>
        <p:spPr>
          <a:xfrm>
            <a:off x="941832" y="950976"/>
            <a:ext cx="438912" cy="438912"/>
          </a:xfrm>
          <a:prstGeom prst="ellipse">
            <a:avLst/>
          </a:prstGeom>
          <a:solidFill>
            <a:srgbClr val="5E1B8E"/>
          </a:solidFill>
          <a:ln w="12700">
            <a:solidFill>
              <a:srgbClr val="5E1B8E"/>
            </a:solidFill>
            <a:prstDash val="solid"/>
          </a:ln>
        </p:spPr>
      </p:sp>
      <p:pic>
        <p:nvPicPr>
          <p:cNvPr id="5" name="Image 0" descr="preencoded.png"/>
          <p:cNvPicPr>
            <a:picLocks noChangeAspect="1"/>
          </p:cNvPicPr>
          <p:nvPr/>
        </p:nvPicPr>
        <p:blipFill>
          <a:blip r:embed="rId3"/>
          <a:stretch>
            <a:fillRect/>
          </a:stretch>
        </p:blipFill>
        <p:spPr>
          <a:xfrm>
            <a:off x="1055949" y="1065093"/>
            <a:ext cx="210678" cy="210678"/>
          </a:xfrm>
          <a:prstGeom prst="rect">
            <a:avLst/>
          </a:prstGeom>
        </p:spPr>
      </p:pic>
      <p:sp>
        <p:nvSpPr>
          <p:cNvPr id="6" name="Text 3"/>
          <p:cNvSpPr txBox="1"/>
          <p:nvPr/>
        </p:nvSpPr>
        <p:spPr>
          <a:xfrm>
            <a:off x="502920" y="1417320"/>
            <a:ext cx="1335024" cy="219456"/>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1  Sense</a:t>
            </a:r>
            <a:endParaRPr lang="en-US" sz="1150" dirty="0"/>
          </a:p>
        </p:txBody>
      </p:sp>
      <p:sp>
        <p:nvSpPr>
          <p:cNvPr id="7" name="Text 4"/>
          <p:cNvSpPr txBox="1"/>
          <p:nvPr/>
        </p:nvSpPr>
        <p:spPr>
          <a:xfrm>
            <a:off x="548640" y="1645920"/>
            <a:ext cx="1243584" cy="411480"/>
          </a:xfrm>
          <a:prstGeom prst="rect">
            <a:avLst/>
          </a:prstGeom>
          <a:noFill/>
          <a:ln/>
        </p:spPr>
        <p:txBody>
          <a:bodyPr wrap="square" lIns="0" tIns="0" rIns="0" bIns="0" rtlCol="0" anchor="t"/>
          <a:lstStyle/>
          <a:p>
            <a:pPr marL="0" indent="0" algn="ctr">
              <a:buNone/>
            </a:pPr>
            <a:r>
              <a:rPr lang="en-US" sz="900" dirty="0">
                <a:solidFill>
                  <a:srgbClr val="2A1A3A"/>
                </a:solidFill>
                <a:latin typeface="Calibri" pitchFamily="34" charset="0"/>
                <a:ea typeface="Calibri" pitchFamily="34" charset="-122"/>
                <a:cs typeface="Calibri" pitchFamily="34" charset="-120"/>
              </a:rPr>
              <a:t>Heart-rate + motion, always on</a:t>
            </a:r>
            <a:endParaRPr lang="en-US" sz="900" dirty="0"/>
          </a:p>
        </p:txBody>
      </p:sp>
      <p:sp>
        <p:nvSpPr>
          <p:cNvPr id="8" name="Shape 5"/>
          <p:cNvSpPr/>
          <p:nvPr/>
        </p:nvSpPr>
        <p:spPr>
          <a:xfrm>
            <a:off x="1920240" y="1417320"/>
            <a:ext cx="201168" cy="173736"/>
          </a:xfrm>
          <a:prstGeom prst="rightArrow">
            <a:avLst/>
          </a:prstGeom>
          <a:solidFill>
            <a:srgbClr val="C2185B"/>
          </a:solidFill>
          <a:ln w="12700">
            <a:solidFill>
              <a:srgbClr val="C2185B"/>
            </a:solidFill>
            <a:prstDash val="solid"/>
          </a:ln>
        </p:spPr>
      </p:sp>
      <p:sp>
        <p:nvSpPr>
          <p:cNvPr id="9" name="Shape 6"/>
          <p:cNvSpPr/>
          <p:nvPr/>
        </p:nvSpPr>
        <p:spPr>
          <a:xfrm>
            <a:off x="2157984" y="896112"/>
            <a:ext cx="1426464"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0" name="Shape 7"/>
          <p:cNvSpPr/>
          <p:nvPr/>
        </p:nvSpPr>
        <p:spPr>
          <a:xfrm>
            <a:off x="2642616" y="950976"/>
            <a:ext cx="438912" cy="438912"/>
          </a:xfrm>
          <a:prstGeom prst="ellipse">
            <a:avLst/>
          </a:prstGeom>
          <a:solidFill>
            <a:srgbClr val="5E1B8E"/>
          </a:solidFill>
          <a:ln w="12700">
            <a:solidFill>
              <a:srgbClr val="5E1B8E"/>
            </a:solidFill>
            <a:prstDash val="solid"/>
          </a:ln>
        </p:spPr>
      </p:sp>
      <p:pic>
        <p:nvPicPr>
          <p:cNvPr id="11" name="Image 1" descr="preencoded.png"/>
          <p:cNvPicPr>
            <a:picLocks noChangeAspect="1"/>
          </p:cNvPicPr>
          <p:nvPr/>
        </p:nvPicPr>
        <p:blipFill>
          <a:blip r:embed="rId4"/>
          <a:stretch>
            <a:fillRect/>
          </a:stretch>
        </p:blipFill>
        <p:spPr>
          <a:xfrm>
            <a:off x="2756733" y="1065093"/>
            <a:ext cx="210678" cy="210678"/>
          </a:xfrm>
          <a:prstGeom prst="rect">
            <a:avLst/>
          </a:prstGeom>
        </p:spPr>
      </p:pic>
      <p:sp>
        <p:nvSpPr>
          <p:cNvPr id="12" name="Text 8"/>
          <p:cNvSpPr txBox="1"/>
          <p:nvPr/>
        </p:nvSpPr>
        <p:spPr>
          <a:xfrm>
            <a:off x="2203704" y="1417320"/>
            <a:ext cx="1335024" cy="219456"/>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2  Score</a:t>
            </a:r>
            <a:endParaRPr lang="en-US" sz="1150" dirty="0"/>
          </a:p>
        </p:txBody>
      </p:sp>
      <p:sp>
        <p:nvSpPr>
          <p:cNvPr id="13" name="Text 9"/>
          <p:cNvSpPr txBox="1"/>
          <p:nvPr/>
        </p:nvSpPr>
        <p:spPr>
          <a:xfrm>
            <a:off x="2249424" y="1645920"/>
            <a:ext cx="1243584" cy="411480"/>
          </a:xfrm>
          <a:prstGeom prst="rect">
            <a:avLst/>
          </a:prstGeom>
          <a:noFill/>
          <a:ln/>
        </p:spPr>
        <p:txBody>
          <a:bodyPr wrap="square" lIns="0" tIns="0" rIns="0" bIns="0" rtlCol="0" anchor="t"/>
          <a:lstStyle/>
          <a:p>
            <a:pPr marL="0" indent="0" algn="ctr">
              <a:buNone/>
            </a:pPr>
            <a:r>
              <a:rPr lang="en-US" sz="900" dirty="0">
                <a:solidFill>
                  <a:srgbClr val="2A1A3A"/>
                </a:solidFill>
                <a:latin typeface="Calibri" pitchFamily="34" charset="0"/>
                <a:ea typeface="Calibri" pitchFamily="34" charset="-122"/>
                <a:cs typeface="Calibri" pitchFamily="34" charset="-120"/>
              </a:rPr>
              <a:t>On-device confidence score, 0–100</a:t>
            </a:r>
            <a:endParaRPr lang="en-US" sz="900" dirty="0"/>
          </a:p>
        </p:txBody>
      </p:sp>
      <p:sp>
        <p:nvSpPr>
          <p:cNvPr id="14" name="Shape 10"/>
          <p:cNvSpPr/>
          <p:nvPr/>
        </p:nvSpPr>
        <p:spPr>
          <a:xfrm>
            <a:off x="3621024" y="1417320"/>
            <a:ext cx="201168" cy="173736"/>
          </a:xfrm>
          <a:prstGeom prst="rightArrow">
            <a:avLst/>
          </a:prstGeom>
          <a:solidFill>
            <a:srgbClr val="C2185B"/>
          </a:solidFill>
          <a:ln w="12700">
            <a:solidFill>
              <a:srgbClr val="C2185B"/>
            </a:solidFill>
            <a:prstDash val="solid"/>
          </a:ln>
        </p:spPr>
      </p:sp>
      <p:sp>
        <p:nvSpPr>
          <p:cNvPr id="15" name="Shape 11"/>
          <p:cNvSpPr/>
          <p:nvPr/>
        </p:nvSpPr>
        <p:spPr>
          <a:xfrm>
            <a:off x="3858768" y="896112"/>
            <a:ext cx="1426464"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6" name="Shape 12"/>
          <p:cNvSpPr/>
          <p:nvPr/>
        </p:nvSpPr>
        <p:spPr>
          <a:xfrm>
            <a:off x="4343400" y="950976"/>
            <a:ext cx="438912" cy="438912"/>
          </a:xfrm>
          <a:prstGeom prst="ellipse">
            <a:avLst/>
          </a:prstGeom>
          <a:solidFill>
            <a:srgbClr val="5E1B8E"/>
          </a:solidFill>
          <a:ln w="12700">
            <a:solidFill>
              <a:srgbClr val="5E1B8E"/>
            </a:solidFill>
            <a:prstDash val="solid"/>
          </a:ln>
        </p:spPr>
      </p:sp>
      <p:pic>
        <p:nvPicPr>
          <p:cNvPr id="17" name="Image 2" descr="preencoded.png"/>
          <p:cNvPicPr>
            <a:picLocks noChangeAspect="1"/>
          </p:cNvPicPr>
          <p:nvPr/>
        </p:nvPicPr>
        <p:blipFill>
          <a:blip r:embed="rId5"/>
          <a:stretch>
            <a:fillRect/>
          </a:stretch>
        </p:blipFill>
        <p:spPr>
          <a:xfrm>
            <a:off x="4457517" y="1065093"/>
            <a:ext cx="210678" cy="210678"/>
          </a:xfrm>
          <a:prstGeom prst="rect">
            <a:avLst/>
          </a:prstGeom>
        </p:spPr>
      </p:pic>
      <p:sp>
        <p:nvSpPr>
          <p:cNvPr id="18" name="Text 13"/>
          <p:cNvSpPr txBox="1"/>
          <p:nvPr/>
        </p:nvSpPr>
        <p:spPr>
          <a:xfrm>
            <a:off x="3904488" y="1417320"/>
            <a:ext cx="1335024" cy="219456"/>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3  Alert</a:t>
            </a:r>
            <a:endParaRPr lang="en-US" sz="1150" dirty="0"/>
          </a:p>
        </p:txBody>
      </p:sp>
      <p:sp>
        <p:nvSpPr>
          <p:cNvPr id="19" name="Text 14"/>
          <p:cNvSpPr txBox="1"/>
          <p:nvPr/>
        </p:nvSpPr>
        <p:spPr>
          <a:xfrm>
            <a:off x="3950208" y="1645920"/>
            <a:ext cx="1243584" cy="411480"/>
          </a:xfrm>
          <a:prstGeom prst="rect">
            <a:avLst/>
          </a:prstGeom>
          <a:noFill/>
          <a:ln/>
        </p:spPr>
        <p:txBody>
          <a:bodyPr wrap="square" lIns="0" tIns="0" rIns="0" bIns="0" rtlCol="0" anchor="t"/>
          <a:lstStyle/>
          <a:p>
            <a:pPr marL="0" indent="0" algn="ctr">
              <a:buNone/>
            </a:pPr>
            <a:r>
              <a:rPr lang="en-US" sz="900" dirty="0">
                <a:solidFill>
                  <a:srgbClr val="2A1A3A"/>
                </a:solidFill>
                <a:latin typeface="Calibri" pitchFamily="34" charset="0"/>
                <a:ea typeface="Calibri" pitchFamily="34" charset="-122"/>
                <a:cs typeface="Calibri" pitchFamily="34" charset="-120"/>
              </a:rPr>
              <a:t>Score ≥ 70: vibration + buzzer</a:t>
            </a:r>
            <a:endParaRPr lang="en-US" sz="900" dirty="0"/>
          </a:p>
        </p:txBody>
      </p:sp>
      <p:sp>
        <p:nvSpPr>
          <p:cNvPr id="20" name="Shape 15"/>
          <p:cNvSpPr/>
          <p:nvPr/>
        </p:nvSpPr>
        <p:spPr>
          <a:xfrm>
            <a:off x="5321808" y="1417320"/>
            <a:ext cx="201168" cy="173736"/>
          </a:xfrm>
          <a:prstGeom prst="rightArrow">
            <a:avLst/>
          </a:prstGeom>
          <a:solidFill>
            <a:srgbClr val="C2185B"/>
          </a:solidFill>
          <a:ln w="12700">
            <a:solidFill>
              <a:srgbClr val="C2185B"/>
            </a:solidFill>
            <a:prstDash val="solid"/>
          </a:ln>
        </p:spPr>
      </p:sp>
      <p:sp>
        <p:nvSpPr>
          <p:cNvPr id="21" name="Shape 16"/>
          <p:cNvSpPr/>
          <p:nvPr/>
        </p:nvSpPr>
        <p:spPr>
          <a:xfrm>
            <a:off x="5559552" y="896112"/>
            <a:ext cx="1426464"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2" name="Shape 17"/>
          <p:cNvSpPr/>
          <p:nvPr/>
        </p:nvSpPr>
        <p:spPr>
          <a:xfrm>
            <a:off x="6044184" y="950976"/>
            <a:ext cx="438912" cy="438912"/>
          </a:xfrm>
          <a:prstGeom prst="ellipse">
            <a:avLst/>
          </a:prstGeom>
          <a:solidFill>
            <a:srgbClr val="5E1B8E"/>
          </a:solidFill>
          <a:ln w="12700">
            <a:solidFill>
              <a:srgbClr val="5E1B8E"/>
            </a:solidFill>
            <a:prstDash val="solid"/>
          </a:ln>
        </p:spPr>
      </p:sp>
      <p:pic>
        <p:nvPicPr>
          <p:cNvPr id="23" name="Image 3" descr="preencoded.png"/>
          <p:cNvPicPr>
            <a:picLocks noChangeAspect="1"/>
          </p:cNvPicPr>
          <p:nvPr/>
        </p:nvPicPr>
        <p:blipFill>
          <a:blip r:embed="rId6"/>
          <a:stretch>
            <a:fillRect/>
          </a:stretch>
        </p:blipFill>
        <p:spPr>
          <a:xfrm>
            <a:off x="6158301" y="1065093"/>
            <a:ext cx="210678" cy="210678"/>
          </a:xfrm>
          <a:prstGeom prst="rect">
            <a:avLst/>
          </a:prstGeom>
        </p:spPr>
      </p:pic>
      <p:sp>
        <p:nvSpPr>
          <p:cNvPr id="24" name="Text 18"/>
          <p:cNvSpPr txBox="1"/>
          <p:nvPr/>
        </p:nvSpPr>
        <p:spPr>
          <a:xfrm>
            <a:off x="5605272" y="1417320"/>
            <a:ext cx="1335024" cy="219456"/>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4  Cancel window</a:t>
            </a:r>
            <a:endParaRPr lang="en-US" sz="1150" dirty="0"/>
          </a:p>
        </p:txBody>
      </p:sp>
      <p:sp>
        <p:nvSpPr>
          <p:cNvPr id="25" name="Text 19"/>
          <p:cNvSpPr txBox="1"/>
          <p:nvPr/>
        </p:nvSpPr>
        <p:spPr>
          <a:xfrm>
            <a:off x="5650992" y="1645920"/>
            <a:ext cx="1243584" cy="411480"/>
          </a:xfrm>
          <a:prstGeom prst="rect">
            <a:avLst/>
          </a:prstGeom>
          <a:noFill/>
          <a:ln/>
        </p:spPr>
        <p:txBody>
          <a:bodyPr wrap="square" lIns="0" tIns="0" rIns="0" bIns="0" rtlCol="0" anchor="t"/>
          <a:lstStyle/>
          <a:p>
            <a:pPr marL="0" indent="0" algn="ctr">
              <a:buNone/>
            </a:pPr>
            <a:r>
              <a:rPr lang="en-US" sz="900" dirty="0">
                <a:solidFill>
                  <a:srgbClr val="2A1A3A"/>
                </a:solidFill>
                <a:latin typeface="Calibri" pitchFamily="34" charset="0"/>
                <a:ea typeface="Calibri" pitchFamily="34" charset="-122"/>
                <a:cs typeface="Calibri" pitchFamily="34" charset="-120"/>
              </a:rPr>
              <a:t>8 s countdown. Press button = cancelled</a:t>
            </a:r>
            <a:endParaRPr lang="en-US" sz="900" dirty="0"/>
          </a:p>
        </p:txBody>
      </p:sp>
      <p:sp>
        <p:nvSpPr>
          <p:cNvPr id="26" name="Shape 20"/>
          <p:cNvSpPr/>
          <p:nvPr/>
        </p:nvSpPr>
        <p:spPr>
          <a:xfrm>
            <a:off x="7022592" y="1417320"/>
            <a:ext cx="201168" cy="173736"/>
          </a:xfrm>
          <a:prstGeom prst="rightArrow">
            <a:avLst/>
          </a:prstGeom>
          <a:solidFill>
            <a:srgbClr val="C2185B"/>
          </a:solidFill>
          <a:ln w="12700">
            <a:solidFill>
              <a:srgbClr val="C2185B"/>
            </a:solidFill>
            <a:prstDash val="solid"/>
          </a:ln>
        </p:spPr>
      </p:sp>
      <p:sp>
        <p:nvSpPr>
          <p:cNvPr id="27" name="Shape 21"/>
          <p:cNvSpPr/>
          <p:nvPr/>
        </p:nvSpPr>
        <p:spPr>
          <a:xfrm>
            <a:off x="7260336" y="896112"/>
            <a:ext cx="1426464"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8" name="Shape 22"/>
          <p:cNvSpPr/>
          <p:nvPr/>
        </p:nvSpPr>
        <p:spPr>
          <a:xfrm>
            <a:off x="7744968" y="950976"/>
            <a:ext cx="438912" cy="438912"/>
          </a:xfrm>
          <a:prstGeom prst="ellipse">
            <a:avLst/>
          </a:prstGeom>
          <a:solidFill>
            <a:srgbClr val="C2185B"/>
          </a:solidFill>
          <a:ln w="12700">
            <a:solidFill>
              <a:srgbClr val="C2185B"/>
            </a:solidFill>
            <a:prstDash val="solid"/>
          </a:ln>
        </p:spPr>
      </p:sp>
      <p:pic>
        <p:nvPicPr>
          <p:cNvPr id="29" name="Image 4" descr="preencoded.png"/>
          <p:cNvPicPr>
            <a:picLocks noChangeAspect="1"/>
          </p:cNvPicPr>
          <p:nvPr/>
        </p:nvPicPr>
        <p:blipFill>
          <a:blip r:embed="rId7"/>
          <a:stretch>
            <a:fillRect/>
          </a:stretch>
        </p:blipFill>
        <p:spPr>
          <a:xfrm>
            <a:off x="7859085" y="1065093"/>
            <a:ext cx="210678" cy="210678"/>
          </a:xfrm>
          <a:prstGeom prst="rect">
            <a:avLst/>
          </a:prstGeom>
        </p:spPr>
      </p:pic>
      <p:sp>
        <p:nvSpPr>
          <p:cNvPr id="30" name="Text 23"/>
          <p:cNvSpPr txBox="1"/>
          <p:nvPr/>
        </p:nvSpPr>
        <p:spPr>
          <a:xfrm>
            <a:off x="7306056" y="1417320"/>
            <a:ext cx="1335024" cy="219456"/>
          </a:xfrm>
          <a:prstGeom prst="rect">
            <a:avLst/>
          </a:prstGeom>
          <a:noFill/>
          <a:ln/>
        </p:spPr>
        <p:txBody>
          <a:bodyPr wrap="square" lIns="0" tIns="0" rIns="0" bIns="0" rtlCol="0" anchor="ctr"/>
          <a:lstStyle/>
          <a:p>
            <a:pPr marL="0" indent="0" algn="ctr">
              <a:buNone/>
            </a:pPr>
            <a:r>
              <a:rPr lang="en-US" sz="1150" b="1" dirty="0">
                <a:solidFill>
                  <a:srgbClr val="5E1B8E"/>
                </a:solidFill>
                <a:latin typeface="Calibri" pitchFamily="34" charset="0"/>
                <a:ea typeface="Calibri" pitchFamily="34" charset="-122"/>
                <a:cs typeface="Calibri" pitchFamily="34" charset="-120"/>
              </a:rPr>
              <a:t>5  SOS</a:t>
            </a:r>
            <a:endParaRPr lang="en-US" sz="1150" dirty="0"/>
          </a:p>
        </p:txBody>
      </p:sp>
      <p:sp>
        <p:nvSpPr>
          <p:cNvPr id="31" name="Text 24"/>
          <p:cNvSpPr txBox="1"/>
          <p:nvPr/>
        </p:nvSpPr>
        <p:spPr>
          <a:xfrm>
            <a:off x="7351776" y="1645920"/>
            <a:ext cx="1243584" cy="411480"/>
          </a:xfrm>
          <a:prstGeom prst="rect">
            <a:avLst/>
          </a:prstGeom>
          <a:noFill/>
          <a:ln/>
        </p:spPr>
        <p:txBody>
          <a:bodyPr wrap="square" lIns="0" tIns="0" rIns="0" bIns="0" rtlCol="0" anchor="t"/>
          <a:lstStyle/>
          <a:p>
            <a:pPr marL="0" indent="0" algn="ctr">
              <a:buNone/>
            </a:pPr>
            <a:r>
              <a:rPr lang="en-US" sz="900" dirty="0">
                <a:solidFill>
                  <a:srgbClr val="2A1A3A"/>
                </a:solidFill>
                <a:latin typeface="Calibri" pitchFamily="34" charset="0"/>
                <a:ea typeface="Calibri" pitchFamily="34" charset="-122"/>
                <a:cs typeface="Calibri" pitchFamily="34" charset="-120"/>
              </a:rPr>
              <a:t>Not cancelled: alert sent</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5029200" cy="1499616"/>
        </p:xfrm>
        <a:graphic>
          <a:graphicData uri="http://schemas.openxmlformats.org/drawingml/2006/table">
            <a:tbl>
              <a:tblPr/>
              <a:tblGrid>
                <a:gridCol w="9144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Signal</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Condition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Points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extLst>
                  <a:ext uri="{0D108BD9-81ED-4DB2-BD59-A6C34878D82A}">
                    <a16:rowId xmlns:a16="http://schemas.microsoft.com/office/drawing/2014/main" val="10000"/>
                  </a:ext>
                </a:extLst>
              </a:tr>
              <a:tr h="402336">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Heart-rate</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Rise above her own baseline (10 s calibration): &gt; +15 / &gt; +25 BPM</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b="1" dirty="0">
                          <a:solidFill>
                            <a:srgbClr val="C2185B"/>
                          </a:solidFill>
                          <a:latin typeface="Calibri" pitchFamily="34" charset="0"/>
                          <a:ea typeface="Calibri" pitchFamily="34" charset="-122"/>
                          <a:cs typeface="Calibri" pitchFamily="34" charset="-120"/>
                        </a:rPr>
                        <a:t>+20 / +40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Motion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Struggle-like jerk: medium / high</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b="1" dirty="0">
                          <a:solidFill>
                            <a:srgbClr val="C2185B"/>
                          </a:solidFill>
                          <a:latin typeface="Calibri" pitchFamily="34" charset="0"/>
                          <a:ea typeface="Calibri" pitchFamily="34" charset="-122"/>
                          <a:cs typeface="Calibri" pitchFamily="34" charset="-120"/>
                        </a:rPr>
                        <a:t>+20 / +40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Rotation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Violent gyro rotation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b="1" dirty="0">
                          <a:solidFill>
                            <a:srgbClr val="C2185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Trigger</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F1E6F9"/>
                    </a:solidFill>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Score ≥ 70 starts the 8-second countdown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F1E6F9"/>
                    </a:solidFill>
                  </a:tcPr>
                </a:tc>
                <a:tc>
                  <a:txBody>
                    <a:bodyPr/>
                    <a:lstStyle/>
                    <a:p>
                      <a:pPr marL="0" indent="0" algn="ctr">
                        <a:buNone/>
                      </a:pPr>
                      <a:r>
                        <a:rPr lang="en-US" sz="1050" b="1" dirty="0">
                          <a:solidFill>
                            <a:srgbClr val="5E1B8E"/>
                          </a:solidFill>
                          <a:latin typeface="Calibri" pitchFamily="34" charset="0"/>
                          <a:ea typeface="Calibri" pitchFamily="34" charset="-122"/>
                          <a:cs typeface="Calibri" pitchFamily="34" charset="-120"/>
                        </a:rPr>
                        <a:t>≥ 70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F1E6F9"/>
                    </a:solidFill>
                  </a:tcPr>
                </a:tc>
                <a:extLst>
                  <a:ext uri="{0D108BD9-81ED-4DB2-BD59-A6C34878D82A}">
                    <a16:rowId xmlns:a16="http://schemas.microsoft.com/office/drawing/2014/main" val="10004"/>
                  </a:ext>
                </a:extLst>
              </a:tr>
            </a:tbl>
          </a:graphicData>
        </a:graphic>
      </p:graphicFrame>
      <p:sp>
        <p:nvSpPr>
          <p:cNvPr id="33" name="Shape 25"/>
          <p:cNvSpPr/>
          <p:nvPr/>
        </p:nvSpPr>
        <p:spPr>
          <a:xfrm>
            <a:off x="5669280" y="2240280"/>
            <a:ext cx="3017520" cy="1600200"/>
          </a:xfrm>
          <a:prstGeom prst="roundRect">
            <a:avLst>
              <a:gd name="adj" fmla="val 457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34" name="Text 26"/>
          <p:cNvSpPr txBox="1"/>
          <p:nvPr/>
        </p:nvSpPr>
        <p:spPr>
          <a:xfrm>
            <a:off x="5806440" y="2286000"/>
            <a:ext cx="2743200" cy="201168"/>
          </a:xfrm>
          <a:prstGeom prst="rect">
            <a:avLst/>
          </a:prstGeom>
          <a:noFill/>
          <a:ln/>
        </p:spPr>
        <p:txBody>
          <a:bodyPr wrap="square" lIns="0" tIns="0" rIns="0" bIns="0" rtlCol="0" anchor="t"/>
          <a:lstStyle/>
          <a:p>
            <a:pPr marL="0" indent="0">
              <a:buNone/>
            </a:pPr>
            <a:r>
              <a:rPr lang="en-US" sz="900" b="1" dirty="0">
                <a:solidFill>
                  <a:srgbClr val="5E1B8E"/>
                </a:solidFill>
                <a:latin typeface="Calibri" pitchFamily="34" charset="0"/>
                <a:ea typeface="Calibri" pitchFamily="34" charset="-122"/>
                <a:cs typeface="Calibri" pitchFamily="34" charset="-120"/>
              </a:rPr>
              <a:t>SCORE METER (0–100)</a:t>
            </a:r>
            <a:endParaRPr lang="en-US" sz="900" dirty="0"/>
          </a:p>
        </p:txBody>
      </p:sp>
      <p:sp>
        <p:nvSpPr>
          <p:cNvPr id="35" name="Shape 27"/>
          <p:cNvSpPr/>
          <p:nvPr/>
        </p:nvSpPr>
        <p:spPr>
          <a:xfrm>
            <a:off x="5852160" y="2651760"/>
            <a:ext cx="1060704" cy="292608"/>
          </a:xfrm>
          <a:prstGeom prst="rect">
            <a:avLst/>
          </a:prstGeom>
          <a:solidFill>
            <a:srgbClr val="5E1B8E"/>
          </a:solidFill>
          <a:ln w="12700">
            <a:solidFill>
              <a:srgbClr val="FFFFFF"/>
            </a:solidFill>
            <a:prstDash val="solid"/>
          </a:ln>
        </p:spPr>
      </p:sp>
      <p:sp>
        <p:nvSpPr>
          <p:cNvPr id="36" name="Text 28"/>
          <p:cNvSpPr txBox="1"/>
          <p:nvPr/>
        </p:nvSpPr>
        <p:spPr>
          <a:xfrm>
            <a:off x="5852160" y="2651760"/>
            <a:ext cx="106070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Motion 40</a:t>
            </a:r>
            <a:endParaRPr lang="en-US" sz="850" dirty="0"/>
          </a:p>
        </p:txBody>
      </p:sp>
      <p:sp>
        <p:nvSpPr>
          <p:cNvPr id="37" name="Shape 29"/>
          <p:cNvSpPr/>
          <p:nvPr/>
        </p:nvSpPr>
        <p:spPr>
          <a:xfrm>
            <a:off x="6912864" y="2651760"/>
            <a:ext cx="530352" cy="292608"/>
          </a:xfrm>
          <a:prstGeom prst="rect">
            <a:avLst/>
          </a:prstGeom>
          <a:solidFill>
            <a:srgbClr val="8E4DBA"/>
          </a:solidFill>
          <a:ln w="12700">
            <a:solidFill>
              <a:srgbClr val="FFFFFF"/>
            </a:solidFill>
            <a:prstDash val="solid"/>
          </a:ln>
        </p:spPr>
      </p:sp>
      <p:sp>
        <p:nvSpPr>
          <p:cNvPr id="38" name="Text 30"/>
          <p:cNvSpPr txBox="1"/>
          <p:nvPr/>
        </p:nvSpPr>
        <p:spPr>
          <a:xfrm>
            <a:off x="6912864" y="2651760"/>
            <a:ext cx="530352"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Rot. 20</a:t>
            </a:r>
            <a:endParaRPr lang="en-US" sz="850" dirty="0"/>
          </a:p>
        </p:txBody>
      </p:sp>
      <p:sp>
        <p:nvSpPr>
          <p:cNvPr id="39" name="Shape 31"/>
          <p:cNvSpPr/>
          <p:nvPr/>
        </p:nvSpPr>
        <p:spPr>
          <a:xfrm>
            <a:off x="7443216" y="2651760"/>
            <a:ext cx="1060704" cy="292608"/>
          </a:xfrm>
          <a:prstGeom prst="rect">
            <a:avLst/>
          </a:prstGeom>
          <a:solidFill>
            <a:srgbClr val="C2185B"/>
          </a:solidFill>
          <a:ln w="12700">
            <a:solidFill>
              <a:srgbClr val="FFFFFF"/>
            </a:solidFill>
            <a:prstDash val="solid"/>
          </a:ln>
        </p:spPr>
      </p:sp>
      <p:sp>
        <p:nvSpPr>
          <p:cNvPr id="40" name="Text 32"/>
          <p:cNvSpPr txBox="1"/>
          <p:nvPr/>
        </p:nvSpPr>
        <p:spPr>
          <a:xfrm>
            <a:off x="7443216" y="2651760"/>
            <a:ext cx="106070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HR 40</a:t>
            </a:r>
            <a:endParaRPr lang="en-US" sz="850" dirty="0"/>
          </a:p>
        </p:txBody>
      </p:sp>
      <p:sp>
        <p:nvSpPr>
          <p:cNvPr id="41" name="Shape 33"/>
          <p:cNvSpPr/>
          <p:nvPr/>
        </p:nvSpPr>
        <p:spPr>
          <a:xfrm>
            <a:off x="7708392" y="2542032"/>
            <a:ext cx="0" cy="512064"/>
          </a:xfrm>
          <a:prstGeom prst="line">
            <a:avLst/>
          </a:prstGeom>
          <a:noFill/>
          <a:ln w="25400">
            <a:solidFill>
              <a:srgbClr val="2A1A3A"/>
            </a:solidFill>
            <a:prstDash val="dash"/>
          </a:ln>
        </p:spPr>
      </p:sp>
      <p:sp>
        <p:nvSpPr>
          <p:cNvPr id="42" name="Text 34"/>
          <p:cNvSpPr txBox="1"/>
          <p:nvPr/>
        </p:nvSpPr>
        <p:spPr>
          <a:xfrm>
            <a:off x="7159752" y="3072384"/>
            <a:ext cx="1097280" cy="182880"/>
          </a:xfrm>
          <a:prstGeom prst="rect">
            <a:avLst/>
          </a:prstGeom>
          <a:noFill/>
          <a:ln/>
        </p:spPr>
        <p:txBody>
          <a:bodyPr wrap="square" lIns="0" tIns="0" rIns="0" bIns="0" rtlCol="0" anchor="t"/>
          <a:lstStyle/>
          <a:p>
            <a:pPr marL="0" indent="0" algn="ctr">
              <a:buNone/>
            </a:pPr>
            <a:r>
              <a:rPr lang="en-US" sz="850" b="1" dirty="0">
                <a:solidFill>
                  <a:srgbClr val="2A1A3A"/>
                </a:solidFill>
                <a:latin typeface="Calibri" pitchFamily="34" charset="0"/>
                <a:ea typeface="Calibri" pitchFamily="34" charset="-122"/>
                <a:cs typeface="Calibri" pitchFamily="34" charset="-120"/>
              </a:rPr>
              <a:t>TRIGGER 70</a:t>
            </a:r>
            <a:endParaRPr lang="en-US" sz="850" dirty="0"/>
          </a:p>
        </p:txBody>
      </p:sp>
      <p:sp>
        <p:nvSpPr>
          <p:cNvPr id="43" name="Text 35"/>
          <p:cNvSpPr txBox="1"/>
          <p:nvPr/>
        </p:nvSpPr>
        <p:spPr>
          <a:xfrm>
            <a:off x="5760720" y="2962656"/>
            <a:ext cx="182880" cy="164592"/>
          </a:xfrm>
          <a:prstGeom prst="rect">
            <a:avLst/>
          </a:prstGeom>
          <a:noFill/>
          <a:ln/>
        </p:spPr>
        <p:txBody>
          <a:bodyPr wrap="square" lIns="0" tIns="0" rIns="0" bIns="0" rtlCol="0" anchor="t"/>
          <a:lstStyle/>
          <a:p>
            <a:pPr marL="0" indent="0" algn="ctr">
              <a:buNone/>
            </a:pPr>
            <a:r>
              <a:rPr lang="en-US" sz="800" dirty="0">
                <a:solidFill>
                  <a:srgbClr val="6B5B7B"/>
                </a:solidFill>
                <a:latin typeface="Calibri" pitchFamily="34" charset="0"/>
                <a:ea typeface="Calibri" pitchFamily="34" charset="-122"/>
                <a:cs typeface="Calibri" pitchFamily="34" charset="-120"/>
              </a:rPr>
              <a:t>0</a:t>
            </a:r>
            <a:endParaRPr lang="en-US" sz="800" dirty="0"/>
          </a:p>
        </p:txBody>
      </p:sp>
      <p:sp>
        <p:nvSpPr>
          <p:cNvPr id="44" name="Text 36"/>
          <p:cNvSpPr txBox="1"/>
          <p:nvPr/>
        </p:nvSpPr>
        <p:spPr>
          <a:xfrm>
            <a:off x="8321040" y="2962656"/>
            <a:ext cx="365760" cy="164592"/>
          </a:xfrm>
          <a:prstGeom prst="rect">
            <a:avLst/>
          </a:prstGeom>
          <a:noFill/>
          <a:ln/>
        </p:spPr>
        <p:txBody>
          <a:bodyPr wrap="square" lIns="0" tIns="0" rIns="0" bIns="0" rtlCol="0" anchor="t"/>
          <a:lstStyle/>
          <a:p>
            <a:pPr marL="0" indent="0" algn="ctr">
              <a:buNone/>
            </a:pPr>
            <a:r>
              <a:rPr lang="en-US" sz="800" dirty="0">
                <a:solidFill>
                  <a:srgbClr val="6B5B7B"/>
                </a:solidFill>
                <a:latin typeface="Calibri" pitchFamily="34" charset="0"/>
                <a:ea typeface="Calibri" pitchFamily="34" charset="-122"/>
                <a:cs typeface="Calibri" pitchFamily="34" charset="-120"/>
              </a:rPr>
              <a:t>100</a:t>
            </a:r>
            <a:endParaRPr lang="en-US" sz="800" dirty="0"/>
          </a:p>
        </p:txBody>
      </p:sp>
      <p:sp>
        <p:nvSpPr>
          <p:cNvPr id="45" name="Shape 37"/>
          <p:cNvSpPr/>
          <p:nvPr/>
        </p:nvSpPr>
        <p:spPr>
          <a:xfrm>
            <a:off x="5806440" y="3337560"/>
            <a:ext cx="2743200" cy="411480"/>
          </a:xfrm>
          <a:prstGeom prst="roundRect">
            <a:avLst>
              <a:gd name="adj" fmla="val 13333"/>
            </a:avLst>
          </a:prstGeom>
          <a:solidFill>
            <a:srgbClr val="5E1B8E"/>
          </a:solidFill>
          <a:ln w="12700">
            <a:solidFill>
              <a:srgbClr val="5E1B8E"/>
            </a:solidFill>
            <a:prstDash val="solid"/>
          </a:ln>
        </p:spPr>
      </p:sp>
      <p:sp>
        <p:nvSpPr>
          <p:cNvPr id="46" name="Text 38"/>
          <p:cNvSpPr txBox="1"/>
          <p:nvPr/>
        </p:nvSpPr>
        <p:spPr>
          <a:xfrm>
            <a:off x="5806440" y="3337560"/>
            <a:ext cx="274320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Motion alone: 60 max → NO ALERT</a:t>
            </a:r>
            <a:endParaRPr lang="en-US" sz="1200" dirty="0"/>
          </a:p>
          <a:p>
            <a:pPr marL="0" indent="0" algn="ctr">
              <a:buNone/>
            </a:pPr>
            <a:r>
              <a:rPr lang="en-US" sz="900" dirty="0">
                <a:solidFill>
                  <a:srgbClr val="FFFFFF"/>
                </a:solidFill>
                <a:latin typeface="Calibri" pitchFamily="34" charset="0"/>
                <a:ea typeface="Calibri" pitchFamily="34" charset="-122"/>
                <a:cs typeface="Calibri" pitchFamily="34" charset="-120"/>
              </a:rPr>
              <a:t>Heart-rate and motion must agree.</a:t>
            </a:r>
            <a:endParaRPr lang="en-US" sz="1200" dirty="0"/>
          </a:p>
        </p:txBody>
      </p:sp>
      <p:sp>
        <p:nvSpPr>
          <p:cNvPr id="47" name="Shape 39"/>
          <p:cNvSpPr/>
          <p:nvPr/>
        </p:nvSpPr>
        <p:spPr>
          <a:xfrm>
            <a:off x="457200" y="3977640"/>
            <a:ext cx="1920240" cy="548640"/>
          </a:xfrm>
          <a:prstGeom prst="roundRect">
            <a:avLst>
              <a:gd name="adj" fmla="val 13333"/>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48" name="Text 40"/>
          <p:cNvSpPr txBox="1"/>
          <p:nvPr/>
        </p:nvSpPr>
        <p:spPr>
          <a:xfrm>
            <a:off x="548640" y="3977640"/>
            <a:ext cx="777240" cy="548640"/>
          </a:xfrm>
          <a:prstGeom prst="rect">
            <a:avLst/>
          </a:prstGeom>
          <a:noFill/>
          <a:ln/>
        </p:spPr>
        <p:txBody>
          <a:bodyPr wrap="square" lIns="0" tIns="0" rIns="0" bIns="0" rtlCol="0" anchor="ctr"/>
          <a:lstStyle/>
          <a:p>
            <a:pPr marL="0" indent="0" algn="ctr">
              <a:buNone/>
            </a:pPr>
            <a:r>
              <a:rPr lang="en-US" sz="2000" b="1" dirty="0">
                <a:solidFill>
                  <a:srgbClr val="C2185B"/>
                </a:solidFill>
                <a:latin typeface="Calibri" pitchFamily="34" charset="0"/>
                <a:ea typeface="Calibri" pitchFamily="34" charset="-122"/>
                <a:cs typeface="Calibri" pitchFamily="34" charset="-120"/>
              </a:rPr>
              <a:t>10 s</a:t>
            </a:r>
            <a:endParaRPr lang="en-US" sz="2000" dirty="0"/>
          </a:p>
        </p:txBody>
      </p:sp>
      <p:sp>
        <p:nvSpPr>
          <p:cNvPr id="49" name="Text 41"/>
          <p:cNvSpPr txBox="1"/>
          <p:nvPr/>
        </p:nvSpPr>
        <p:spPr>
          <a:xfrm>
            <a:off x="1325880" y="3977640"/>
            <a:ext cx="1005840" cy="548640"/>
          </a:xfrm>
          <a:prstGeom prst="rect">
            <a:avLst/>
          </a:prstGeom>
          <a:noFill/>
          <a:ln/>
        </p:spPr>
        <p:txBody>
          <a:bodyPr wrap="square" lIns="0" tIns="0" rIns="0" bIns="0" rtlCol="0" anchor="ctr"/>
          <a:lstStyle/>
          <a:p>
            <a:pPr marL="0" indent="0">
              <a:buNone/>
            </a:pPr>
            <a:r>
              <a:rPr lang="en-US" sz="950" dirty="0">
                <a:solidFill>
                  <a:srgbClr val="2A1A3A"/>
                </a:solidFill>
                <a:latin typeface="Calibri" pitchFamily="34" charset="0"/>
                <a:ea typeface="Calibri" pitchFamily="34" charset="-122"/>
                <a:cs typeface="Calibri" pitchFamily="34" charset="-120"/>
              </a:rPr>
              <a:t>baseline calibration</a:t>
            </a:r>
            <a:endParaRPr lang="en-US" sz="950" dirty="0"/>
          </a:p>
        </p:txBody>
      </p:sp>
      <p:sp>
        <p:nvSpPr>
          <p:cNvPr id="50" name="Shape 42"/>
          <p:cNvSpPr/>
          <p:nvPr/>
        </p:nvSpPr>
        <p:spPr>
          <a:xfrm>
            <a:off x="2560320" y="3977640"/>
            <a:ext cx="1920240" cy="548640"/>
          </a:xfrm>
          <a:prstGeom prst="roundRect">
            <a:avLst>
              <a:gd name="adj" fmla="val 13333"/>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51" name="Text 43"/>
          <p:cNvSpPr txBox="1"/>
          <p:nvPr/>
        </p:nvSpPr>
        <p:spPr>
          <a:xfrm>
            <a:off x="2651760" y="3977640"/>
            <a:ext cx="777240" cy="548640"/>
          </a:xfrm>
          <a:prstGeom prst="rect">
            <a:avLst/>
          </a:prstGeom>
          <a:noFill/>
          <a:ln/>
        </p:spPr>
        <p:txBody>
          <a:bodyPr wrap="square" lIns="0" tIns="0" rIns="0" bIns="0" rtlCol="0" anchor="ctr"/>
          <a:lstStyle/>
          <a:p>
            <a:pPr marL="0" indent="0" algn="ctr">
              <a:buNone/>
            </a:pPr>
            <a:r>
              <a:rPr lang="en-US" sz="2000" b="1" dirty="0">
                <a:solidFill>
                  <a:srgbClr val="C2185B"/>
                </a:solidFill>
                <a:latin typeface="Calibri" pitchFamily="34" charset="0"/>
                <a:ea typeface="Calibri" pitchFamily="34" charset="-122"/>
                <a:cs typeface="Calibri" pitchFamily="34" charset="-120"/>
              </a:rPr>
              <a:t>70</a:t>
            </a:r>
            <a:endParaRPr lang="en-US" sz="2000" dirty="0"/>
          </a:p>
        </p:txBody>
      </p:sp>
      <p:sp>
        <p:nvSpPr>
          <p:cNvPr id="52" name="Text 44"/>
          <p:cNvSpPr txBox="1"/>
          <p:nvPr/>
        </p:nvSpPr>
        <p:spPr>
          <a:xfrm>
            <a:off x="3429000" y="3977640"/>
            <a:ext cx="1005840" cy="548640"/>
          </a:xfrm>
          <a:prstGeom prst="rect">
            <a:avLst/>
          </a:prstGeom>
          <a:noFill/>
          <a:ln/>
        </p:spPr>
        <p:txBody>
          <a:bodyPr wrap="square" lIns="0" tIns="0" rIns="0" bIns="0" rtlCol="0" anchor="ctr"/>
          <a:lstStyle/>
          <a:p>
            <a:pPr marL="0" indent="0">
              <a:buNone/>
            </a:pPr>
            <a:r>
              <a:rPr lang="en-US" sz="950" dirty="0">
                <a:solidFill>
                  <a:srgbClr val="2A1A3A"/>
                </a:solidFill>
                <a:latin typeface="Calibri" pitchFamily="34" charset="0"/>
                <a:ea typeface="Calibri" pitchFamily="34" charset="-122"/>
                <a:cs typeface="Calibri" pitchFamily="34" charset="-120"/>
              </a:rPr>
              <a:t>trigger threshold</a:t>
            </a:r>
            <a:endParaRPr lang="en-US" sz="950" dirty="0"/>
          </a:p>
        </p:txBody>
      </p:sp>
      <p:sp>
        <p:nvSpPr>
          <p:cNvPr id="53" name="Shape 45"/>
          <p:cNvSpPr/>
          <p:nvPr/>
        </p:nvSpPr>
        <p:spPr>
          <a:xfrm>
            <a:off x="4663440" y="3977640"/>
            <a:ext cx="1920240" cy="548640"/>
          </a:xfrm>
          <a:prstGeom prst="roundRect">
            <a:avLst>
              <a:gd name="adj" fmla="val 13333"/>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54" name="Text 46"/>
          <p:cNvSpPr txBox="1"/>
          <p:nvPr/>
        </p:nvSpPr>
        <p:spPr>
          <a:xfrm>
            <a:off x="4754880" y="3977640"/>
            <a:ext cx="777240" cy="548640"/>
          </a:xfrm>
          <a:prstGeom prst="rect">
            <a:avLst/>
          </a:prstGeom>
          <a:noFill/>
          <a:ln/>
        </p:spPr>
        <p:txBody>
          <a:bodyPr wrap="square" lIns="0" tIns="0" rIns="0" bIns="0" rtlCol="0" anchor="ctr"/>
          <a:lstStyle/>
          <a:p>
            <a:pPr marL="0" indent="0" algn="ctr">
              <a:buNone/>
            </a:pPr>
            <a:r>
              <a:rPr lang="en-US" sz="2000" b="1" dirty="0">
                <a:solidFill>
                  <a:srgbClr val="C2185B"/>
                </a:solidFill>
                <a:latin typeface="Calibri" pitchFamily="34" charset="0"/>
                <a:ea typeface="Calibri" pitchFamily="34" charset="-122"/>
                <a:cs typeface="Calibri" pitchFamily="34" charset="-120"/>
              </a:rPr>
              <a:t>8 s</a:t>
            </a:r>
            <a:endParaRPr lang="en-US" sz="2000" dirty="0"/>
          </a:p>
        </p:txBody>
      </p:sp>
      <p:sp>
        <p:nvSpPr>
          <p:cNvPr id="55" name="Text 47"/>
          <p:cNvSpPr txBox="1"/>
          <p:nvPr/>
        </p:nvSpPr>
        <p:spPr>
          <a:xfrm>
            <a:off x="5532120" y="3977640"/>
            <a:ext cx="1005840" cy="548640"/>
          </a:xfrm>
          <a:prstGeom prst="rect">
            <a:avLst/>
          </a:prstGeom>
          <a:noFill/>
          <a:ln/>
        </p:spPr>
        <p:txBody>
          <a:bodyPr wrap="square" lIns="0" tIns="0" rIns="0" bIns="0" rtlCol="0" anchor="ctr"/>
          <a:lstStyle/>
          <a:p>
            <a:pPr marL="0" indent="0">
              <a:buNone/>
            </a:pPr>
            <a:r>
              <a:rPr lang="en-US" sz="950" dirty="0">
                <a:solidFill>
                  <a:srgbClr val="2A1A3A"/>
                </a:solidFill>
                <a:latin typeface="Calibri" pitchFamily="34" charset="0"/>
                <a:ea typeface="Calibri" pitchFamily="34" charset="-122"/>
                <a:cs typeface="Calibri" pitchFamily="34" charset="-120"/>
              </a:rPr>
              <a:t>cancel window</a:t>
            </a:r>
            <a:endParaRPr lang="en-US" sz="950" dirty="0"/>
          </a:p>
        </p:txBody>
      </p:sp>
      <p:sp>
        <p:nvSpPr>
          <p:cNvPr id="56" name="Shape 48"/>
          <p:cNvSpPr/>
          <p:nvPr/>
        </p:nvSpPr>
        <p:spPr>
          <a:xfrm>
            <a:off x="6766560" y="3977640"/>
            <a:ext cx="1920240" cy="548640"/>
          </a:xfrm>
          <a:prstGeom prst="roundRect">
            <a:avLst>
              <a:gd name="adj" fmla="val 13333"/>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57" name="Text 49"/>
          <p:cNvSpPr txBox="1"/>
          <p:nvPr/>
        </p:nvSpPr>
        <p:spPr>
          <a:xfrm>
            <a:off x="6858000" y="3977640"/>
            <a:ext cx="777240" cy="548640"/>
          </a:xfrm>
          <a:prstGeom prst="rect">
            <a:avLst/>
          </a:prstGeom>
          <a:noFill/>
          <a:ln/>
        </p:spPr>
        <p:txBody>
          <a:bodyPr wrap="square" lIns="0" tIns="0" rIns="0" bIns="0" rtlCol="0" anchor="ctr"/>
          <a:lstStyle/>
          <a:p>
            <a:pPr marL="0" indent="0" algn="ctr">
              <a:buNone/>
            </a:pPr>
            <a:r>
              <a:rPr lang="en-US" sz="2000" b="1" dirty="0">
                <a:solidFill>
                  <a:srgbClr val="C2185B"/>
                </a:solidFill>
                <a:latin typeface="Calibri" pitchFamily="34" charset="0"/>
                <a:ea typeface="Calibri" pitchFamily="34" charset="-122"/>
                <a:cs typeface="Calibri" pitchFamily="34" charset="-120"/>
              </a:rPr>
              <a:t>2 s</a:t>
            </a:r>
            <a:endParaRPr lang="en-US" sz="2000" dirty="0"/>
          </a:p>
        </p:txBody>
      </p:sp>
      <p:sp>
        <p:nvSpPr>
          <p:cNvPr id="58" name="Text 50"/>
          <p:cNvSpPr txBox="1"/>
          <p:nvPr/>
        </p:nvSpPr>
        <p:spPr>
          <a:xfrm>
            <a:off x="7635240" y="3977640"/>
            <a:ext cx="1005840" cy="548640"/>
          </a:xfrm>
          <a:prstGeom prst="rect">
            <a:avLst/>
          </a:prstGeom>
          <a:noFill/>
          <a:ln/>
        </p:spPr>
        <p:txBody>
          <a:bodyPr wrap="square" lIns="0" tIns="0" rIns="0" bIns="0" rtlCol="0" anchor="ctr"/>
          <a:lstStyle/>
          <a:p>
            <a:pPr marL="0" indent="0">
              <a:buNone/>
            </a:pPr>
            <a:r>
              <a:rPr lang="en-US" sz="950" dirty="0">
                <a:solidFill>
                  <a:srgbClr val="2A1A3A"/>
                </a:solidFill>
                <a:latin typeface="Calibri" pitchFamily="34" charset="0"/>
                <a:ea typeface="Calibri" pitchFamily="34" charset="-122"/>
                <a:cs typeface="Calibri" pitchFamily="34" charset="-120"/>
              </a:rPr>
              <a:t>long-press SOS</a:t>
            </a:r>
            <a:endParaRPr lang="en-US" sz="950" dirty="0"/>
          </a:p>
        </p:txBody>
      </p:sp>
      <p:sp>
        <p:nvSpPr>
          <p:cNvPr id="59" name="Text 51"/>
          <p:cNvSpPr txBox="1"/>
          <p:nvPr/>
        </p:nvSpPr>
        <p:spPr>
          <a:xfrm>
            <a:off x="457200" y="4590288"/>
            <a:ext cx="8229600" cy="228600"/>
          </a:xfrm>
          <a:prstGeom prst="rect">
            <a:avLst/>
          </a:prstGeom>
          <a:noFill/>
          <a:ln/>
        </p:spPr>
        <p:txBody>
          <a:bodyPr wrap="square" lIns="0" tIns="0" rIns="0" bIns="0" rtlCol="0" anchor="t"/>
          <a:lstStyle/>
          <a:p>
            <a:pPr marL="0" indent="0">
              <a:buNone/>
            </a:pPr>
            <a:r>
              <a:rPr lang="en-US" sz="850" i="1" dirty="0">
                <a:solidFill>
                  <a:srgbClr val="6B5B7B"/>
                </a:solidFill>
                <a:latin typeface="Calibri" pitchFamily="34" charset="0"/>
                <a:ea typeface="Calibri" pitchFamily="34" charset="-122"/>
                <a:cs typeface="Calibri" pitchFamily="34" charset="-120"/>
              </a:rPr>
              <a:t>Thresholds are tunable constants set by our own bench tests. No black-box AI. Planned optional 3rd signal: loud sound (MAX9814). SOS today: Telegram via hotspot + live GPS; final: GSM.</a:t>
            </a:r>
            <a:endParaRPr lang="en-US" sz="850" dirty="0"/>
          </a:p>
        </p:txBody>
      </p:sp>
      <p:sp>
        <p:nvSpPr>
          <p:cNvPr id="60" name="Text 52"/>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61" name="Text 53"/>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Working prototype: full loop on real hardware</a:t>
            </a:r>
            <a:endParaRPr lang="en-US" sz="2600" dirty="0"/>
          </a:p>
        </p:txBody>
      </p:sp>
      <p:sp>
        <p:nvSpPr>
          <p:cNvPr id="3" name="Shape 1"/>
          <p:cNvSpPr/>
          <p:nvPr/>
        </p:nvSpPr>
        <p:spPr>
          <a:xfrm>
            <a:off x="457200" y="868680"/>
            <a:ext cx="3017520" cy="274320"/>
          </a:xfrm>
          <a:prstGeom prst="roundRect">
            <a:avLst>
              <a:gd name="adj" fmla="val 50000"/>
            </a:avLst>
          </a:prstGeom>
          <a:solidFill>
            <a:srgbClr val="5E1B8E"/>
          </a:solidFill>
          <a:ln w="12700">
            <a:solidFill>
              <a:srgbClr val="5E1B8E"/>
            </a:solidFill>
            <a:prstDash val="solid"/>
          </a:ln>
        </p:spPr>
      </p:sp>
      <p:sp>
        <p:nvSpPr>
          <p:cNvPr id="4" name="Text 2"/>
          <p:cNvSpPr txBox="1"/>
          <p:nvPr/>
        </p:nvSpPr>
        <p:spPr>
          <a:xfrm>
            <a:off x="457200" y="868680"/>
            <a:ext cx="30175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WORKING PROTOTYPE</a:t>
            </a:r>
            <a:endParaRPr lang="en-US" sz="1050" dirty="0"/>
          </a:p>
        </p:txBody>
      </p:sp>
      <p:pic>
        <p:nvPicPr>
          <p:cNvPr id="5" name="Image 0" descr="SheShield breadboard prototype showing OLED states: system off, system on, motion readout, sensors and GPS module"/>
          <p:cNvPicPr>
            <a:picLocks noChangeAspect="1"/>
          </p:cNvPicPr>
          <p:nvPr/>
        </p:nvPicPr>
        <p:blipFill>
          <a:blip r:embed="rId3"/>
          <a:stretch>
            <a:fillRect/>
          </a:stretch>
        </p:blipFill>
        <p:spPr>
          <a:xfrm>
            <a:off x="812175" y="1261872"/>
            <a:ext cx="2307569" cy="1600000"/>
          </a:xfrm>
          <a:prstGeom prst="rect">
            <a:avLst/>
          </a:prstGeom>
          <a:effectLst>
            <a:outerShdw blurRad="76200" dist="25400" dir="5400000" algn="bl" rotWithShape="0">
              <a:srgbClr val="000000">
                <a:alpha val="12000"/>
              </a:srgbClr>
            </a:outerShdw>
          </a:effectLst>
        </p:spPr>
      </p:pic>
      <p:pic>
        <p:nvPicPr>
          <p:cNvPr id="6" name="Image 1" descr="SheShield OLED alert countdown, monitor screen and Telegram Guardian bot status message"/>
          <p:cNvPicPr>
            <a:picLocks noChangeAspect="1"/>
          </p:cNvPicPr>
          <p:nvPr/>
        </p:nvPicPr>
        <p:blipFill>
          <a:blip r:embed="rId4"/>
          <a:stretch>
            <a:fillRect/>
          </a:stretch>
        </p:blipFill>
        <p:spPr>
          <a:xfrm>
            <a:off x="795960" y="2961872"/>
            <a:ext cx="2340000" cy="1560000"/>
          </a:xfrm>
          <a:prstGeom prst="rect">
            <a:avLst/>
          </a:prstGeom>
          <a:effectLst>
            <a:outerShdw blurRad="76200" dist="25400" dir="5400000" algn="bl" rotWithShape="0">
              <a:srgbClr val="000000">
                <a:alpha val="12000"/>
              </a:srgbClr>
            </a:outerShdw>
          </a:effectLst>
        </p:spPr>
      </p:pic>
      <p:sp>
        <p:nvSpPr>
          <p:cNvPr id="7" name="Text 3"/>
          <p:cNvSpPr txBox="1"/>
          <p:nvPr/>
        </p:nvSpPr>
        <p:spPr>
          <a:xfrm>
            <a:off x="457200" y="4571872"/>
            <a:ext cx="3017520" cy="200000"/>
          </a:xfrm>
          <a:prstGeom prst="rect">
            <a:avLst/>
          </a:prstGeom>
          <a:noFill/>
          <a:ln/>
        </p:spPr>
        <p:txBody>
          <a:bodyPr wrap="square" lIns="0" tIns="0" rIns="0" bIns="0" rtlCol="0" anchor="t"/>
          <a:lstStyle/>
          <a:p>
            <a:pPr marL="0" indent="0">
              <a:buNone/>
            </a:pPr>
            <a:r>
              <a:rPr lang="en-US" sz="850" i="1" dirty="0">
                <a:solidFill>
                  <a:srgbClr val="6B5B7B"/>
                </a:solidFill>
                <a:latin typeface="Calibri" pitchFamily="34" charset="0"/>
                <a:ea typeface="Calibri" pitchFamily="34" charset="-122"/>
                <a:cs typeface="Calibri" pitchFamily="34" charset="-120"/>
              </a:rPr>
              <a:t>Prototype: OLED states, countdown, Telegram bot</a:t>
            </a:r>
            <a:endParaRPr lang="en-US" sz="850" dirty="0"/>
          </a:p>
        </p:txBody>
      </p:sp>
      <p:sp>
        <p:nvSpPr>
          <p:cNvPr id="8" name="Text 4"/>
          <p:cNvSpPr txBox="1"/>
          <p:nvPr/>
        </p:nvSpPr>
        <p:spPr>
          <a:xfrm>
            <a:off x="3703320" y="896112"/>
            <a:ext cx="4937760" cy="219456"/>
          </a:xfrm>
          <a:prstGeom prst="rect">
            <a:avLst/>
          </a:prstGeom>
          <a:noFill/>
          <a:ln/>
        </p:spPr>
        <p:txBody>
          <a:bodyPr wrap="square" lIns="0" tIns="0" rIns="0" bIns="0" rtlCol="0" anchor="t"/>
          <a:lstStyle/>
          <a:p>
            <a:pPr marL="0" indent="0">
              <a:buNone/>
            </a:pPr>
            <a:r>
              <a:rPr lang="en-US" sz="1050" b="1" dirty="0">
                <a:solidFill>
                  <a:srgbClr val="5E1B8E"/>
                </a:solidFill>
                <a:latin typeface="Calibri" pitchFamily="34" charset="0"/>
                <a:ea typeface="Calibri" pitchFamily="34" charset="-122"/>
                <a:cs typeface="Calibri" pitchFamily="34" charset="-120"/>
              </a:rPr>
              <a:t>FUNCTIONAL VERIFICATION: DETECTION TO ALERT</a:t>
            </a:r>
            <a:endParaRPr lang="en-US" sz="1050" dirty="0"/>
          </a:p>
        </p:txBody>
      </p:sp>
      <p:sp>
        <p:nvSpPr>
          <p:cNvPr id="9" name="Shape 5"/>
          <p:cNvSpPr/>
          <p:nvPr/>
        </p:nvSpPr>
        <p:spPr>
          <a:xfrm>
            <a:off x="3703320" y="1170432"/>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10" name="Image 2" descr="preencoded.png"/>
          <p:cNvPicPr>
            <a:picLocks noChangeAspect="1"/>
          </p:cNvPicPr>
          <p:nvPr/>
        </p:nvPicPr>
        <p:blipFill>
          <a:blip r:embed="rId5"/>
          <a:stretch>
            <a:fillRect/>
          </a:stretch>
        </p:blipFill>
        <p:spPr>
          <a:xfrm>
            <a:off x="3794760" y="1261872"/>
            <a:ext cx="182880" cy="182880"/>
          </a:xfrm>
          <a:prstGeom prst="rect">
            <a:avLst/>
          </a:prstGeom>
        </p:spPr>
      </p:pic>
      <p:sp>
        <p:nvSpPr>
          <p:cNvPr id="11" name="Text 6"/>
          <p:cNvSpPr txBox="1"/>
          <p:nvPr/>
        </p:nvSpPr>
        <p:spPr>
          <a:xfrm>
            <a:off x="4032504" y="1225296"/>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Heart-rate sensing</a:t>
            </a:r>
            <a:endParaRPr lang="en-US" sz="950" dirty="0"/>
          </a:p>
        </p:txBody>
      </p:sp>
      <p:sp>
        <p:nvSpPr>
          <p:cNvPr id="12" name="Text 7"/>
          <p:cNvSpPr txBox="1"/>
          <p:nvPr/>
        </p:nvSpPr>
        <p:spPr>
          <a:xfrm>
            <a:off x="4032504" y="1554480"/>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MAX30102</a:t>
            </a:r>
            <a:endParaRPr lang="en-US" sz="850" dirty="0"/>
          </a:p>
        </p:txBody>
      </p:sp>
      <p:sp>
        <p:nvSpPr>
          <p:cNvPr id="13" name="Shape 8"/>
          <p:cNvSpPr/>
          <p:nvPr/>
        </p:nvSpPr>
        <p:spPr>
          <a:xfrm>
            <a:off x="5349240" y="1170432"/>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14" name="Image 3" descr="preencoded.png"/>
          <p:cNvPicPr>
            <a:picLocks noChangeAspect="1"/>
          </p:cNvPicPr>
          <p:nvPr/>
        </p:nvPicPr>
        <p:blipFill>
          <a:blip r:embed="rId5"/>
          <a:stretch>
            <a:fillRect/>
          </a:stretch>
        </p:blipFill>
        <p:spPr>
          <a:xfrm>
            <a:off x="5440680" y="1261872"/>
            <a:ext cx="182880" cy="182880"/>
          </a:xfrm>
          <a:prstGeom prst="rect">
            <a:avLst/>
          </a:prstGeom>
        </p:spPr>
      </p:pic>
      <p:sp>
        <p:nvSpPr>
          <p:cNvPr id="15" name="Text 9"/>
          <p:cNvSpPr txBox="1"/>
          <p:nvPr/>
        </p:nvSpPr>
        <p:spPr>
          <a:xfrm>
            <a:off x="5678424" y="1225296"/>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Motion + rotation</a:t>
            </a:r>
            <a:endParaRPr lang="en-US" sz="950" dirty="0"/>
          </a:p>
        </p:txBody>
      </p:sp>
      <p:sp>
        <p:nvSpPr>
          <p:cNvPr id="16" name="Text 10"/>
          <p:cNvSpPr txBox="1"/>
          <p:nvPr/>
        </p:nvSpPr>
        <p:spPr>
          <a:xfrm>
            <a:off x="5678424" y="1554480"/>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MPU6050</a:t>
            </a:r>
            <a:endParaRPr lang="en-US" sz="850" dirty="0"/>
          </a:p>
        </p:txBody>
      </p:sp>
      <p:sp>
        <p:nvSpPr>
          <p:cNvPr id="17" name="Shape 11"/>
          <p:cNvSpPr/>
          <p:nvPr/>
        </p:nvSpPr>
        <p:spPr>
          <a:xfrm>
            <a:off x="6995160" y="1170432"/>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18" name="Image 4" descr="preencoded.png"/>
          <p:cNvPicPr>
            <a:picLocks noChangeAspect="1"/>
          </p:cNvPicPr>
          <p:nvPr/>
        </p:nvPicPr>
        <p:blipFill>
          <a:blip r:embed="rId5"/>
          <a:stretch>
            <a:fillRect/>
          </a:stretch>
        </p:blipFill>
        <p:spPr>
          <a:xfrm>
            <a:off x="7086600" y="1261872"/>
            <a:ext cx="182880" cy="182880"/>
          </a:xfrm>
          <a:prstGeom prst="rect">
            <a:avLst/>
          </a:prstGeom>
        </p:spPr>
      </p:pic>
      <p:sp>
        <p:nvSpPr>
          <p:cNvPr id="19" name="Text 12"/>
          <p:cNvSpPr txBox="1"/>
          <p:nvPr/>
        </p:nvSpPr>
        <p:spPr>
          <a:xfrm>
            <a:off x="7324344" y="1225296"/>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Confidence score</a:t>
            </a:r>
            <a:endParaRPr lang="en-US" sz="950" dirty="0"/>
          </a:p>
        </p:txBody>
      </p:sp>
      <p:sp>
        <p:nvSpPr>
          <p:cNvPr id="20" name="Text 13"/>
          <p:cNvSpPr txBox="1"/>
          <p:nvPr/>
        </p:nvSpPr>
        <p:spPr>
          <a:xfrm>
            <a:off x="7324344" y="1554480"/>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0–100, on the ESP32</a:t>
            </a:r>
            <a:endParaRPr lang="en-US" sz="850" dirty="0"/>
          </a:p>
        </p:txBody>
      </p:sp>
      <p:sp>
        <p:nvSpPr>
          <p:cNvPr id="21" name="Shape 14"/>
          <p:cNvSpPr/>
          <p:nvPr/>
        </p:nvSpPr>
        <p:spPr>
          <a:xfrm>
            <a:off x="3703320" y="1920240"/>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22" name="Image 5" descr="preencoded.png"/>
          <p:cNvPicPr>
            <a:picLocks noChangeAspect="1"/>
          </p:cNvPicPr>
          <p:nvPr/>
        </p:nvPicPr>
        <p:blipFill>
          <a:blip r:embed="rId5"/>
          <a:stretch>
            <a:fillRect/>
          </a:stretch>
        </p:blipFill>
        <p:spPr>
          <a:xfrm>
            <a:off x="3794760" y="2011680"/>
            <a:ext cx="182880" cy="182880"/>
          </a:xfrm>
          <a:prstGeom prst="rect">
            <a:avLst/>
          </a:prstGeom>
        </p:spPr>
      </p:pic>
      <p:sp>
        <p:nvSpPr>
          <p:cNvPr id="23" name="Text 15"/>
          <p:cNvSpPr txBox="1"/>
          <p:nvPr/>
        </p:nvSpPr>
        <p:spPr>
          <a:xfrm>
            <a:off x="4032504" y="1975104"/>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Automatic trigger</a:t>
            </a:r>
            <a:endParaRPr lang="en-US" sz="950" dirty="0"/>
          </a:p>
        </p:txBody>
      </p:sp>
      <p:sp>
        <p:nvSpPr>
          <p:cNvPr id="24" name="Text 16"/>
          <p:cNvSpPr txBox="1"/>
          <p:nvPr/>
        </p:nvSpPr>
        <p:spPr>
          <a:xfrm>
            <a:off x="4032504" y="2304288"/>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score ≥ 70</a:t>
            </a:r>
            <a:endParaRPr lang="en-US" sz="850" dirty="0"/>
          </a:p>
        </p:txBody>
      </p:sp>
      <p:sp>
        <p:nvSpPr>
          <p:cNvPr id="25" name="Shape 17"/>
          <p:cNvSpPr/>
          <p:nvPr/>
        </p:nvSpPr>
        <p:spPr>
          <a:xfrm>
            <a:off x="5349240" y="1920240"/>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26" name="Image 6" descr="preencoded.png"/>
          <p:cNvPicPr>
            <a:picLocks noChangeAspect="1"/>
          </p:cNvPicPr>
          <p:nvPr/>
        </p:nvPicPr>
        <p:blipFill>
          <a:blip r:embed="rId5"/>
          <a:stretch>
            <a:fillRect/>
          </a:stretch>
        </p:blipFill>
        <p:spPr>
          <a:xfrm>
            <a:off x="5440680" y="2011680"/>
            <a:ext cx="182880" cy="182880"/>
          </a:xfrm>
          <a:prstGeom prst="rect">
            <a:avLst/>
          </a:prstGeom>
        </p:spPr>
      </p:pic>
      <p:sp>
        <p:nvSpPr>
          <p:cNvPr id="27" name="Text 18"/>
          <p:cNvSpPr txBox="1"/>
          <p:nvPr/>
        </p:nvSpPr>
        <p:spPr>
          <a:xfrm>
            <a:off x="5678424" y="1975104"/>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8-second cancel window</a:t>
            </a:r>
            <a:endParaRPr lang="en-US" sz="950" dirty="0"/>
          </a:p>
        </p:txBody>
      </p:sp>
      <p:sp>
        <p:nvSpPr>
          <p:cNvPr id="28" name="Text 19"/>
          <p:cNvSpPr txBox="1"/>
          <p:nvPr/>
        </p:nvSpPr>
        <p:spPr>
          <a:xfrm>
            <a:off x="5678424" y="2304288"/>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button press</a:t>
            </a:r>
            <a:endParaRPr lang="en-US" sz="850" dirty="0"/>
          </a:p>
        </p:txBody>
      </p:sp>
      <p:sp>
        <p:nvSpPr>
          <p:cNvPr id="29" name="Shape 20"/>
          <p:cNvSpPr/>
          <p:nvPr/>
        </p:nvSpPr>
        <p:spPr>
          <a:xfrm>
            <a:off x="6995160" y="1920240"/>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30" name="Image 7" descr="preencoded.png"/>
          <p:cNvPicPr>
            <a:picLocks noChangeAspect="1"/>
          </p:cNvPicPr>
          <p:nvPr/>
        </p:nvPicPr>
        <p:blipFill>
          <a:blip r:embed="rId5"/>
          <a:stretch>
            <a:fillRect/>
          </a:stretch>
        </p:blipFill>
        <p:spPr>
          <a:xfrm>
            <a:off x="7086600" y="2011680"/>
            <a:ext cx="182880" cy="182880"/>
          </a:xfrm>
          <a:prstGeom prst="rect">
            <a:avLst/>
          </a:prstGeom>
        </p:spPr>
      </p:pic>
      <p:sp>
        <p:nvSpPr>
          <p:cNvPr id="31" name="Text 21"/>
          <p:cNvSpPr txBox="1"/>
          <p:nvPr/>
        </p:nvSpPr>
        <p:spPr>
          <a:xfrm>
            <a:off x="7324344" y="1975104"/>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Telegram SOS alert</a:t>
            </a:r>
            <a:endParaRPr lang="en-US" sz="950" dirty="0"/>
          </a:p>
        </p:txBody>
      </p:sp>
      <p:sp>
        <p:nvSpPr>
          <p:cNvPr id="32" name="Text 22"/>
          <p:cNvSpPr txBox="1"/>
          <p:nvPr/>
        </p:nvSpPr>
        <p:spPr>
          <a:xfrm>
            <a:off x="7324344" y="2304288"/>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hotspot · live GPS location</a:t>
            </a:r>
            <a:endParaRPr lang="en-US" sz="850" dirty="0"/>
          </a:p>
        </p:txBody>
      </p:sp>
      <p:sp>
        <p:nvSpPr>
          <p:cNvPr id="33" name="Shape 23"/>
          <p:cNvSpPr/>
          <p:nvPr/>
        </p:nvSpPr>
        <p:spPr>
          <a:xfrm>
            <a:off x="3703320" y="2670048"/>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34" name="Image 8" descr="preencoded.png"/>
          <p:cNvPicPr>
            <a:picLocks noChangeAspect="1"/>
          </p:cNvPicPr>
          <p:nvPr/>
        </p:nvPicPr>
        <p:blipFill>
          <a:blip r:embed="rId5"/>
          <a:stretch>
            <a:fillRect/>
          </a:stretch>
        </p:blipFill>
        <p:spPr>
          <a:xfrm>
            <a:off x="3794760" y="2761488"/>
            <a:ext cx="182880" cy="182880"/>
          </a:xfrm>
          <a:prstGeom prst="rect">
            <a:avLst/>
          </a:prstGeom>
        </p:spPr>
      </p:pic>
      <p:sp>
        <p:nvSpPr>
          <p:cNvPr id="35" name="Text 24"/>
          <p:cNvSpPr txBox="1"/>
          <p:nvPr/>
        </p:nvSpPr>
        <p:spPr>
          <a:xfrm>
            <a:off x="4032504" y="2724912"/>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2-second long-press SOS</a:t>
            </a:r>
            <a:endParaRPr lang="en-US" sz="950" dirty="0"/>
          </a:p>
        </p:txBody>
      </p:sp>
      <p:sp>
        <p:nvSpPr>
          <p:cNvPr id="36" name="Text 25"/>
          <p:cNvSpPr txBox="1"/>
          <p:nvPr/>
        </p:nvSpPr>
        <p:spPr>
          <a:xfrm>
            <a:off x="4032504" y="3054096"/>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manual, instant</a:t>
            </a:r>
            <a:endParaRPr lang="en-US" sz="850" dirty="0"/>
          </a:p>
        </p:txBody>
      </p:sp>
      <p:sp>
        <p:nvSpPr>
          <p:cNvPr id="37" name="Shape 26"/>
          <p:cNvSpPr/>
          <p:nvPr/>
        </p:nvSpPr>
        <p:spPr>
          <a:xfrm>
            <a:off x="5349240" y="2670048"/>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38" name="Image 9" descr="preencoded.png"/>
          <p:cNvPicPr>
            <a:picLocks noChangeAspect="1"/>
          </p:cNvPicPr>
          <p:nvPr/>
        </p:nvPicPr>
        <p:blipFill>
          <a:blip r:embed="rId5"/>
          <a:stretch>
            <a:fillRect/>
          </a:stretch>
        </p:blipFill>
        <p:spPr>
          <a:xfrm>
            <a:off x="5440680" y="2761488"/>
            <a:ext cx="182880" cy="182880"/>
          </a:xfrm>
          <a:prstGeom prst="rect">
            <a:avLst/>
          </a:prstGeom>
        </p:spPr>
      </p:pic>
      <p:sp>
        <p:nvSpPr>
          <p:cNvPr id="39" name="Text 27"/>
          <p:cNvSpPr txBox="1"/>
          <p:nvPr/>
        </p:nvSpPr>
        <p:spPr>
          <a:xfrm>
            <a:off x="5678424" y="2724912"/>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OLED, buzzer, vibration</a:t>
            </a:r>
            <a:endParaRPr lang="en-US" sz="950" dirty="0"/>
          </a:p>
        </p:txBody>
      </p:sp>
      <p:sp>
        <p:nvSpPr>
          <p:cNvPr id="40" name="Text 28"/>
          <p:cNvSpPr txBox="1"/>
          <p:nvPr/>
        </p:nvSpPr>
        <p:spPr>
          <a:xfrm>
            <a:off x="5678424" y="3054096"/>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live feedback</a:t>
            </a:r>
            <a:endParaRPr lang="en-US" sz="850" dirty="0"/>
          </a:p>
        </p:txBody>
      </p:sp>
      <p:sp>
        <p:nvSpPr>
          <p:cNvPr id="41" name="Shape 29"/>
          <p:cNvSpPr/>
          <p:nvPr/>
        </p:nvSpPr>
        <p:spPr>
          <a:xfrm>
            <a:off x="6995160" y="2670048"/>
            <a:ext cx="1554480" cy="658368"/>
          </a:xfrm>
          <a:prstGeom prst="roundRect">
            <a:avLst>
              <a:gd name="adj" fmla="val 1111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42" name="Image 10" descr="preencoded.png"/>
          <p:cNvPicPr>
            <a:picLocks noChangeAspect="1"/>
          </p:cNvPicPr>
          <p:nvPr/>
        </p:nvPicPr>
        <p:blipFill>
          <a:blip r:embed="rId5"/>
          <a:stretch>
            <a:fillRect/>
          </a:stretch>
        </p:blipFill>
        <p:spPr>
          <a:xfrm>
            <a:off x="7086600" y="2761488"/>
            <a:ext cx="182880" cy="182880"/>
          </a:xfrm>
          <a:prstGeom prst="rect">
            <a:avLst/>
          </a:prstGeom>
        </p:spPr>
      </p:pic>
      <p:sp>
        <p:nvSpPr>
          <p:cNvPr id="43" name="Text 30"/>
          <p:cNvSpPr txBox="1"/>
          <p:nvPr/>
        </p:nvSpPr>
        <p:spPr>
          <a:xfrm>
            <a:off x="7324344" y="2724912"/>
            <a:ext cx="1188720" cy="310896"/>
          </a:xfrm>
          <a:prstGeom prst="rect">
            <a:avLst/>
          </a:prstGeom>
          <a:noFill/>
          <a:ln/>
        </p:spPr>
        <p:txBody>
          <a:bodyPr wrap="square" lIns="0" tIns="0" rIns="0" bIns="0" rtlCol="0" anchor="ctr"/>
          <a:lstStyle/>
          <a:p>
            <a:pPr marL="0" indent="0">
              <a:buNone/>
            </a:pPr>
            <a:r>
              <a:rPr lang="en-US" sz="950" b="1" dirty="0">
                <a:solidFill>
                  <a:srgbClr val="5E1B8E"/>
                </a:solidFill>
                <a:latin typeface="Calibri" pitchFamily="34" charset="0"/>
                <a:ea typeface="Calibri" pitchFamily="34" charset="-122"/>
                <a:cs typeface="Calibri" pitchFamily="34" charset="-120"/>
              </a:rPr>
              <a:t>False-alarm control</a:t>
            </a:r>
            <a:endParaRPr lang="en-US" sz="950" dirty="0"/>
          </a:p>
        </p:txBody>
      </p:sp>
      <p:sp>
        <p:nvSpPr>
          <p:cNvPr id="44" name="Text 31"/>
          <p:cNvSpPr txBox="1"/>
          <p:nvPr/>
        </p:nvSpPr>
        <p:spPr>
          <a:xfrm>
            <a:off x="7324344" y="3054096"/>
            <a:ext cx="1188720" cy="237744"/>
          </a:xfrm>
          <a:prstGeom prst="rect">
            <a:avLst/>
          </a:prstGeom>
          <a:noFill/>
          <a:ln/>
        </p:spPr>
        <p:txBody>
          <a:bodyPr wrap="square" lIns="0" tIns="0" rIns="0" bIns="0" rtlCol="0" anchor="ctr"/>
          <a:lstStyle/>
          <a:p>
            <a:pPr marL="0" indent="0">
              <a:buNone/>
            </a:pPr>
            <a:r>
              <a:rPr lang="en-US" sz="850" dirty="0">
                <a:solidFill>
                  <a:srgbClr val="6B5B7B"/>
                </a:solidFill>
                <a:latin typeface="Calibri" pitchFamily="34" charset="0"/>
                <a:ea typeface="Calibri" pitchFamily="34" charset="-122"/>
                <a:cs typeface="Calibri" pitchFamily="34" charset="-120"/>
              </a:rPr>
              <a:t>motion alone: no alert</a:t>
            </a:r>
            <a:endParaRPr lang="en-US" sz="850" dirty="0"/>
          </a:p>
        </p:txBody>
      </p:sp>
      <p:sp>
        <p:nvSpPr>
          <p:cNvPr id="45" name="Shape 32"/>
          <p:cNvSpPr/>
          <p:nvPr/>
        </p:nvSpPr>
        <p:spPr>
          <a:xfrm>
            <a:off x="3703320" y="3474720"/>
            <a:ext cx="4937760" cy="502920"/>
          </a:xfrm>
          <a:prstGeom prst="roundRect">
            <a:avLst>
              <a:gd name="adj" fmla="val 14545"/>
            </a:avLst>
          </a:prstGeom>
          <a:solidFill>
            <a:srgbClr val="5E1B8E"/>
          </a:solidFill>
          <a:ln w="12700">
            <a:solidFill>
              <a:srgbClr val="5E1B8E"/>
            </a:solidFill>
            <a:prstDash val="solid"/>
          </a:ln>
        </p:spPr>
      </p:sp>
      <p:sp>
        <p:nvSpPr>
          <p:cNvPr id="46" name="Text 33"/>
          <p:cNvSpPr txBox="1"/>
          <p:nvPr/>
        </p:nvSpPr>
        <p:spPr>
          <a:xfrm>
            <a:off x="3840480" y="3474720"/>
            <a:ext cx="4663440" cy="502920"/>
          </a:xfrm>
          <a:prstGeom prst="rect">
            <a:avLst/>
          </a:prstGeom>
          <a:noFill/>
          <a:ln/>
        </p:spPr>
        <p:txBody>
          <a:bodyPr wrap="square" lIns="0" tIns="0" rIns="0" bIns="0" rtlCol="0" anchor="ctr"/>
          <a:lstStyle/>
          <a:p>
            <a:pPr marL="0" indent="0">
              <a:buNone/>
            </a:pPr>
            <a:r>
              <a:rPr lang="en-US" sz="850" b="1" dirty="0">
                <a:solidFill>
                  <a:srgbClr val="F4B6D2"/>
                </a:solidFill>
                <a:latin typeface="Calibri" pitchFamily="34" charset="0"/>
                <a:ea typeface="Calibri" pitchFamily="34" charset="-122"/>
                <a:cs typeface="Calibri" pitchFamily="34" charset="-120"/>
              </a:rPr>
              <a:t>WHAT THE PROTOTYPE PROVES  </a:t>
            </a:r>
            <a:endParaRPr lang="en-US" sz="1200" dirty="0"/>
          </a:p>
          <a:p>
            <a:pPr marL="0" indent="0">
              <a:buNone/>
            </a:pPr>
            <a:r>
              <a:rPr lang="en-US" sz="1050" b="1" dirty="0">
                <a:solidFill>
                  <a:srgbClr val="FFFFFF"/>
                </a:solidFill>
                <a:latin typeface="Calibri" pitchFamily="34" charset="0"/>
                <a:ea typeface="Calibri" pitchFamily="34" charset="-122"/>
                <a:cs typeface="Calibri" pitchFamily="34" charset="-120"/>
              </a:rPr>
              <a:t>Sense → Score → Trigger → Cancel / Confirm → SOS runs end to end on hardware.</a:t>
            </a:r>
            <a:endParaRPr lang="en-US" sz="1200" dirty="0"/>
          </a:p>
        </p:txBody>
      </p:sp>
      <p:sp>
        <p:nvSpPr>
          <p:cNvPr id="47" name="Shape 34"/>
          <p:cNvSpPr/>
          <p:nvPr/>
        </p:nvSpPr>
        <p:spPr>
          <a:xfrm>
            <a:off x="3703320" y="4069080"/>
            <a:ext cx="4937760" cy="621792"/>
          </a:xfrm>
          <a:prstGeom prst="roundRect">
            <a:avLst>
              <a:gd name="adj" fmla="val 11765"/>
            </a:avLst>
          </a:prstGeom>
          <a:solidFill>
            <a:srgbClr val="F1E6F9"/>
          </a:solidFill>
          <a:ln w="9525">
            <a:solidFill>
              <a:srgbClr val="D9C3EA"/>
            </a:solidFill>
            <a:prstDash val="solid"/>
          </a:ln>
          <a:effectLst>
            <a:outerShdw blurRad="76200" dist="25400" dir="5400000" algn="bl" rotWithShape="0">
              <a:srgbClr val="000000">
                <a:alpha val="12000"/>
              </a:srgbClr>
            </a:outerShdw>
          </a:effectLst>
        </p:spPr>
      </p:sp>
      <p:sp>
        <p:nvSpPr>
          <p:cNvPr id="48" name="Text 35"/>
          <p:cNvSpPr txBox="1"/>
          <p:nvPr/>
        </p:nvSpPr>
        <p:spPr>
          <a:xfrm>
            <a:off x="3840480" y="4069080"/>
            <a:ext cx="4663440" cy="621792"/>
          </a:xfrm>
          <a:prstGeom prst="rect">
            <a:avLst/>
          </a:prstGeom>
          <a:noFill/>
          <a:ln/>
        </p:spPr>
        <p:txBody>
          <a:bodyPr wrap="square" lIns="0" tIns="0" rIns="0" bIns="0" rtlCol="0" anchor="ctr"/>
          <a:lstStyle/>
          <a:p>
            <a:pPr marL="0" indent="0">
              <a:buNone/>
            </a:pPr>
            <a:r>
              <a:rPr lang="en-US" sz="950" b="1" dirty="0">
                <a:solidFill>
                  <a:srgbClr val="C2185B"/>
                </a:solidFill>
                <a:latin typeface="Calibri" pitchFamily="34" charset="0"/>
                <a:ea typeface="Calibri" pitchFamily="34" charset="-122"/>
                <a:cs typeface="Calibri" pitchFamily="34" charset="-120"/>
              </a:rPr>
              <a:t>Honest scope  </a:t>
            </a:r>
            <a:r>
              <a:rPr lang="en-US" sz="950" dirty="0">
                <a:solidFill>
                  <a:srgbClr val="2A1A3A"/>
                </a:solidFill>
                <a:latin typeface="Calibri" pitchFamily="34" charset="0"/>
                <a:ea typeface="Calibri" pitchFamily="34" charset="-122"/>
                <a:cs typeface="Calibri" pitchFamily="34" charset="-120"/>
              </a:rPr>
              <a:t>Breadboard demo by our team, not a clinical or field study. Alert carries live GPS location (NEO-6M); next: GSM, wrist tuning. Every step is in our video.</a:t>
            </a:r>
            <a:endParaRPr lang="en-US" sz="950" dirty="0"/>
          </a:p>
        </p:txBody>
      </p:sp>
      <p:sp>
        <p:nvSpPr>
          <p:cNvPr id="49" name="Text 36"/>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50" name="Text 37"/>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Innovation: two-signal score + human cancel window</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896112"/>
          <a:ext cx="8229600" cy="1828800"/>
        </p:xfrm>
        <a:graphic>
          <a:graphicData uri="http://schemas.openxmlformats.org/drawingml/2006/table">
            <a:tbl>
              <a:tblPr/>
              <a:tblGrid>
                <a:gridCol w="17373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6576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Typical products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Panic-button pendants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Phone SOS apps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Shake / always-on alerts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SheShield</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C2185B"/>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Needs a conscious press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Yes (unlock + tap)</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Sometimes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No (manual option kept)</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C2185B"/>
                    </a:solidFill>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Needs her phone</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Often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Often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Final: no. Prototype: hotspot</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C2185B"/>
                    </a:solidFill>
                  </a:tcPr>
                </a:tc>
                <a:extLst>
                  <a:ext uri="{0D108BD9-81ED-4DB2-BD59-A6C34878D82A}">
                    <a16:rowId xmlns:a16="http://schemas.microsoft.com/office/drawing/2014/main" val="10002"/>
                  </a:ext>
                </a:extLst>
              </a:tr>
              <a:tr h="365760">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False-alarm control</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Score + 8 s cancel window</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C2185B"/>
                    </a:solidFill>
                  </a:tcPr>
                </a:tc>
                <a:extLst>
                  <a:ext uri="{0D108BD9-81ED-4DB2-BD59-A6C34878D82A}">
                    <a16:rowId xmlns:a16="http://schemas.microsoft.com/office/drawing/2014/main" val="10003"/>
                  </a:ext>
                </a:extLst>
              </a:tr>
              <a:tr h="365760">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Explainable logic</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Not applicable</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Not applicable</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Rarely</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Yes, rule-based</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C2185B"/>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457200" y="2761488"/>
            <a:ext cx="8229600" cy="182880"/>
          </a:xfrm>
          <a:prstGeom prst="rect">
            <a:avLst/>
          </a:prstGeom>
          <a:noFill/>
          <a:ln/>
        </p:spPr>
        <p:txBody>
          <a:bodyPr wrap="square" lIns="0" tIns="0" rIns="0" bIns="0" rtlCol="0" anchor="t"/>
          <a:lstStyle/>
          <a:p>
            <a:pPr marL="0" indent="0">
              <a:buNone/>
            </a:pPr>
            <a:r>
              <a:rPr lang="en-US" sz="900" i="1" dirty="0">
                <a:solidFill>
                  <a:srgbClr val="6B5B7B"/>
                </a:solidFill>
                <a:latin typeface="Calibri" pitchFamily="34" charset="0"/>
                <a:ea typeface="Calibri" pitchFamily="34" charset="-122"/>
                <a:cs typeface="Calibri" pitchFamily="34" charset="-120"/>
              </a:rPr>
              <a:t>Columns describe typical product categories, not specific brands.</a:t>
            </a:r>
            <a:endParaRPr lang="en-US" sz="900" dirty="0"/>
          </a:p>
        </p:txBody>
      </p:sp>
      <p:sp>
        <p:nvSpPr>
          <p:cNvPr id="5" name="Shape 2"/>
          <p:cNvSpPr/>
          <p:nvPr/>
        </p:nvSpPr>
        <p:spPr>
          <a:xfrm>
            <a:off x="457200" y="3035808"/>
            <a:ext cx="8229600" cy="1645920"/>
          </a:xfrm>
          <a:prstGeom prst="roundRect">
            <a:avLst>
              <a:gd name="adj" fmla="val 4444"/>
            </a:avLst>
          </a:prstGeom>
          <a:solidFill>
            <a:srgbClr val="5E1B8E"/>
          </a:solidFill>
          <a:ln w="12700">
            <a:solidFill>
              <a:srgbClr val="5E1B8E"/>
            </a:solidFill>
            <a:prstDash val="solid"/>
          </a:ln>
        </p:spPr>
      </p:sp>
      <p:sp>
        <p:nvSpPr>
          <p:cNvPr id="6" name="Text 3"/>
          <p:cNvSpPr txBox="1"/>
          <p:nvPr/>
        </p:nvSpPr>
        <p:spPr>
          <a:xfrm>
            <a:off x="685800" y="3108960"/>
            <a:ext cx="7315200" cy="228600"/>
          </a:xfrm>
          <a:prstGeom prst="rect">
            <a:avLst/>
          </a:prstGeom>
          <a:noFill/>
          <a:ln/>
        </p:spPr>
        <p:txBody>
          <a:bodyPr wrap="square" lIns="0" tIns="0" rIns="0" bIns="0" rtlCol="0" anchor="t"/>
          <a:lstStyle/>
          <a:p>
            <a:pPr marL="0" indent="0">
              <a:buNone/>
            </a:pPr>
            <a:r>
              <a:rPr lang="en-US" sz="1050" b="1" dirty="0">
                <a:solidFill>
                  <a:srgbClr val="F4B6D2"/>
                </a:solidFill>
                <a:latin typeface="Calibri" pitchFamily="34" charset="0"/>
                <a:ea typeface="Calibri" pitchFamily="34" charset="-122"/>
                <a:cs typeface="Calibri" pitchFamily="34" charset="-120"/>
              </a:rPr>
              <a:t>SINGLE MOST NOVEL ELEMENT</a:t>
            </a:r>
            <a:endParaRPr lang="en-US" sz="1050" dirty="0"/>
          </a:p>
        </p:txBody>
      </p:sp>
      <p:sp>
        <p:nvSpPr>
          <p:cNvPr id="7" name="Shape 4"/>
          <p:cNvSpPr/>
          <p:nvPr/>
        </p:nvSpPr>
        <p:spPr>
          <a:xfrm>
            <a:off x="685800" y="3401568"/>
            <a:ext cx="2194560" cy="457200"/>
          </a:xfrm>
          <a:prstGeom prst="roundRect">
            <a:avLst>
              <a:gd name="adj" fmla="val 16000"/>
            </a:avLst>
          </a:prstGeom>
          <a:solidFill>
            <a:srgbClr val="FFFFFF"/>
          </a:solidFill>
          <a:ln w="12700">
            <a:solidFill>
              <a:srgbClr val="FFFFFF"/>
            </a:solidFill>
            <a:prstDash val="solid"/>
          </a:ln>
        </p:spPr>
      </p:sp>
      <p:sp>
        <p:nvSpPr>
          <p:cNvPr id="3" name="Text 5"/>
          <p:cNvSpPr txBox="1"/>
          <p:nvPr/>
        </p:nvSpPr>
        <p:spPr>
          <a:xfrm>
            <a:off x="685800" y="3401568"/>
            <a:ext cx="2194560" cy="457200"/>
          </a:xfrm>
          <a:prstGeom prst="rect">
            <a:avLst/>
          </a:prstGeom>
          <a:noFill/>
          <a:ln/>
        </p:spPr>
        <p:txBody>
          <a:bodyPr wrap="square" lIns="0" tIns="0" rIns="0" bIns="0" rtlCol="0" anchor="ctr"/>
          <a:lstStyle/>
          <a:p>
            <a:pPr marL="0" indent="0" algn="ctr">
              <a:buNone/>
            </a:pPr>
            <a:r>
              <a:rPr lang="en-US" sz="1050" b="1" dirty="0">
                <a:solidFill>
                  <a:srgbClr val="5E1B8E"/>
                </a:solidFill>
                <a:latin typeface="Calibri" pitchFamily="34" charset="0"/>
                <a:ea typeface="Calibri" pitchFamily="34" charset="-122"/>
                <a:cs typeface="Calibri" pitchFamily="34" charset="-120"/>
              </a:rPr>
              <a:t>Confidence-scored multi-signal trigger</a:t>
            </a:r>
            <a:endParaRPr lang="en-US" sz="1050" dirty="0"/>
          </a:p>
        </p:txBody>
      </p:sp>
      <p:sp>
        <p:nvSpPr>
          <p:cNvPr id="9" name="Text 6"/>
          <p:cNvSpPr txBox="1"/>
          <p:nvPr/>
        </p:nvSpPr>
        <p:spPr>
          <a:xfrm>
            <a:off x="2880360" y="3401568"/>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3337560" y="3401568"/>
            <a:ext cx="2194560" cy="457200"/>
          </a:xfrm>
          <a:prstGeom prst="roundRect">
            <a:avLst>
              <a:gd name="adj" fmla="val 16000"/>
            </a:avLst>
          </a:prstGeom>
          <a:solidFill>
            <a:srgbClr val="FFFFFF"/>
          </a:solidFill>
          <a:ln w="12700">
            <a:solidFill>
              <a:srgbClr val="FFFFFF"/>
            </a:solidFill>
            <a:prstDash val="solid"/>
          </a:ln>
        </p:spPr>
      </p:sp>
      <p:sp>
        <p:nvSpPr>
          <p:cNvPr id="11" name="Text 8"/>
          <p:cNvSpPr txBox="1"/>
          <p:nvPr/>
        </p:nvSpPr>
        <p:spPr>
          <a:xfrm>
            <a:off x="3337560" y="3401568"/>
            <a:ext cx="2194560" cy="457200"/>
          </a:xfrm>
          <a:prstGeom prst="rect">
            <a:avLst/>
          </a:prstGeom>
          <a:noFill/>
          <a:ln/>
        </p:spPr>
        <p:txBody>
          <a:bodyPr wrap="square" lIns="0" tIns="0" rIns="0" bIns="0" rtlCol="0" anchor="ctr"/>
          <a:lstStyle/>
          <a:p>
            <a:pPr marL="0" indent="0" algn="ctr">
              <a:buNone/>
            </a:pPr>
            <a:r>
              <a:rPr lang="en-US" sz="1050" b="1" dirty="0">
                <a:solidFill>
                  <a:srgbClr val="5E1B8E"/>
                </a:solidFill>
                <a:latin typeface="Calibri" pitchFamily="34" charset="0"/>
                <a:ea typeface="Calibri" pitchFamily="34" charset="-122"/>
                <a:cs typeface="Calibri" pitchFamily="34" charset="-120"/>
              </a:rPr>
              <a:t>8-second human cancel window</a:t>
            </a:r>
            <a:endParaRPr lang="en-US" sz="1050" dirty="0"/>
          </a:p>
        </p:txBody>
      </p:sp>
      <p:sp>
        <p:nvSpPr>
          <p:cNvPr id="12" name="Text 9"/>
          <p:cNvSpPr txBox="1"/>
          <p:nvPr/>
        </p:nvSpPr>
        <p:spPr>
          <a:xfrm>
            <a:off x="5532120" y="3401568"/>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Shape 10"/>
          <p:cNvSpPr/>
          <p:nvPr/>
        </p:nvSpPr>
        <p:spPr>
          <a:xfrm>
            <a:off x="5989320" y="3401568"/>
            <a:ext cx="2194560" cy="457200"/>
          </a:xfrm>
          <a:prstGeom prst="roundRect">
            <a:avLst>
              <a:gd name="adj" fmla="val 16000"/>
            </a:avLst>
          </a:prstGeom>
          <a:solidFill>
            <a:srgbClr val="FFFFFF"/>
          </a:solidFill>
          <a:ln w="12700">
            <a:solidFill>
              <a:srgbClr val="FFFFFF"/>
            </a:solidFill>
            <a:prstDash val="solid"/>
          </a:ln>
        </p:spPr>
      </p:sp>
      <p:sp>
        <p:nvSpPr>
          <p:cNvPr id="14" name="Text 11"/>
          <p:cNvSpPr txBox="1"/>
          <p:nvPr/>
        </p:nvSpPr>
        <p:spPr>
          <a:xfrm>
            <a:off x="5989320" y="3401568"/>
            <a:ext cx="2194560" cy="457200"/>
          </a:xfrm>
          <a:prstGeom prst="rect">
            <a:avLst/>
          </a:prstGeom>
          <a:noFill/>
          <a:ln/>
        </p:spPr>
        <p:txBody>
          <a:bodyPr wrap="square" lIns="0" tIns="0" rIns="0" bIns="0" rtlCol="0" anchor="ctr"/>
          <a:lstStyle/>
          <a:p>
            <a:pPr marL="0" indent="0" algn="ctr">
              <a:buNone/>
            </a:pPr>
            <a:r>
              <a:rPr lang="en-US" sz="1050" b="1" dirty="0">
                <a:solidFill>
                  <a:srgbClr val="5E1B8E"/>
                </a:solidFill>
                <a:latin typeface="Calibri" pitchFamily="34" charset="0"/>
                <a:ea typeface="Calibri" pitchFamily="34" charset="-122"/>
                <a:cs typeface="Calibri" pitchFamily="34" charset="-120"/>
              </a:rPr>
              <a:t>Phone-free GSM SOS (final product)</a:t>
            </a:r>
            <a:endParaRPr lang="en-US" sz="1050" dirty="0"/>
          </a:p>
        </p:txBody>
      </p:sp>
      <p:sp>
        <p:nvSpPr>
          <p:cNvPr id="15" name="Text 12"/>
          <p:cNvSpPr txBox="1"/>
          <p:nvPr/>
        </p:nvSpPr>
        <p:spPr>
          <a:xfrm>
            <a:off x="685800" y="3950208"/>
            <a:ext cx="77724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Together they act when she cannot press a button, and keep false alarms low so contacts keep responding.</a:t>
            </a:r>
            <a:endParaRPr lang="en-US" sz="1200" dirty="0"/>
          </a:p>
        </p:txBody>
      </p:sp>
      <p:sp>
        <p:nvSpPr>
          <p:cNvPr id="16" name="Text 13"/>
          <p:cNvSpPr txBox="1"/>
          <p:nvPr/>
        </p:nvSpPr>
        <p:spPr>
          <a:xfrm>
            <a:off x="685800" y="4251960"/>
            <a:ext cx="7772400" cy="365760"/>
          </a:xfrm>
          <a:prstGeom prst="rect">
            <a:avLst/>
          </a:prstGeom>
          <a:noFill/>
          <a:ln/>
        </p:spPr>
        <p:txBody>
          <a:bodyPr wrap="square" lIns="0" tIns="0" rIns="0" bIns="0" rtlCol="0" anchor="ctr"/>
          <a:lstStyle/>
          <a:p>
            <a:pPr marL="0" indent="0">
              <a:buNone/>
            </a:pPr>
            <a:r>
              <a:rPr lang="en-US" sz="1000" i="1" dirty="0">
                <a:solidFill>
                  <a:srgbClr val="EAD6F6"/>
                </a:solidFill>
                <a:latin typeface="Calibri" pitchFamily="34" charset="0"/>
                <a:ea typeface="Calibri" pitchFamily="34" charset="-122"/>
                <a:cs typeface="Calibri" pitchFamily="34" charset="-120"/>
              </a:rPr>
              <a:t>We do not claim to have invented automatic detection. What is new: passive detection combined with a user-controlled cancel window, in an explainable score.</a:t>
            </a:r>
            <a:endParaRPr lang="en-US" sz="1000" dirty="0"/>
          </a:p>
        </p:txBody>
      </p:sp>
      <p:sp>
        <p:nvSpPr>
          <p:cNvPr id="17" name="Text 14"/>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18" name="Text 15"/>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Technology stack: working core + extended layer</a:t>
            </a:r>
            <a:endParaRPr lang="en-US" sz="2600" dirty="0"/>
          </a:p>
        </p:txBody>
      </p:sp>
      <p:sp>
        <p:nvSpPr>
          <p:cNvPr id="3" name="Shape 1"/>
          <p:cNvSpPr/>
          <p:nvPr/>
        </p:nvSpPr>
        <p:spPr>
          <a:xfrm>
            <a:off x="457200" y="868680"/>
            <a:ext cx="1828800" cy="1051560"/>
          </a:xfrm>
          <a:prstGeom prst="roundRect">
            <a:avLst>
              <a:gd name="adj" fmla="val 6957"/>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4" name="Text 2"/>
          <p:cNvSpPr txBox="1"/>
          <p:nvPr/>
        </p:nvSpPr>
        <p:spPr>
          <a:xfrm>
            <a:off x="548640" y="914400"/>
            <a:ext cx="1645920" cy="182880"/>
          </a:xfrm>
          <a:prstGeom prst="rect">
            <a:avLst/>
          </a:prstGeom>
          <a:noFill/>
          <a:ln/>
        </p:spPr>
        <p:txBody>
          <a:bodyPr wrap="square" lIns="0" tIns="0" rIns="0" bIns="0" rtlCol="0" anchor="t"/>
          <a:lstStyle/>
          <a:p>
            <a:pPr marL="0" indent="0">
              <a:buNone/>
            </a:pPr>
            <a:r>
              <a:rPr lang="en-US" sz="850" b="1" dirty="0">
                <a:solidFill>
                  <a:srgbClr val="C2185B"/>
                </a:solidFill>
                <a:latin typeface="Calibri" pitchFamily="34" charset="0"/>
                <a:ea typeface="Calibri" pitchFamily="34" charset="-122"/>
                <a:cs typeface="Calibri" pitchFamily="34" charset="-120"/>
              </a:rPr>
              <a:t>SENSE</a:t>
            </a:r>
            <a:endParaRPr lang="en-US" sz="850" dirty="0"/>
          </a:p>
        </p:txBody>
      </p:sp>
      <p:sp>
        <p:nvSpPr>
          <p:cNvPr id="5" name="Text 3"/>
          <p:cNvSpPr txBox="1"/>
          <p:nvPr/>
        </p:nvSpPr>
        <p:spPr>
          <a:xfrm>
            <a:off x="548640" y="1097280"/>
            <a:ext cx="1645920" cy="228600"/>
          </a:xfrm>
          <a:prstGeom prst="rect">
            <a:avLst/>
          </a:prstGeom>
          <a:noFill/>
          <a:ln/>
        </p:spPr>
        <p:txBody>
          <a:bodyPr wrap="square" lIns="0" tIns="0" rIns="0" bIns="0" rtlCol="0" anchor="t"/>
          <a:lstStyle/>
          <a:p>
            <a:pPr marL="0" indent="0">
              <a:buNone/>
            </a:pPr>
            <a:r>
              <a:rPr lang="en-US" sz="1100" b="1" dirty="0">
                <a:solidFill>
                  <a:srgbClr val="5E1B8E"/>
                </a:solidFill>
                <a:latin typeface="Calibri" pitchFamily="34" charset="0"/>
                <a:ea typeface="Calibri" pitchFamily="34" charset="-122"/>
                <a:cs typeface="Calibri" pitchFamily="34" charset="-120"/>
              </a:rPr>
              <a:t>MAX30102 + MPU6050</a:t>
            </a:r>
            <a:endParaRPr lang="en-US" sz="1100" dirty="0"/>
          </a:p>
        </p:txBody>
      </p:sp>
      <p:sp>
        <p:nvSpPr>
          <p:cNvPr id="6" name="Text 4"/>
          <p:cNvSpPr txBox="1"/>
          <p:nvPr/>
        </p:nvSpPr>
        <p:spPr>
          <a:xfrm>
            <a:off x="548640" y="1335024"/>
            <a:ext cx="1645920" cy="201168"/>
          </a:xfrm>
          <a:prstGeom prst="rect">
            <a:avLst/>
          </a:prstGeom>
          <a:noFill/>
          <a:ln/>
        </p:spPr>
        <p:txBody>
          <a:bodyPr wrap="square" lIns="0" tIns="0" rIns="0" bIns="0" rtlCol="0" anchor="t"/>
          <a:lstStyle/>
          <a:p>
            <a:pPr marL="0" indent="0">
              <a:buNone/>
            </a:pPr>
            <a:r>
              <a:rPr lang="en-US" sz="900" dirty="0">
                <a:solidFill>
                  <a:srgbClr val="2A1A3A"/>
                </a:solidFill>
                <a:latin typeface="Calibri" pitchFamily="34" charset="0"/>
                <a:ea typeface="Calibri" pitchFamily="34" charset="-122"/>
                <a:cs typeface="Calibri" pitchFamily="34" charset="-120"/>
              </a:rPr>
              <a:t>heart-rate + motion / rotation</a:t>
            </a:r>
            <a:endParaRPr lang="en-US" sz="900" dirty="0"/>
          </a:p>
        </p:txBody>
      </p:sp>
      <p:sp>
        <p:nvSpPr>
          <p:cNvPr id="7" name="Text 5"/>
          <p:cNvSpPr txBox="1"/>
          <p:nvPr/>
        </p:nvSpPr>
        <p:spPr>
          <a:xfrm>
            <a:off x="548640" y="1600200"/>
            <a:ext cx="1645920" cy="274320"/>
          </a:xfrm>
          <a:prstGeom prst="rect">
            <a:avLst/>
          </a:prstGeom>
          <a:noFill/>
          <a:ln/>
        </p:spPr>
        <p:txBody>
          <a:bodyPr wrap="square" lIns="0" tIns="0" rIns="0" bIns="0" rtlCol="0" anchor="t"/>
          <a:lstStyle/>
          <a:p>
            <a:pPr marL="0" indent="0">
              <a:buNone/>
            </a:pPr>
            <a:r>
              <a:rPr lang="en-US" sz="850" b="1" dirty="0">
                <a:solidFill>
                  <a:srgbClr val="C2185B"/>
                </a:solidFill>
                <a:latin typeface="Calibri" pitchFamily="34" charset="0"/>
                <a:ea typeface="Calibri" pitchFamily="34" charset="-122"/>
                <a:cs typeface="Calibri" pitchFamily="34" charset="-120"/>
              </a:rPr>
              <a:t>NEXT · MAX9814 loud-sound signal</a:t>
            </a:r>
            <a:endParaRPr lang="en-US" sz="850" dirty="0"/>
          </a:p>
        </p:txBody>
      </p:sp>
      <p:sp>
        <p:nvSpPr>
          <p:cNvPr id="8" name="Shape 6"/>
          <p:cNvSpPr/>
          <p:nvPr/>
        </p:nvSpPr>
        <p:spPr>
          <a:xfrm>
            <a:off x="2331720" y="1325880"/>
            <a:ext cx="201168" cy="173736"/>
          </a:xfrm>
          <a:prstGeom prst="rightArrow">
            <a:avLst/>
          </a:prstGeom>
          <a:solidFill>
            <a:srgbClr val="C2185B"/>
          </a:solidFill>
          <a:ln w="12700">
            <a:solidFill>
              <a:srgbClr val="C2185B"/>
            </a:solidFill>
            <a:prstDash val="solid"/>
          </a:ln>
        </p:spPr>
      </p:sp>
      <p:sp>
        <p:nvSpPr>
          <p:cNvPr id="9" name="Shape 7"/>
          <p:cNvSpPr/>
          <p:nvPr/>
        </p:nvSpPr>
        <p:spPr>
          <a:xfrm>
            <a:off x="2578608" y="868680"/>
            <a:ext cx="1828800" cy="1051560"/>
          </a:xfrm>
          <a:prstGeom prst="roundRect">
            <a:avLst>
              <a:gd name="adj" fmla="val 6957"/>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0" name="Text 8"/>
          <p:cNvSpPr txBox="1"/>
          <p:nvPr/>
        </p:nvSpPr>
        <p:spPr>
          <a:xfrm>
            <a:off x="2670048" y="914400"/>
            <a:ext cx="1645920" cy="182880"/>
          </a:xfrm>
          <a:prstGeom prst="rect">
            <a:avLst/>
          </a:prstGeom>
          <a:noFill/>
          <a:ln/>
        </p:spPr>
        <p:txBody>
          <a:bodyPr wrap="square" lIns="0" tIns="0" rIns="0" bIns="0" rtlCol="0" anchor="t"/>
          <a:lstStyle/>
          <a:p>
            <a:pPr marL="0" indent="0">
              <a:buNone/>
            </a:pPr>
            <a:r>
              <a:rPr lang="en-US" sz="850" b="1" dirty="0">
                <a:solidFill>
                  <a:srgbClr val="C2185B"/>
                </a:solidFill>
                <a:latin typeface="Calibri" pitchFamily="34" charset="0"/>
                <a:ea typeface="Calibri" pitchFamily="34" charset="-122"/>
                <a:cs typeface="Calibri" pitchFamily="34" charset="-120"/>
              </a:rPr>
              <a:t>COMPUTE</a:t>
            </a:r>
            <a:endParaRPr lang="en-US" sz="850" dirty="0"/>
          </a:p>
        </p:txBody>
      </p:sp>
      <p:sp>
        <p:nvSpPr>
          <p:cNvPr id="11" name="Text 9"/>
          <p:cNvSpPr txBox="1"/>
          <p:nvPr/>
        </p:nvSpPr>
        <p:spPr>
          <a:xfrm>
            <a:off x="2670048" y="1097280"/>
            <a:ext cx="1645920" cy="228600"/>
          </a:xfrm>
          <a:prstGeom prst="rect">
            <a:avLst/>
          </a:prstGeom>
          <a:noFill/>
          <a:ln/>
        </p:spPr>
        <p:txBody>
          <a:bodyPr wrap="square" lIns="0" tIns="0" rIns="0" bIns="0" rtlCol="0" anchor="t"/>
          <a:lstStyle/>
          <a:p>
            <a:pPr marL="0" indent="0">
              <a:buNone/>
            </a:pPr>
            <a:r>
              <a:rPr lang="en-US" sz="1100" b="1" dirty="0">
                <a:solidFill>
                  <a:srgbClr val="5E1B8E"/>
                </a:solidFill>
                <a:latin typeface="Calibri" pitchFamily="34" charset="0"/>
                <a:ea typeface="Calibri" pitchFamily="34" charset="-122"/>
                <a:cs typeface="Calibri" pitchFamily="34" charset="-120"/>
              </a:rPr>
              <a:t>ESP32 DevKit V1</a:t>
            </a:r>
            <a:endParaRPr lang="en-US" sz="1100" dirty="0"/>
          </a:p>
        </p:txBody>
      </p:sp>
      <p:sp>
        <p:nvSpPr>
          <p:cNvPr id="12" name="Text 10"/>
          <p:cNvSpPr txBox="1"/>
          <p:nvPr/>
        </p:nvSpPr>
        <p:spPr>
          <a:xfrm>
            <a:off x="2670048" y="1335024"/>
            <a:ext cx="1645920" cy="201168"/>
          </a:xfrm>
          <a:prstGeom prst="rect">
            <a:avLst/>
          </a:prstGeom>
          <a:noFill/>
          <a:ln/>
        </p:spPr>
        <p:txBody>
          <a:bodyPr wrap="square" lIns="0" tIns="0" rIns="0" bIns="0" rtlCol="0" anchor="t"/>
          <a:lstStyle/>
          <a:p>
            <a:pPr marL="0" indent="0">
              <a:buNone/>
            </a:pPr>
            <a:r>
              <a:rPr lang="en-US" sz="900" dirty="0">
                <a:solidFill>
                  <a:srgbClr val="2A1A3A"/>
                </a:solidFill>
                <a:latin typeface="Calibri" pitchFamily="34" charset="0"/>
                <a:ea typeface="Calibri" pitchFamily="34" charset="-122"/>
                <a:cs typeface="Calibri" pitchFamily="34" charset="-120"/>
              </a:rPr>
              <a:t>score, countdown, SOS logic</a:t>
            </a:r>
            <a:endParaRPr lang="en-US" sz="900" dirty="0"/>
          </a:p>
        </p:txBody>
      </p:sp>
      <p:sp>
        <p:nvSpPr>
          <p:cNvPr id="13" name="Shape 11"/>
          <p:cNvSpPr/>
          <p:nvPr/>
        </p:nvSpPr>
        <p:spPr>
          <a:xfrm>
            <a:off x="4453128" y="1325880"/>
            <a:ext cx="201168" cy="173736"/>
          </a:xfrm>
          <a:prstGeom prst="rightArrow">
            <a:avLst/>
          </a:prstGeom>
          <a:solidFill>
            <a:srgbClr val="C2185B"/>
          </a:solidFill>
          <a:ln w="12700">
            <a:solidFill>
              <a:srgbClr val="C2185B"/>
            </a:solidFill>
            <a:prstDash val="solid"/>
          </a:ln>
        </p:spPr>
      </p:sp>
      <p:sp>
        <p:nvSpPr>
          <p:cNvPr id="14" name="Shape 12"/>
          <p:cNvSpPr/>
          <p:nvPr/>
        </p:nvSpPr>
        <p:spPr>
          <a:xfrm>
            <a:off x="4700016" y="868680"/>
            <a:ext cx="1828800" cy="1051560"/>
          </a:xfrm>
          <a:prstGeom prst="roundRect">
            <a:avLst>
              <a:gd name="adj" fmla="val 6957"/>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5" name="Text 13"/>
          <p:cNvSpPr txBox="1"/>
          <p:nvPr/>
        </p:nvSpPr>
        <p:spPr>
          <a:xfrm>
            <a:off x="4791456" y="914400"/>
            <a:ext cx="1645920" cy="182880"/>
          </a:xfrm>
          <a:prstGeom prst="rect">
            <a:avLst/>
          </a:prstGeom>
          <a:noFill/>
          <a:ln/>
        </p:spPr>
        <p:txBody>
          <a:bodyPr wrap="square" lIns="0" tIns="0" rIns="0" bIns="0" rtlCol="0" anchor="t"/>
          <a:lstStyle/>
          <a:p>
            <a:pPr marL="0" indent="0">
              <a:buNone/>
            </a:pPr>
            <a:r>
              <a:rPr lang="en-US" sz="850" b="1" dirty="0">
                <a:solidFill>
                  <a:srgbClr val="C2185B"/>
                </a:solidFill>
                <a:latin typeface="Calibri" pitchFamily="34" charset="0"/>
                <a:ea typeface="Calibri" pitchFamily="34" charset="-122"/>
                <a:cs typeface="Calibri" pitchFamily="34" charset="-120"/>
              </a:rPr>
              <a:t>FEEDBACK</a:t>
            </a:r>
            <a:endParaRPr lang="en-US" sz="850" dirty="0"/>
          </a:p>
        </p:txBody>
      </p:sp>
      <p:sp>
        <p:nvSpPr>
          <p:cNvPr id="16" name="Text 14"/>
          <p:cNvSpPr txBox="1"/>
          <p:nvPr/>
        </p:nvSpPr>
        <p:spPr>
          <a:xfrm>
            <a:off x="4791456" y="1097280"/>
            <a:ext cx="1645920" cy="228600"/>
          </a:xfrm>
          <a:prstGeom prst="rect">
            <a:avLst/>
          </a:prstGeom>
          <a:noFill/>
          <a:ln/>
        </p:spPr>
        <p:txBody>
          <a:bodyPr wrap="square" lIns="0" tIns="0" rIns="0" bIns="0" rtlCol="0" anchor="t"/>
          <a:lstStyle/>
          <a:p>
            <a:pPr marL="0" indent="0">
              <a:buNone/>
            </a:pPr>
            <a:r>
              <a:rPr lang="en-US" sz="1100" b="1" dirty="0">
                <a:solidFill>
                  <a:srgbClr val="5E1B8E"/>
                </a:solidFill>
                <a:latin typeface="Calibri" pitchFamily="34" charset="0"/>
                <a:ea typeface="Calibri" pitchFamily="34" charset="-122"/>
                <a:cs typeface="Calibri" pitchFamily="34" charset="-120"/>
              </a:rPr>
              <a:t>OLED, buzzer, vibration</a:t>
            </a:r>
            <a:endParaRPr lang="en-US" sz="1100" dirty="0"/>
          </a:p>
        </p:txBody>
      </p:sp>
      <p:sp>
        <p:nvSpPr>
          <p:cNvPr id="17" name="Text 15"/>
          <p:cNvSpPr txBox="1"/>
          <p:nvPr/>
        </p:nvSpPr>
        <p:spPr>
          <a:xfrm>
            <a:off x="4791456" y="1335024"/>
            <a:ext cx="1645920" cy="201168"/>
          </a:xfrm>
          <a:prstGeom prst="rect">
            <a:avLst/>
          </a:prstGeom>
          <a:noFill/>
          <a:ln/>
        </p:spPr>
        <p:txBody>
          <a:bodyPr wrap="square" lIns="0" tIns="0" rIns="0" bIns="0" rtlCol="0" anchor="t"/>
          <a:lstStyle/>
          <a:p>
            <a:pPr marL="0" indent="0">
              <a:buNone/>
            </a:pPr>
            <a:r>
              <a:rPr lang="en-US" sz="900" dirty="0">
                <a:solidFill>
                  <a:srgbClr val="2A1A3A"/>
                </a:solidFill>
                <a:latin typeface="Calibri" pitchFamily="34" charset="0"/>
                <a:ea typeface="Calibri" pitchFamily="34" charset="-122"/>
                <a:cs typeface="Calibri" pitchFamily="34" charset="-120"/>
              </a:rPr>
              <a:t>button: cancel / manual SOS</a:t>
            </a:r>
            <a:endParaRPr lang="en-US" sz="900" dirty="0"/>
          </a:p>
        </p:txBody>
      </p:sp>
      <p:sp>
        <p:nvSpPr>
          <p:cNvPr id="18" name="Shape 16"/>
          <p:cNvSpPr/>
          <p:nvPr/>
        </p:nvSpPr>
        <p:spPr>
          <a:xfrm>
            <a:off x="6574536" y="1325880"/>
            <a:ext cx="201168" cy="173736"/>
          </a:xfrm>
          <a:prstGeom prst="rightArrow">
            <a:avLst/>
          </a:prstGeom>
          <a:solidFill>
            <a:srgbClr val="C2185B"/>
          </a:solidFill>
          <a:ln w="12700">
            <a:solidFill>
              <a:srgbClr val="C2185B"/>
            </a:solidFill>
            <a:prstDash val="solid"/>
          </a:ln>
        </p:spPr>
      </p:sp>
      <p:sp>
        <p:nvSpPr>
          <p:cNvPr id="19" name="Shape 17"/>
          <p:cNvSpPr/>
          <p:nvPr/>
        </p:nvSpPr>
        <p:spPr>
          <a:xfrm>
            <a:off x="6821424" y="868680"/>
            <a:ext cx="1828800" cy="1051560"/>
          </a:xfrm>
          <a:prstGeom prst="roundRect">
            <a:avLst>
              <a:gd name="adj" fmla="val 6957"/>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0" name="Text 18"/>
          <p:cNvSpPr txBox="1"/>
          <p:nvPr/>
        </p:nvSpPr>
        <p:spPr>
          <a:xfrm>
            <a:off x="6912864" y="914400"/>
            <a:ext cx="1645920" cy="182880"/>
          </a:xfrm>
          <a:prstGeom prst="rect">
            <a:avLst/>
          </a:prstGeom>
          <a:noFill/>
          <a:ln/>
        </p:spPr>
        <p:txBody>
          <a:bodyPr wrap="square" lIns="0" tIns="0" rIns="0" bIns="0" rtlCol="0" anchor="t"/>
          <a:lstStyle/>
          <a:p>
            <a:pPr marL="0" indent="0">
              <a:buNone/>
            </a:pPr>
            <a:r>
              <a:rPr lang="en-US" sz="850" b="1" dirty="0">
                <a:solidFill>
                  <a:srgbClr val="C2185B"/>
                </a:solidFill>
                <a:latin typeface="Calibri" pitchFamily="34" charset="0"/>
                <a:ea typeface="Calibri" pitchFamily="34" charset="-122"/>
                <a:cs typeface="Calibri" pitchFamily="34" charset="-120"/>
              </a:rPr>
              <a:t>COMMUNICATE</a:t>
            </a:r>
            <a:endParaRPr lang="en-US" sz="850" dirty="0"/>
          </a:p>
        </p:txBody>
      </p:sp>
      <p:sp>
        <p:nvSpPr>
          <p:cNvPr id="21" name="Text 19"/>
          <p:cNvSpPr txBox="1"/>
          <p:nvPr/>
        </p:nvSpPr>
        <p:spPr>
          <a:xfrm>
            <a:off x="6912864" y="1097280"/>
            <a:ext cx="1645920" cy="228600"/>
          </a:xfrm>
          <a:prstGeom prst="rect">
            <a:avLst/>
          </a:prstGeom>
          <a:noFill/>
          <a:ln/>
        </p:spPr>
        <p:txBody>
          <a:bodyPr wrap="square" lIns="0" tIns="0" rIns="0" bIns="0" rtlCol="0" anchor="t"/>
          <a:lstStyle/>
          <a:p>
            <a:pPr marL="0" indent="0">
              <a:buNone/>
            </a:pPr>
            <a:r>
              <a:rPr lang="en-US" sz="1100" b="1" dirty="0">
                <a:solidFill>
                  <a:srgbClr val="5E1B8E"/>
                </a:solidFill>
                <a:latin typeface="Calibri" pitchFamily="34" charset="0"/>
                <a:ea typeface="Calibri" pitchFamily="34" charset="-122"/>
                <a:cs typeface="Calibri" pitchFamily="34" charset="-120"/>
              </a:rPr>
              <a:t>Telegram via hotspot</a:t>
            </a:r>
            <a:endParaRPr lang="en-US" sz="1100" dirty="0"/>
          </a:p>
        </p:txBody>
      </p:sp>
      <p:sp>
        <p:nvSpPr>
          <p:cNvPr id="22" name="Text 20"/>
          <p:cNvSpPr txBox="1"/>
          <p:nvPr/>
        </p:nvSpPr>
        <p:spPr>
          <a:xfrm>
            <a:off x="6912864" y="1335024"/>
            <a:ext cx="1645920" cy="201168"/>
          </a:xfrm>
          <a:prstGeom prst="rect">
            <a:avLst/>
          </a:prstGeom>
          <a:noFill/>
          <a:ln/>
        </p:spPr>
        <p:txBody>
          <a:bodyPr wrap="square" lIns="0" tIns="0" rIns="0" bIns="0" rtlCol="0" anchor="t"/>
          <a:lstStyle/>
          <a:p>
            <a:pPr marL="0" indent="0">
              <a:buNone/>
            </a:pPr>
            <a:r>
              <a:rPr lang="en-US" sz="900" dirty="0">
                <a:solidFill>
                  <a:srgbClr val="2A1A3A"/>
                </a:solidFill>
                <a:latin typeface="Calibri" pitchFamily="34" charset="0"/>
                <a:ea typeface="Calibri" pitchFamily="34" charset="-122"/>
                <a:cs typeface="Calibri" pitchFamily="34" charset="-120"/>
              </a:rPr>
              <a:t>today; live GPS location</a:t>
            </a:r>
            <a:endParaRPr lang="en-US" sz="900" dirty="0"/>
          </a:p>
        </p:txBody>
      </p:sp>
      <p:sp>
        <p:nvSpPr>
          <p:cNvPr id="23" name="Text 21"/>
          <p:cNvSpPr txBox="1"/>
          <p:nvPr/>
        </p:nvSpPr>
        <p:spPr>
          <a:xfrm>
            <a:off x="6912864" y="1600200"/>
            <a:ext cx="1645920" cy="274320"/>
          </a:xfrm>
          <a:prstGeom prst="rect">
            <a:avLst/>
          </a:prstGeom>
          <a:noFill/>
          <a:ln/>
        </p:spPr>
        <p:txBody>
          <a:bodyPr wrap="square" lIns="0" tIns="0" rIns="0" bIns="0" rtlCol="0" anchor="t"/>
          <a:lstStyle/>
          <a:p>
            <a:pPr marL="0" indent="0">
              <a:buNone/>
            </a:pPr>
            <a:r>
              <a:rPr lang="en-US" sz="850" b="1" dirty="0">
                <a:solidFill>
                  <a:srgbClr val="C2185B"/>
                </a:solidFill>
                <a:latin typeface="Calibri" pitchFamily="34" charset="0"/>
                <a:ea typeface="Calibri" pitchFamily="34" charset="-122"/>
                <a:cs typeface="Calibri" pitchFamily="34" charset="-120"/>
              </a:rPr>
              <a:t>NEXT · GSM (phone-free)</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2084832"/>
          <a:ext cx="5212080" cy="2304288"/>
        </p:xfrm>
        <a:graphic>
          <a:graphicData uri="http://schemas.openxmlformats.org/drawingml/2006/table">
            <a:tbl>
              <a:tblPr/>
              <a:tblGrid>
                <a:gridCol w="1691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5603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Working prototype part</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Approx. cost</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solidFill>
                      <a:srgbClr val="5E1B8E"/>
                    </a:solidFill>
                  </a:tcPr>
                </a:tc>
                <a:extLst>
                  <a:ext uri="{0D108BD9-81ED-4DB2-BD59-A6C34878D82A}">
                    <a16:rowId xmlns:a16="http://schemas.microsoft.com/office/drawing/2014/main" val="10000"/>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ESP32 DevKit V1 (30-pin)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Sensors, score, countdown, Telegram SOS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₹300–450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MAX30102</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Heart-rate spike sensing</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₹120–200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MPU6050 (GY-521)</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Struggle / jerk / rotation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₹80–130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0.96″ OLED SSD1306</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Live BPM, score, countdown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₹150–200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Buzzer + vibration motor</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Alert; 2N2222 / BC547 + 1N4007 driver</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Button, LED, resistors</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Cancel / manual SOS, status light</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buNone/>
                      </a:pPr>
                      <a:r>
                        <a:rPr lang="en-US" sz="1050" b="1" dirty="0">
                          <a:solidFill>
                            <a:srgbClr val="2A1A3A"/>
                          </a:solidFill>
                          <a:latin typeface="Calibri" pitchFamily="34" charset="0"/>
                          <a:ea typeface="Calibri" pitchFamily="34" charset="-122"/>
                          <a:cs typeface="Calibri" pitchFamily="34" charset="-120"/>
                        </a:rPr>
                        <a:t>Breadboard, jumpers, case</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buNone/>
                      </a:pPr>
                      <a:r>
                        <a:rPr lang="en-US" sz="1050" dirty="0">
                          <a:solidFill>
                            <a:srgbClr val="2A1A3A"/>
                          </a:solidFill>
                          <a:latin typeface="Calibri" pitchFamily="34" charset="0"/>
                          <a:ea typeface="Calibri" pitchFamily="34" charset="-122"/>
                          <a:cs typeface="Calibri" pitchFamily="34" charset="-120"/>
                        </a:rPr>
                        <a:t>Wiring + box (USB power bank: own)</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tc>
                  <a:txBody>
                    <a:bodyPr/>
                    <a:lstStyle/>
                    <a:p>
                      <a:pPr marL="0" indent="0" algn="ctr">
                        <a:buNone/>
                      </a:pPr>
                      <a:r>
                        <a:rPr lang="en-US" sz="1050" dirty="0">
                          <a:solidFill>
                            <a:srgbClr val="2A1A3A"/>
                          </a:solidFill>
                          <a:latin typeface="Calibri" pitchFamily="34" charset="0"/>
                          <a:ea typeface="Calibri" pitchFamily="34" charset="-122"/>
                          <a:cs typeface="Calibri" pitchFamily="34" charset="-120"/>
                        </a:rPr>
                        <a:t>₹150–350</a:t>
                      </a:r>
                      <a:endParaRPr lang="en-US" sz="1050" dirty="0">
                        <a:latin typeface="Calibri" charset="0"/>
                        <a:ea typeface="Calibri" charset="0"/>
                        <a:cs typeface="Calibri" charset="0"/>
                      </a:endParaRPr>
                    </a:p>
                  </a:txBody>
                  <a:tcPr marL="76200" marR="76200" marT="25400" marB="25400" anchor="ctr">
                    <a:lnL w="9525" cap="flat" cmpd="sng" algn="ctr">
                      <a:solidFill>
                        <a:srgbClr val="D9C3EA"/>
                      </a:solidFill>
                      <a:prstDash val="solid"/>
                      <a:round/>
                      <a:headEnd type="none" w="med" len="med"/>
                      <a:tailEnd type="none" w="med" len="med"/>
                    </a:lnL>
                    <a:lnR w="9525" cap="flat" cmpd="sng" algn="ctr">
                      <a:solidFill>
                        <a:srgbClr val="D9C3EA"/>
                      </a:solidFill>
                      <a:prstDash val="solid"/>
                      <a:round/>
                      <a:headEnd type="none" w="med" len="med"/>
                      <a:tailEnd type="none" w="med" len="med"/>
                    </a:lnR>
                    <a:lnT w="9525" cap="flat" cmpd="sng" algn="ctr">
                      <a:solidFill>
                        <a:srgbClr val="D9C3EA"/>
                      </a:solidFill>
                      <a:prstDash val="solid"/>
                      <a:round/>
                      <a:headEnd type="none" w="med" len="med"/>
                      <a:tailEnd type="none" w="med" len="med"/>
                    </a:lnT>
                    <a:lnB w="9525" cap="flat" cmpd="sng" algn="ctr">
                      <a:solidFill>
                        <a:srgbClr val="D9C3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Text 22"/>
          <p:cNvSpPr txBox="1"/>
          <p:nvPr/>
        </p:nvSpPr>
        <p:spPr>
          <a:xfrm>
            <a:off x="457200" y="4480560"/>
            <a:ext cx="5212080" cy="182880"/>
          </a:xfrm>
          <a:prstGeom prst="rect">
            <a:avLst/>
          </a:prstGeom>
          <a:noFill/>
          <a:ln/>
        </p:spPr>
        <p:txBody>
          <a:bodyPr wrap="square" lIns="0" tIns="0" rIns="0" bIns="0" rtlCol="0" anchor="t"/>
          <a:lstStyle/>
          <a:p>
            <a:pPr marL="0" indent="0">
              <a:buNone/>
            </a:pPr>
            <a:r>
              <a:rPr lang="en-US" sz="850" i="1" dirty="0">
                <a:solidFill>
                  <a:srgbClr val="6B5B7B"/>
                </a:solidFill>
                <a:latin typeface="Calibri" pitchFamily="34" charset="0"/>
                <a:ea typeface="Calibri" pitchFamily="34" charset="-122"/>
                <a:cs typeface="Calibri" pitchFamily="34" charset="-120"/>
              </a:rPr>
              <a:t>Prices are approximate and vary by shop.</a:t>
            </a:r>
            <a:endParaRPr lang="en-US" sz="850" dirty="0"/>
          </a:p>
        </p:txBody>
      </p:sp>
      <p:sp>
        <p:nvSpPr>
          <p:cNvPr id="26" name="Shape 23"/>
          <p:cNvSpPr/>
          <p:nvPr/>
        </p:nvSpPr>
        <p:spPr>
          <a:xfrm>
            <a:off x="5852160" y="2084832"/>
            <a:ext cx="2834640" cy="685800"/>
          </a:xfrm>
          <a:prstGeom prst="roundRect">
            <a:avLst>
              <a:gd name="adj" fmla="val 10667"/>
            </a:avLst>
          </a:prstGeom>
          <a:solidFill>
            <a:srgbClr val="5E1B8E"/>
          </a:solidFill>
          <a:ln w="12700">
            <a:solidFill>
              <a:srgbClr val="5E1B8E"/>
            </a:solidFill>
            <a:prstDash val="solid"/>
          </a:ln>
        </p:spPr>
      </p:sp>
      <p:sp>
        <p:nvSpPr>
          <p:cNvPr id="27" name="Text 24"/>
          <p:cNvSpPr txBox="1"/>
          <p:nvPr/>
        </p:nvSpPr>
        <p:spPr>
          <a:xfrm>
            <a:off x="5989320" y="2084832"/>
            <a:ext cx="2560320" cy="685800"/>
          </a:xfrm>
          <a:prstGeom prst="rect">
            <a:avLst/>
          </a:prstGeom>
          <a:noFill/>
          <a:ln/>
        </p:spPr>
        <p:txBody>
          <a:bodyPr wrap="square" lIns="0" tIns="0" rIns="0" bIns="0" rtlCol="0" anchor="ctr"/>
          <a:lstStyle/>
          <a:p>
            <a:pPr marL="0" indent="0">
              <a:buNone/>
            </a:pPr>
            <a:r>
              <a:rPr lang="en-US" sz="850" b="1" dirty="0">
                <a:solidFill>
                  <a:srgbClr val="F4B6D2"/>
                </a:solidFill>
                <a:latin typeface="Calibri" pitchFamily="34" charset="0"/>
                <a:ea typeface="Calibri" pitchFamily="34" charset="-122"/>
                <a:cs typeface="Calibri" pitchFamily="34" charset="-120"/>
              </a:rPr>
              <a:t>PROTOTYPE COST  </a:t>
            </a:r>
            <a:endParaRPr lang="en-US" sz="1200" dirty="0"/>
          </a:p>
          <a:p>
            <a:pPr marL="0" indent="0">
              <a:buNone/>
            </a:pPr>
            <a:r>
              <a:rPr lang="en-US" sz="2200" b="1" dirty="0">
                <a:solidFill>
                  <a:srgbClr val="FFFFFF"/>
                </a:solidFill>
                <a:latin typeface="Calibri" pitchFamily="34" charset="0"/>
                <a:ea typeface="Calibri" pitchFamily="34" charset="-122"/>
                <a:cs typeface="Calibri" pitchFamily="34" charset="-120"/>
              </a:rPr>
              <a:t>≈ ₹900–1,400</a:t>
            </a:r>
            <a:endParaRPr lang="en-US" sz="1200" dirty="0"/>
          </a:p>
        </p:txBody>
      </p:sp>
      <p:sp>
        <p:nvSpPr>
          <p:cNvPr id="28" name="Shape 25"/>
          <p:cNvSpPr/>
          <p:nvPr/>
        </p:nvSpPr>
        <p:spPr>
          <a:xfrm>
            <a:off x="5852160" y="2880360"/>
            <a:ext cx="2834640" cy="822960"/>
          </a:xfrm>
          <a:prstGeom prst="roundRect">
            <a:avLst>
              <a:gd name="adj" fmla="val 8889"/>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9" name="Text 26"/>
          <p:cNvSpPr txBox="1"/>
          <p:nvPr/>
        </p:nvSpPr>
        <p:spPr>
          <a:xfrm>
            <a:off x="5961888" y="2880360"/>
            <a:ext cx="2651760" cy="822960"/>
          </a:xfrm>
          <a:prstGeom prst="rect">
            <a:avLst/>
          </a:prstGeom>
          <a:noFill/>
          <a:ln/>
        </p:spPr>
        <p:txBody>
          <a:bodyPr wrap="square" lIns="0" tIns="0" rIns="0" bIns="0" rtlCol="0" anchor="ctr"/>
          <a:lstStyle/>
          <a:p>
            <a:pPr marL="0" indent="0">
              <a:buNone/>
            </a:pPr>
            <a:r>
              <a:rPr lang="en-US" sz="850" b="1" dirty="0">
                <a:solidFill>
                  <a:srgbClr val="C2185B"/>
                </a:solidFill>
                <a:latin typeface="Calibri" pitchFamily="34" charset="0"/>
                <a:ea typeface="Calibri" pitchFamily="34" charset="-122"/>
                <a:cs typeface="Calibri" pitchFamily="34" charset="-120"/>
              </a:rPr>
              <a:t>SOFTWARE</a:t>
            </a:r>
            <a:endParaRPr lang="en-US" sz="900" dirty="0"/>
          </a:p>
          <a:p>
            <a:pPr marL="342900" indent="-342900">
              <a:buSzPct val="100000"/>
              <a:buChar char="•"/>
            </a:pPr>
            <a:r>
              <a:rPr lang="en-US" sz="900" dirty="0">
                <a:solidFill>
                  <a:srgbClr val="2A1A3A"/>
                </a:solidFill>
                <a:latin typeface="Calibri" pitchFamily="34" charset="0"/>
                <a:ea typeface="Calibri" pitchFamily="34" charset="-122"/>
                <a:cs typeface="Calibri" pitchFamily="34" charset="-120"/>
              </a:rPr>
              <a:t>Arduino framework (C/C++) + open-source libraries</a:t>
            </a:r>
            <a:endParaRPr lang="en-US" sz="900" dirty="0"/>
          </a:p>
          <a:p>
            <a:pPr marL="342900" indent="-342900">
              <a:buSzPct val="100000"/>
              <a:buChar char="•"/>
            </a:pPr>
            <a:r>
              <a:rPr lang="en-US" sz="900" dirty="0">
                <a:solidFill>
                  <a:srgbClr val="2A1A3A"/>
                </a:solidFill>
                <a:latin typeface="Calibri" pitchFamily="34" charset="0"/>
                <a:ea typeface="Calibri" pitchFamily="34" charset="-122"/>
                <a:cs typeface="Calibri" pitchFamily="34" charset="-120"/>
              </a:rPr>
              <a:t>Telegram Bot API over HTTPS</a:t>
            </a:r>
            <a:endParaRPr lang="en-US" sz="900" dirty="0"/>
          </a:p>
          <a:p>
            <a:pPr marL="342900" indent="-342900">
              <a:buSzPct val="100000"/>
              <a:buChar char="•"/>
            </a:pPr>
            <a:r>
              <a:rPr lang="en-US" sz="900" dirty="0">
                <a:solidFill>
                  <a:srgbClr val="2A1A3A"/>
                </a:solidFill>
                <a:latin typeface="Calibri" pitchFamily="34" charset="0"/>
                <a:ea typeface="Calibri" pitchFamily="34" charset="-122"/>
                <a:cs typeface="Calibri" pitchFamily="34" charset="-120"/>
              </a:rPr>
              <a:t>Rule-based score, no cloud AI</a:t>
            </a:r>
            <a:endParaRPr lang="en-US" sz="900" dirty="0"/>
          </a:p>
        </p:txBody>
      </p:sp>
      <p:sp>
        <p:nvSpPr>
          <p:cNvPr id="30" name="Shape 27"/>
          <p:cNvSpPr/>
          <p:nvPr/>
        </p:nvSpPr>
        <p:spPr>
          <a:xfrm>
            <a:off x="5852160" y="3794760"/>
            <a:ext cx="2834640" cy="896112"/>
          </a:xfrm>
          <a:prstGeom prst="roundRect">
            <a:avLst>
              <a:gd name="adj" fmla="val 8163"/>
            </a:avLst>
          </a:prstGeom>
          <a:solidFill>
            <a:srgbClr val="F1E6F9"/>
          </a:solidFill>
          <a:ln w="9525">
            <a:solidFill>
              <a:srgbClr val="D9C3EA"/>
            </a:solidFill>
            <a:prstDash val="solid"/>
          </a:ln>
          <a:effectLst>
            <a:outerShdw blurRad="76200" dist="25400" dir="5400000" algn="bl" rotWithShape="0">
              <a:srgbClr val="000000">
                <a:alpha val="12000"/>
              </a:srgbClr>
            </a:outerShdw>
          </a:effectLst>
        </p:spPr>
      </p:sp>
      <p:sp>
        <p:nvSpPr>
          <p:cNvPr id="31" name="Text 28"/>
          <p:cNvSpPr txBox="1"/>
          <p:nvPr/>
        </p:nvSpPr>
        <p:spPr>
          <a:xfrm>
            <a:off x="5961888" y="3794760"/>
            <a:ext cx="2651760" cy="896112"/>
          </a:xfrm>
          <a:prstGeom prst="rect">
            <a:avLst/>
          </a:prstGeom>
          <a:noFill/>
          <a:ln/>
        </p:spPr>
        <p:txBody>
          <a:bodyPr wrap="square" lIns="0" tIns="0" rIns="0" bIns="0" rtlCol="0" anchor="ctr"/>
          <a:lstStyle/>
          <a:p>
            <a:pPr marL="0" indent="0">
              <a:buNone/>
            </a:pPr>
            <a:r>
              <a:rPr lang="en-US" sz="850" b="1" dirty="0">
                <a:solidFill>
                  <a:srgbClr val="C2185B"/>
                </a:solidFill>
                <a:latin typeface="Calibri" pitchFamily="34" charset="0"/>
                <a:ea typeface="Calibri" pitchFamily="34" charset="-122"/>
                <a:cs typeface="Calibri" pitchFamily="34" charset="-120"/>
              </a:rPr>
              <a:t>EXTENDED LAYER: GPS DONE, NEXT ADD-ONS</a:t>
            </a:r>
            <a:endParaRPr lang="en-US" sz="900" dirty="0"/>
          </a:p>
          <a:p>
            <a:pPr marL="342900" indent="-342900">
              <a:buSzPct val="100000"/>
              <a:buChar char="•"/>
            </a:pPr>
            <a:r>
              <a:rPr lang="en-US" sz="900" dirty="0">
                <a:solidFill>
                  <a:srgbClr val="2A1A3A"/>
                </a:solidFill>
                <a:latin typeface="Calibri" pitchFamily="34" charset="0"/>
                <a:ea typeface="Calibri" pitchFamily="34" charset="-122"/>
                <a:cs typeface="Calibri" pitchFamily="34" charset="-120"/>
              </a:rPr>
              <a:t>NEO-6M GPS: live location in SOS alert (done)</a:t>
            </a:r>
            <a:endParaRPr lang="en-US" sz="900" dirty="0"/>
          </a:p>
          <a:p>
            <a:pPr marL="342900" indent="-342900">
              <a:buSzPct val="100000"/>
              <a:buChar char="•"/>
            </a:pPr>
            <a:r>
              <a:rPr lang="en-US" sz="900" dirty="0">
                <a:solidFill>
                  <a:srgbClr val="2A1A3A"/>
                </a:solidFill>
                <a:latin typeface="Calibri" pitchFamily="34" charset="0"/>
                <a:ea typeface="Calibri" pitchFamily="34" charset="-122"/>
                <a:cs typeface="Calibri" pitchFamily="34" charset="-120"/>
              </a:rPr>
              <a:t>MAX9814 / KY-038 (in hand): optional loud-sound signal</a:t>
            </a:r>
            <a:endParaRPr lang="en-US" sz="900" dirty="0"/>
          </a:p>
          <a:p>
            <a:pPr marL="342900" indent="-342900">
              <a:buSzPct val="100000"/>
              <a:buChar char="•"/>
            </a:pPr>
            <a:r>
              <a:rPr lang="en-US" sz="900" dirty="0">
                <a:solidFill>
                  <a:srgbClr val="2A1A3A"/>
                </a:solidFill>
                <a:latin typeface="Calibri" pitchFamily="34" charset="0"/>
                <a:ea typeface="Calibri" pitchFamily="34" charset="-122"/>
                <a:cs typeface="Calibri" pitchFamily="34" charset="-120"/>
              </a:rPr>
              <a:t>GSM module (planned): phone-free SOS</a:t>
            </a:r>
            <a:endParaRPr lang="en-US" sz="900" dirty="0"/>
          </a:p>
        </p:txBody>
      </p:sp>
      <p:sp>
        <p:nvSpPr>
          <p:cNvPr id="32" name="Text 29"/>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33" name="Text 30"/>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Feasibility: working prototype today, pilot next</a:t>
            </a:r>
            <a:endParaRPr lang="en-US" sz="2600" dirty="0"/>
          </a:p>
        </p:txBody>
      </p:sp>
      <p:sp>
        <p:nvSpPr>
          <p:cNvPr id="3" name="Shape 1"/>
          <p:cNvSpPr/>
          <p:nvPr/>
        </p:nvSpPr>
        <p:spPr>
          <a:xfrm>
            <a:off x="457200" y="896112"/>
            <a:ext cx="4023360" cy="1965960"/>
          </a:xfrm>
          <a:prstGeom prst="roundRect">
            <a:avLst>
              <a:gd name="adj" fmla="val 372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640080" y="969264"/>
            <a:ext cx="256032" cy="256032"/>
          </a:xfrm>
          <a:prstGeom prst="rect">
            <a:avLst/>
          </a:prstGeom>
        </p:spPr>
      </p:pic>
      <p:sp>
        <p:nvSpPr>
          <p:cNvPr id="5" name="Text 2"/>
          <p:cNvSpPr txBox="1"/>
          <p:nvPr/>
        </p:nvSpPr>
        <p:spPr>
          <a:xfrm>
            <a:off x="987552" y="941832"/>
            <a:ext cx="3383280" cy="310896"/>
          </a:xfrm>
          <a:prstGeom prst="rect">
            <a:avLst/>
          </a:prstGeom>
          <a:noFill/>
          <a:ln/>
        </p:spPr>
        <p:txBody>
          <a:bodyPr wrap="square" lIns="0" tIns="0" rIns="0" bIns="0" rtlCol="0" anchor="ctr"/>
          <a:lstStyle/>
          <a:p>
            <a:pPr marL="0" indent="0">
              <a:buNone/>
            </a:pPr>
            <a:r>
              <a:rPr lang="en-US" sz="1250" b="1" dirty="0">
                <a:solidFill>
                  <a:srgbClr val="5E1B8E"/>
                </a:solidFill>
                <a:latin typeface="Calibri" pitchFamily="34" charset="0"/>
                <a:ea typeface="Calibri" pitchFamily="34" charset="-122"/>
                <a:cs typeface="Calibri" pitchFamily="34" charset="-120"/>
              </a:rPr>
              <a:t>DONE — WORKING PROTOTYPE</a:t>
            </a:r>
            <a:endParaRPr lang="en-US" sz="1250" dirty="0"/>
          </a:p>
        </p:txBody>
      </p:sp>
      <p:sp>
        <p:nvSpPr>
          <p:cNvPr id="6" name="Text 3"/>
          <p:cNvSpPr txBox="1"/>
          <p:nvPr/>
        </p:nvSpPr>
        <p:spPr>
          <a:xfrm>
            <a:off x="685800" y="1325880"/>
            <a:ext cx="3611880" cy="15087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Component selection and breadboard prototype</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Heart-rate and motion pipelines</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Confidence score with baseline calibration</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Cancel window and manual long-press SOS</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OLED display and Telegram SOS</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Live GPS location (NEO-6M) in the SOS alert</a:t>
            </a:r>
            <a:endParaRPr lang="en-US" sz="1100" dirty="0"/>
          </a:p>
        </p:txBody>
      </p:sp>
      <p:sp>
        <p:nvSpPr>
          <p:cNvPr id="7" name="Shape 4"/>
          <p:cNvSpPr/>
          <p:nvPr/>
        </p:nvSpPr>
        <p:spPr>
          <a:xfrm>
            <a:off x="4663440" y="896112"/>
            <a:ext cx="4023360" cy="1965960"/>
          </a:xfrm>
          <a:prstGeom prst="roundRect">
            <a:avLst>
              <a:gd name="adj" fmla="val 3721"/>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4846320" y="969264"/>
            <a:ext cx="256032" cy="256032"/>
          </a:xfrm>
          <a:prstGeom prst="rect">
            <a:avLst/>
          </a:prstGeom>
        </p:spPr>
      </p:pic>
      <p:sp>
        <p:nvSpPr>
          <p:cNvPr id="9" name="Text 5"/>
          <p:cNvSpPr txBox="1"/>
          <p:nvPr/>
        </p:nvSpPr>
        <p:spPr>
          <a:xfrm>
            <a:off x="5193792" y="941832"/>
            <a:ext cx="3383280" cy="310896"/>
          </a:xfrm>
          <a:prstGeom prst="rect">
            <a:avLst/>
          </a:prstGeom>
          <a:noFill/>
          <a:ln/>
        </p:spPr>
        <p:txBody>
          <a:bodyPr wrap="square" lIns="0" tIns="0" rIns="0" bIns="0" rtlCol="0" anchor="ctr"/>
          <a:lstStyle/>
          <a:p>
            <a:pPr marL="0" indent="0">
              <a:buNone/>
            </a:pPr>
            <a:r>
              <a:rPr lang="en-US" sz="1250" b="1" dirty="0">
                <a:solidFill>
                  <a:srgbClr val="C2185B"/>
                </a:solidFill>
                <a:latin typeface="Calibri" pitchFamily="34" charset="0"/>
                <a:ea typeface="Calibri" pitchFamily="34" charset="-122"/>
                <a:cs typeface="Calibri" pitchFamily="34" charset="-120"/>
              </a:rPr>
              <a:t>NEXT — PLANNED</a:t>
            </a:r>
            <a:endParaRPr lang="en-US" sz="1250" dirty="0"/>
          </a:p>
        </p:txBody>
      </p:sp>
      <p:sp>
        <p:nvSpPr>
          <p:cNvPr id="10" name="Text 6"/>
          <p:cNvSpPr txBox="1"/>
          <p:nvPr/>
        </p:nvSpPr>
        <p:spPr>
          <a:xfrm>
            <a:off x="4892040" y="1325880"/>
            <a:ext cx="3611880" cy="15087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GSM module: phone-free SOS</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Compact PCB + wearable enclosure</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Minimal setup app (contacts, sensitivity)</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Closed pilot, 10–15 volunteers + per-user tuning</a:t>
            </a:r>
            <a:endParaRPr lang="en-US" sz="1100" dirty="0"/>
          </a:p>
          <a:p>
            <a:pPr marL="342900" indent="-342900">
              <a:spcAft>
                <a:spcPts val="200"/>
              </a:spcAft>
              <a:buSzPct val="100000"/>
              <a:buChar char="•"/>
            </a:pPr>
            <a:r>
              <a:rPr lang="en-US" sz="1100" dirty="0">
                <a:solidFill>
                  <a:srgbClr val="2A1A3A"/>
                </a:solidFill>
                <a:latin typeface="Calibri" pitchFamily="34" charset="0"/>
                <a:ea typeface="Calibri" pitchFamily="34" charset="-122"/>
                <a:cs typeface="Calibri" pitchFamily="34" charset="-120"/>
              </a:rPr>
              <a:t>Optional loud-sound signal (MAX9814)</a:t>
            </a:r>
            <a:endParaRPr lang="en-US" sz="1100" dirty="0"/>
          </a:p>
        </p:txBody>
      </p:sp>
      <p:sp>
        <p:nvSpPr>
          <p:cNvPr id="11" name="Shape 7"/>
          <p:cNvSpPr/>
          <p:nvPr/>
        </p:nvSpPr>
        <p:spPr>
          <a:xfrm>
            <a:off x="457200" y="3017520"/>
            <a:ext cx="4023360" cy="1664208"/>
          </a:xfrm>
          <a:prstGeom prst="roundRect">
            <a:avLst>
              <a:gd name="adj" fmla="val 4396"/>
            </a:avLst>
          </a:prstGeom>
          <a:solidFill>
            <a:srgbClr val="F1E6F9"/>
          </a:solidFill>
          <a:ln w="9525">
            <a:solidFill>
              <a:srgbClr val="D9C3EA"/>
            </a:solidFill>
            <a:prstDash val="solid"/>
          </a:ln>
          <a:effectLst>
            <a:outerShdw blurRad="76200" dist="25400" dir="5400000" algn="bl" rotWithShape="0">
              <a:srgbClr val="000000">
                <a:alpha val="12000"/>
              </a:srgbClr>
            </a:outerShdw>
          </a:effectLst>
        </p:spPr>
      </p:sp>
      <p:sp>
        <p:nvSpPr>
          <p:cNvPr id="12" name="Shape 8"/>
          <p:cNvSpPr/>
          <p:nvPr/>
        </p:nvSpPr>
        <p:spPr>
          <a:xfrm>
            <a:off x="594360" y="3127248"/>
            <a:ext cx="411480" cy="411480"/>
          </a:xfrm>
          <a:prstGeom prst="ellipse">
            <a:avLst/>
          </a:prstGeom>
          <a:solidFill>
            <a:srgbClr val="C2185B"/>
          </a:solidFill>
          <a:ln w="12700">
            <a:solidFill>
              <a:srgbClr val="C2185B"/>
            </a:solidFill>
            <a:prstDash val="solid"/>
          </a:ln>
        </p:spPr>
      </p:sp>
      <p:pic>
        <p:nvPicPr>
          <p:cNvPr id="13" name="Image 2" descr="preencoded.png"/>
          <p:cNvPicPr>
            <a:picLocks noChangeAspect="1"/>
          </p:cNvPicPr>
          <p:nvPr/>
        </p:nvPicPr>
        <p:blipFill>
          <a:blip r:embed="rId5"/>
          <a:stretch>
            <a:fillRect/>
          </a:stretch>
        </p:blipFill>
        <p:spPr>
          <a:xfrm>
            <a:off x="701345" y="3234233"/>
            <a:ext cx="197510" cy="197510"/>
          </a:xfrm>
          <a:prstGeom prst="rect">
            <a:avLst/>
          </a:prstGeom>
        </p:spPr>
      </p:pic>
      <p:sp>
        <p:nvSpPr>
          <p:cNvPr id="14" name="Text 9"/>
          <p:cNvSpPr txBox="1"/>
          <p:nvPr/>
        </p:nvSpPr>
        <p:spPr>
          <a:xfrm>
            <a:off x="1143000" y="3108960"/>
            <a:ext cx="3200400" cy="457200"/>
          </a:xfrm>
          <a:prstGeom prst="rect">
            <a:avLst/>
          </a:prstGeom>
          <a:noFill/>
          <a:ln/>
        </p:spPr>
        <p:txBody>
          <a:bodyPr wrap="square" lIns="0" tIns="0" rIns="0" bIns="0" rtlCol="0" anchor="ctr"/>
          <a:lstStyle/>
          <a:p>
            <a:pPr marL="0" indent="0">
              <a:buNone/>
            </a:pPr>
            <a:r>
              <a:rPr lang="en-US" sz="850" b="1" dirty="0">
                <a:solidFill>
                  <a:srgbClr val="C2185B"/>
                </a:solidFill>
                <a:latin typeface="Calibri" pitchFamily="34" charset="0"/>
                <a:ea typeface="Calibri" pitchFamily="34" charset="-122"/>
                <a:cs typeface="Calibri" pitchFamily="34" charset="-120"/>
              </a:rPr>
              <a:t>TOP TECHNICAL RISK</a:t>
            </a:r>
            <a:endParaRPr lang="en-US" sz="1200" dirty="0"/>
          </a:p>
          <a:p>
            <a:pPr marL="0" indent="0">
              <a:buNone/>
            </a:pPr>
            <a:r>
              <a:rPr lang="en-US" sz="1300" b="1" dirty="0">
                <a:solidFill>
                  <a:srgbClr val="5E1B8E"/>
                </a:solidFill>
                <a:latin typeface="Calibri" pitchFamily="34" charset="0"/>
                <a:ea typeface="Calibri" pitchFamily="34" charset="-122"/>
                <a:cs typeface="Calibri" pitchFamily="34" charset="-120"/>
              </a:rPr>
              <a:t>Wrist heart-rate noise</a:t>
            </a:r>
            <a:endParaRPr lang="en-US" sz="1200" dirty="0"/>
          </a:p>
        </p:txBody>
      </p:sp>
      <p:sp>
        <p:nvSpPr>
          <p:cNvPr id="15" name="Text 10"/>
          <p:cNvSpPr txBox="1"/>
          <p:nvPr/>
        </p:nvSpPr>
        <p:spPr>
          <a:xfrm>
            <a:off x="640080" y="3703320"/>
            <a:ext cx="3657600" cy="868680"/>
          </a:xfrm>
          <a:prstGeom prst="rect">
            <a:avLst/>
          </a:prstGeom>
          <a:noFill/>
          <a:ln/>
        </p:spPr>
        <p:txBody>
          <a:bodyPr wrap="square" lIns="0" tIns="0" rIns="0" bIns="0" rtlCol="0" anchor="t"/>
          <a:lstStyle/>
          <a:p>
            <a:pPr marL="0" indent="0">
              <a:buNone/>
            </a:pPr>
            <a:r>
              <a:rPr lang="en-US" sz="1150" b="1" dirty="0">
                <a:solidFill>
                  <a:srgbClr val="C2185B"/>
                </a:solidFill>
                <a:latin typeface="Calibri" pitchFamily="34" charset="0"/>
                <a:ea typeface="Calibri" pitchFamily="34" charset="-122"/>
                <a:cs typeface="Calibri" pitchFamily="34" charset="-120"/>
              </a:rPr>
              <a:t>Mitigation  </a:t>
            </a:r>
            <a:r>
              <a:rPr lang="en-US" sz="1150" dirty="0">
                <a:solidFill>
                  <a:srgbClr val="2A1A3A"/>
                </a:solidFill>
                <a:latin typeface="Calibri" pitchFamily="34" charset="0"/>
                <a:ea typeface="Calibri" pitchFamily="34" charset="-122"/>
                <a:cs typeface="Calibri" pitchFamily="34" charset="-120"/>
              </a:rPr>
              <a:t>Prototype reads the fingertip. In the pilot: per-user calibration + threshold tuning on the wrist.</a:t>
            </a:r>
            <a:endParaRPr lang="en-US" sz="1150" dirty="0"/>
          </a:p>
        </p:txBody>
      </p:sp>
      <p:sp>
        <p:nvSpPr>
          <p:cNvPr id="16" name="Shape 11"/>
          <p:cNvSpPr/>
          <p:nvPr/>
        </p:nvSpPr>
        <p:spPr>
          <a:xfrm>
            <a:off x="4663440" y="3017520"/>
            <a:ext cx="4023360" cy="512064"/>
          </a:xfrm>
          <a:prstGeom prst="roundRect">
            <a:avLst>
              <a:gd name="adj" fmla="val 14286"/>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7" name="Text 12"/>
          <p:cNvSpPr txBox="1"/>
          <p:nvPr/>
        </p:nvSpPr>
        <p:spPr>
          <a:xfrm>
            <a:off x="4800600" y="3017520"/>
            <a:ext cx="1371600" cy="512064"/>
          </a:xfrm>
          <a:prstGeom prst="rect">
            <a:avLst/>
          </a:prstGeom>
          <a:noFill/>
          <a:ln/>
        </p:spPr>
        <p:txBody>
          <a:bodyPr wrap="square" lIns="0" tIns="0" rIns="0" bIns="0" rtlCol="0" anchor="ctr"/>
          <a:lstStyle/>
          <a:p>
            <a:pPr marL="0" indent="0">
              <a:buNone/>
            </a:pPr>
            <a:r>
              <a:rPr lang="en-US" sz="900" b="1" dirty="0">
                <a:solidFill>
                  <a:srgbClr val="5E1B8E"/>
                </a:solidFill>
                <a:latin typeface="Calibri" pitchFamily="34" charset="0"/>
                <a:ea typeface="Calibri" pitchFamily="34" charset="-122"/>
                <a:cs typeface="Calibri" pitchFamily="34" charset="-120"/>
              </a:rPr>
              <a:t>FALSE ALARMS</a:t>
            </a:r>
            <a:endParaRPr lang="en-US" sz="900" dirty="0"/>
          </a:p>
        </p:txBody>
      </p:sp>
      <p:sp>
        <p:nvSpPr>
          <p:cNvPr id="18" name="Text 13"/>
          <p:cNvSpPr txBox="1"/>
          <p:nvPr/>
        </p:nvSpPr>
        <p:spPr>
          <a:xfrm>
            <a:off x="6126480" y="3017520"/>
            <a:ext cx="2468880" cy="512064"/>
          </a:xfrm>
          <a:prstGeom prst="rect">
            <a:avLst/>
          </a:prstGeom>
          <a:noFill/>
          <a:ln/>
        </p:spPr>
        <p:txBody>
          <a:bodyPr wrap="square" lIns="0" tIns="0" rIns="0" bIns="0" rtlCol="0" anchor="ctr"/>
          <a:lstStyle/>
          <a:p>
            <a:pPr marL="0" indent="0">
              <a:buNone/>
            </a:pPr>
            <a:r>
              <a:rPr lang="en-US" sz="950" dirty="0">
                <a:solidFill>
                  <a:srgbClr val="2A1A3A"/>
                </a:solidFill>
                <a:latin typeface="Calibri" pitchFamily="34" charset="0"/>
                <a:ea typeface="Calibri" pitchFamily="34" charset="-122"/>
                <a:cs typeface="Calibri" pitchFamily="34" charset="-120"/>
              </a:rPr>
              <a:t>Heart-rate and motion must agree, 8 s cancel, adjustable sensitivity</a:t>
            </a:r>
            <a:endParaRPr lang="en-US" sz="950" dirty="0"/>
          </a:p>
        </p:txBody>
      </p:sp>
      <p:sp>
        <p:nvSpPr>
          <p:cNvPr id="19" name="Shape 14"/>
          <p:cNvSpPr/>
          <p:nvPr/>
        </p:nvSpPr>
        <p:spPr>
          <a:xfrm>
            <a:off x="4663440" y="3584448"/>
            <a:ext cx="4023360" cy="512064"/>
          </a:xfrm>
          <a:prstGeom prst="roundRect">
            <a:avLst>
              <a:gd name="adj" fmla="val 14286"/>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0" name="Text 15"/>
          <p:cNvSpPr txBox="1"/>
          <p:nvPr/>
        </p:nvSpPr>
        <p:spPr>
          <a:xfrm>
            <a:off x="4800600" y="3584448"/>
            <a:ext cx="1371600" cy="512064"/>
          </a:xfrm>
          <a:prstGeom prst="rect">
            <a:avLst/>
          </a:prstGeom>
          <a:noFill/>
          <a:ln/>
        </p:spPr>
        <p:txBody>
          <a:bodyPr wrap="square" lIns="0" tIns="0" rIns="0" bIns="0" rtlCol="0" anchor="ctr"/>
          <a:lstStyle/>
          <a:p>
            <a:pPr marL="0" indent="0">
              <a:buNone/>
            </a:pPr>
            <a:r>
              <a:rPr lang="en-US" sz="900" b="1" dirty="0">
                <a:solidFill>
                  <a:srgbClr val="5E1B8E"/>
                </a:solidFill>
                <a:latin typeface="Calibri" pitchFamily="34" charset="0"/>
                <a:ea typeface="Calibri" pitchFamily="34" charset="-122"/>
                <a:cs typeface="Calibri" pitchFamily="34" charset="-120"/>
              </a:rPr>
              <a:t>WEAK INDOOR SIGNAL</a:t>
            </a:r>
            <a:endParaRPr lang="en-US" sz="900" dirty="0"/>
          </a:p>
        </p:txBody>
      </p:sp>
      <p:sp>
        <p:nvSpPr>
          <p:cNvPr id="21" name="Text 16"/>
          <p:cNvSpPr txBox="1"/>
          <p:nvPr/>
        </p:nvSpPr>
        <p:spPr>
          <a:xfrm>
            <a:off x="6126480" y="3584448"/>
            <a:ext cx="2468880" cy="512064"/>
          </a:xfrm>
          <a:prstGeom prst="rect">
            <a:avLst/>
          </a:prstGeom>
          <a:noFill/>
          <a:ln/>
        </p:spPr>
        <p:txBody>
          <a:bodyPr wrap="square" lIns="0" tIns="0" rIns="0" bIns="0" rtlCol="0" anchor="ctr"/>
          <a:lstStyle/>
          <a:p>
            <a:pPr marL="0" indent="0">
              <a:buNone/>
            </a:pPr>
            <a:r>
              <a:rPr lang="en-US" sz="950" dirty="0">
                <a:solidFill>
                  <a:srgbClr val="2A1A3A"/>
                </a:solidFill>
                <a:latin typeface="Calibri" pitchFamily="34" charset="0"/>
                <a:ea typeface="Calibri" pitchFamily="34" charset="-122"/>
                <a:cs typeface="Calibri" pitchFamily="34" charset="-120"/>
              </a:rPr>
              <a:t>Final product: store-and-forward plus manual SOS</a:t>
            </a:r>
            <a:endParaRPr lang="en-US" sz="950" dirty="0"/>
          </a:p>
        </p:txBody>
      </p:sp>
      <p:sp>
        <p:nvSpPr>
          <p:cNvPr id="22" name="Shape 17"/>
          <p:cNvSpPr/>
          <p:nvPr/>
        </p:nvSpPr>
        <p:spPr>
          <a:xfrm>
            <a:off x="4663440" y="4151376"/>
            <a:ext cx="4023360" cy="512064"/>
          </a:xfrm>
          <a:prstGeom prst="roundRect">
            <a:avLst>
              <a:gd name="adj" fmla="val 14286"/>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3" name="Text 18"/>
          <p:cNvSpPr txBox="1"/>
          <p:nvPr/>
        </p:nvSpPr>
        <p:spPr>
          <a:xfrm>
            <a:off x="4800600" y="4151376"/>
            <a:ext cx="1371600" cy="512064"/>
          </a:xfrm>
          <a:prstGeom prst="rect">
            <a:avLst/>
          </a:prstGeom>
          <a:noFill/>
          <a:ln/>
        </p:spPr>
        <p:txBody>
          <a:bodyPr wrap="square" lIns="0" tIns="0" rIns="0" bIns="0" rtlCol="0" anchor="ctr"/>
          <a:lstStyle/>
          <a:p>
            <a:pPr marL="0" indent="0">
              <a:buNone/>
            </a:pPr>
            <a:r>
              <a:rPr lang="en-US" sz="900" b="1" dirty="0">
                <a:solidFill>
                  <a:srgbClr val="5E1B8E"/>
                </a:solidFill>
                <a:latin typeface="Calibri" pitchFamily="34" charset="0"/>
                <a:ea typeface="Calibri" pitchFamily="34" charset="-122"/>
                <a:cs typeface="Calibri" pitchFamily="34" charset="-120"/>
              </a:rPr>
              <a:t>PRIVACY</a:t>
            </a:r>
            <a:endParaRPr lang="en-US" sz="900" dirty="0"/>
          </a:p>
        </p:txBody>
      </p:sp>
      <p:sp>
        <p:nvSpPr>
          <p:cNvPr id="24" name="Text 19"/>
          <p:cNvSpPr txBox="1"/>
          <p:nvPr/>
        </p:nvSpPr>
        <p:spPr>
          <a:xfrm>
            <a:off x="6126480" y="4151376"/>
            <a:ext cx="2468880" cy="512064"/>
          </a:xfrm>
          <a:prstGeom prst="rect">
            <a:avLst/>
          </a:prstGeom>
          <a:noFill/>
          <a:ln/>
        </p:spPr>
        <p:txBody>
          <a:bodyPr wrap="square" lIns="0" tIns="0" rIns="0" bIns="0" rtlCol="0" anchor="ctr"/>
          <a:lstStyle/>
          <a:p>
            <a:pPr marL="0" indent="0">
              <a:buNone/>
            </a:pPr>
            <a:r>
              <a:rPr lang="en-US" sz="950" dirty="0">
                <a:solidFill>
                  <a:srgbClr val="2A1A3A"/>
                </a:solidFill>
                <a:latin typeface="Calibri" pitchFamily="34" charset="0"/>
                <a:ea typeface="Calibri" pitchFamily="34" charset="-122"/>
                <a:cs typeface="Calibri" pitchFamily="34" charset="-120"/>
              </a:rPr>
              <a:t>Processing stays on the device until an alert is confirmed</a:t>
            </a:r>
            <a:endParaRPr lang="en-US" sz="950" dirty="0"/>
          </a:p>
        </p:txBody>
      </p:sp>
      <p:sp>
        <p:nvSpPr>
          <p:cNvPr id="25" name="Text 20"/>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26" name="Text 21"/>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E9F3"/>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5E1B8E"/>
                </a:solidFill>
                <a:latin typeface="Calibri" pitchFamily="34" charset="0"/>
                <a:ea typeface="Calibri" pitchFamily="34" charset="-122"/>
                <a:cs typeface="Calibri" pitchFamily="34" charset="-120"/>
              </a:rPr>
              <a:t>Expected impact: pilot targets, not results</a:t>
            </a:r>
            <a:endParaRPr lang="en-US" sz="2600" dirty="0"/>
          </a:p>
        </p:txBody>
      </p:sp>
      <p:sp>
        <p:nvSpPr>
          <p:cNvPr id="3" name="Shape 1"/>
          <p:cNvSpPr/>
          <p:nvPr/>
        </p:nvSpPr>
        <p:spPr>
          <a:xfrm>
            <a:off x="457200" y="896112"/>
            <a:ext cx="8229600" cy="896112"/>
          </a:xfrm>
          <a:prstGeom prst="roundRect">
            <a:avLst>
              <a:gd name="adj" fmla="val 8163"/>
            </a:avLst>
          </a:prstGeom>
          <a:solidFill>
            <a:srgbClr val="5E1B8E"/>
          </a:solidFill>
          <a:ln w="12700">
            <a:solidFill>
              <a:srgbClr val="5E1B8E"/>
            </a:solidFill>
            <a:prstDash val="solid"/>
          </a:ln>
        </p:spPr>
      </p:sp>
      <p:sp>
        <p:nvSpPr>
          <p:cNvPr id="4" name="Shape 2"/>
          <p:cNvSpPr/>
          <p:nvPr/>
        </p:nvSpPr>
        <p:spPr>
          <a:xfrm>
            <a:off x="640080" y="1033272"/>
            <a:ext cx="621792" cy="621792"/>
          </a:xfrm>
          <a:prstGeom prst="ellipse">
            <a:avLst/>
          </a:prstGeom>
          <a:solidFill>
            <a:srgbClr val="C2185B"/>
          </a:solidFill>
          <a:ln w="12700">
            <a:solidFill>
              <a:srgbClr val="C2185B"/>
            </a:solidFill>
            <a:prstDash val="solid"/>
          </a:ln>
        </p:spPr>
      </p:sp>
      <p:pic>
        <p:nvPicPr>
          <p:cNvPr id="5" name="Image 0" descr="preencoded.png"/>
          <p:cNvPicPr>
            <a:picLocks noChangeAspect="1"/>
          </p:cNvPicPr>
          <p:nvPr/>
        </p:nvPicPr>
        <p:blipFill>
          <a:blip r:embed="rId3"/>
          <a:stretch>
            <a:fillRect/>
          </a:stretch>
        </p:blipFill>
        <p:spPr>
          <a:xfrm>
            <a:off x="801746" y="1194938"/>
            <a:ext cx="298460" cy="298460"/>
          </a:xfrm>
          <a:prstGeom prst="rect">
            <a:avLst/>
          </a:prstGeom>
        </p:spPr>
      </p:pic>
      <p:sp>
        <p:nvSpPr>
          <p:cNvPr id="6" name="Text 3"/>
          <p:cNvSpPr txBox="1"/>
          <p:nvPr/>
        </p:nvSpPr>
        <p:spPr>
          <a:xfrm>
            <a:off x="1463040" y="960120"/>
            <a:ext cx="5486400" cy="182880"/>
          </a:xfrm>
          <a:prstGeom prst="rect">
            <a:avLst/>
          </a:prstGeom>
          <a:noFill/>
          <a:ln/>
        </p:spPr>
        <p:txBody>
          <a:bodyPr wrap="square" lIns="0" tIns="0" rIns="0" bIns="0" rtlCol="0" anchor="t"/>
          <a:lstStyle/>
          <a:p>
            <a:pPr marL="0" indent="0">
              <a:buNone/>
            </a:pPr>
            <a:r>
              <a:rPr lang="en-US" sz="850" b="1" dirty="0">
                <a:solidFill>
                  <a:srgbClr val="F4B6D2"/>
                </a:solidFill>
                <a:latin typeface="Calibri" pitchFamily="34" charset="0"/>
                <a:ea typeface="Calibri" pitchFamily="34" charset="-122"/>
                <a:cs typeface="Calibri" pitchFamily="34" charset="-120"/>
              </a:rPr>
              <a:t>YEAR-1 TARGET — NOT YET ACHIEVED</a:t>
            </a:r>
            <a:endParaRPr lang="en-US" sz="850" dirty="0"/>
          </a:p>
        </p:txBody>
      </p:sp>
      <p:sp>
        <p:nvSpPr>
          <p:cNvPr id="7" name="Text 4"/>
          <p:cNvSpPr txBox="1"/>
          <p:nvPr/>
        </p:nvSpPr>
        <p:spPr>
          <a:xfrm>
            <a:off x="1463040" y="1143000"/>
            <a:ext cx="7040880" cy="62179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500–2,000 devices</a:t>
            </a:r>
            <a:endParaRPr lang="en-US" sz="1200" dirty="0"/>
          </a:p>
          <a:p>
            <a:pPr marL="0" indent="0">
              <a:buNone/>
            </a:pPr>
            <a:r>
              <a:rPr lang="en-US" sz="1150" dirty="0">
                <a:solidFill>
                  <a:srgbClr val="FFFFFF"/>
                </a:solidFill>
                <a:latin typeface="Calibri" pitchFamily="34" charset="0"/>
                <a:ea typeface="Calibri" pitchFamily="34" charset="-122"/>
                <a:cs typeface="Calibri" pitchFamily="34" charset="-120"/>
              </a:rPr>
              <a:t>through college partnerships and IEEE WIE chapters</a:t>
            </a:r>
            <a:endParaRPr lang="en-US" sz="1200" dirty="0"/>
          </a:p>
        </p:txBody>
      </p:sp>
      <p:sp>
        <p:nvSpPr>
          <p:cNvPr id="8" name="Text 5"/>
          <p:cNvSpPr txBox="1"/>
          <p:nvPr/>
        </p:nvSpPr>
        <p:spPr>
          <a:xfrm>
            <a:off x="457200" y="1920240"/>
            <a:ext cx="8229600" cy="201168"/>
          </a:xfrm>
          <a:prstGeom prst="rect">
            <a:avLst/>
          </a:prstGeom>
          <a:noFill/>
          <a:ln/>
        </p:spPr>
        <p:txBody>
          <a:bodyPr wrap="square" lIns="0" tIns="0" rIns="0" bIns="0" rtlCol="0" anchor="t"/>
          <a:lstStyle/>
          <a:p>
            <a:pPr marL="0" indent="0">
              <a:buNone/>
            </a:pPr>
            <a:r>
              <a:rPr lang="en-US" sz="1050" b="1" dirty="0">
                <a:solidFill>
                  <a:srgbClr val="5E1B8E"/>
                </a:solidFill>
                <a:latin typeface="Calibri" pitchFamily="34" charset="0"/>
                <a:ea typeface="Calibri" pitchFamily="34" charset="-122"/>
                <a:cs typeface="Calibri" pitchFamily="34" charset="-120"/>
              </a:rPr>
              <a:t>PILOT KPI TARGETS — GOALS FOR THE PLANNED PILOT, NOT RESULTS</a:t>
            </a:r>
            <a:endParaRPr lang="en-US" sz="1050" dirty="0"/>
          </a:p>
        </p:txBody>
      </p:sp>
      <p:sp>
        <p:nvSpPr>
          <p:cNvPr id="9" name="Shape 6"/>
          <p:cNvSpPr/>
          <p:nvPr/>
        </p:nvSpPr>
        <p:spPr>
          <a:xfrm>
            <a:off x="457200" y="2194560"/>
            <a:ext cx="1920240"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0" name="Text 7"/>
          <p:cNvSpPr txBox="1"/>
          <p:nvPr/>
        </p:nvSpPr>
        <p:spPr>
          <a:xfrm>
            <a:off x="457200" y="2249424"/>
            <a:ext cx="1920240" cy="164592"/>
          </a:xfrm>
          <a:prstGeom prst="rect">
            <a:avLst/>
          </a:prstGeom>
          <a:noFill/>
          <a:ln/>
        </p:spPr>
        <p:txBody>
          <a:bodyPr wrap="square" lIns="0" tIns="0" rIns="0" bIns="0" rtlCol="0" anchor="t"/>
          <a:lstStyle/>
          <a:p>
            <a:pPr marL="0" indent="0" algn="ctr">
              <a:buNone/>
            </a:pPr>
            <a:r>
              <a:rPr lang="en-US" sz="800" b="1" dirty="0">
                <a:solidFill>
                  <a:srgbClr val="6B5B7B"/>
                </a:solidFill>
                <a:latin typeface="Calibri" pitchFamily="34" charset="0"/>
                <a:ea typeface="Calibri" pitchFamily="34" charset="-122"/>
                <a:cs typeface="Calibri" pitchFamily="34" charset="-120"/>
              </a:rPr>
              <a:t>TARGET</a:t>
            </a:r>
            <a:endParaRPr lang="en-US" sz="800" dirty="0"/>
          </a:p>
        </p:txBody>
      </p:sp>
      <p:sp>
        <p:nvSpPr>
          <p:cNvPr id="11" name="Text 8"/>
          <p:cNvSpPr txBox="1"/>
          <p:nvPr/>
        </p:nvSpPr>
        <p:spPr>
          <a:xfrm>
            <a:off x="457200" y="2395728"/>
            <a:ext cx="1920240" cy="502920"/>
          </a:xfrm>
          <a:prstGeom prst="rect">
            <a:avLst/>
          </a:prstGeom>
          <a:noFill/>
          <a:ln/>
        </p:spPr>
        <p:txBody>
          <a:bodyPr wrap="square" lIns="0" tIns="0" rIns="0" bIns="0" rtlCol="0" anchor="ctr"/>
          <a:lstStyle/>
          <a:p>
            <a:pPr marL="0" indent="0" algn="ctr">
              <a:buNone/>
            </a:pPr>
            <a:r>
              <a:rPr lang="en-US" sz="2800" b="1" dirty="0">
                <a:solidFill>
                  <a:srgbClr val="C2185B"/>
                </a:solidFill>
                <a:latin typeface="Calibri" pitchFamily="34" charset="0"/>
                <a:ea typeface="Calibri" pitchFamily="34" charset="-122"/>
                <a:cs typeface="Calibri" pitchFamily="34" charset="-120"/>
              </a:rPr>
              <a:t>≥ 95%</a:t>
            </a:r>
            <a:endParaRPr lang="en-US" sz="2800" dirty="0"/>
          </a:p>
        </p:txBody>
      </p:sp>
      <p:sp>
        <p:nvSpPr>
          <p:cNvPr id="12" name="Text 9"/>
          <p:cNvSpPr txBox="1"/>
          <p:nvPr/>
        </p:nvSpPr>
        <p:spPr>
          <a:xfrm>
            <a:off x="594360" y="2907792"/>
            <a:ext cx="1645920" cy="411480"/>
          </a:xfrm>
          <a:prstGeom prst="rect">
            <a:avLst/>
          </a:prstGeom>
          <a:noFill/>
          <a:ln/>
        </p:spPr>
        <p:txBody>
          <a:bodyPr wrap="square" lIns="0" tIns="0" rIns="0" bIns="0" rtlCol="0" anchor="t"/>
          <a:lstStyle/>
          <a:p>
            <a:pPr marL="0" indent="0" algn="ctr">
              <a:buNone/>
            </a:pPr>
            <a:r>
              <a:rPr lang="en-US" sz="1050" dirty="0">
                <a:solidFill>
                  <a:srgbClr val="2A1A3A"/>
                </a:solidFill>
                <a:latin typeface="Calibri" pitchFamily="34" charset="0"/>
                <a:ea typeface="Calibri" pitchFamily="34" charset="-122"/>
                <a:cs typeface="Calibri" pitchFamily="34" charset="-120"/>
              </a:rPr>
              <a:t>Alert delivery success</a:t>
            </a:r>
            <a:endParaRPr lang="en-US" sz="1050" dirty="0"/>
          </a:p>
        </p:txBody>
      </p:sp>
      <p:sp>
        <p:nvSpPr>
          <p:cNvPr id="13" name="Shape 10"/>
          <p:cNvSpPr/>
          <p:nvPr/>
        </p:nvSpPr>
        <p:spPr>
          <a:xfrm>
            <a:off x="2560320" y="2194560"/>
            <a:ext cx="1920240"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4" name="Text 11"/>
          <p:cNvSpPr txBox="1"/>
          <p:nvPr/>
        </p:nvSpPr>
        <p:spPr>
          <a:xfrm>
            <a:off x="2560320" y="2249424"/>
            <a:ext cx="1920240" cy="164592"/>
          </a:xfrm>
          <a:prstGeom prst="rect">
            <a:avLst/>
          </a:prstGeom>
          <a:noFill/>
          <a:ln/>
        </p:spPr>
        <p:txBody>
          <a:bodyPr wrap="square" lIns="0" tIns="0" rIns="0" bIns="0" rtlCol="0" anchor="t"/>
          <a:lstStyle/>
          <a:p>
            <a:pPr marL="0" indent="0" algn="ctr">
              <a:buNone/>
            </a:pPr>
            <a:r>
              <a:rPr lang="en-US" sz="800" b="1" dirty="0">
                <a:solidFill>
                  <a:srgbClr val="6B5B7B"/>
                </a:solidFill>
                <a:latin typeface="Calibri" pitchFamily="34" charset="0"/>
                <a:ea typeface="Calibri" pitchFamily="34" charset="-122"/>
                <a:cs typeface="Calibri" pitchFamily="34" charset="-120"/>
              </a:rPr>
              <a:t>TARGET</a:t>
            </a:r>
            <a:endParaRPr lang="en-US" sz="800" dirty="0"/>
          </a:p>
        </p:txBody>
      </p:sp>
      <p:sp>
        <p:nvSpPr>
          <p:cNvPr id="15" name="Text 12"/>
          <p:cNvSpPr txBox="1"/>
          <p:nvPr/>
        </p:nvSpPr>
        <p:spPr>
          <a:xfrm>
            <a:off x="2560320" y="2395728"/>
            <a:ext cx="1920240" cy="502920"/>
          </a:xfrm>
          <a:prstGeom prst="rect">
            <a:avLst/>
          </a:prstGeom>
          <a:noFill/>
          <a:ln/>
        </p:spPr>
        <p:txBody>
          <a:bodyPr wrap="square" lIns="0" tIns="0" rIns="0" bIns="0" rtlCol="0" anchor="ctr"/>
          <a:lstStyle/>
          <a:p>
            <a:pPr marL="0" indent="0" algn="ctr">
              <a:buNone/>
            </a:pPr>
            <a:r>
              <a:rPr lang="en-US" sz="2800" b="1" dirty="0">
                <a:solidFill>
                  <a:srgbClr val="C2185B"/>
                </a:solidFill>
                <a:latin typeface="Calibri" pitchFamily="34" charset="0"/>
                <a:ea typeface="Calibri" pitchFamily="34" charset="-122"/>
                <a:cs typeface="Calibri" pitchFamily="34" charset="-120"/>
              </a:rPr>
              <a:t>≤ 5%</a:t>
            </a:r>
            <a:endParaRPr lang="en-US" sz="2800" dirty="0"/>
          </a:p>
        </p:txBody>
      </p:sp>
      <p:sp>
        <p:nvSpPr>
          <p:cNvPr id="16" name="Text 13"/>
          <p:cNvSpPr txBox="1"/>
          <p:nvPr/>
        </p:nvSpPr>
        <p:spPr>
          <a:xfrm>
            <a:off x="2697480" y="2907792"/>
            <a:ext cx="1645920" cy="411480"/>
          </a:xfrm>
          <a:prstGeom prst="rect">
            <a:avLst/>
          </a:prstGeom>
          <a:noFill/>
          <a:ln/>
        </p:spPr>
        <p:txBody>
          <a:bodyPr wrap="square" lIns="0" tIns="0" rIns="0" bIns="0" rtlCol="0" anchor="t"/>
          <a:lstStyle/>
          <a:p>
            <a:pPr marL="0" indent="0" algn="ctr">
              <a:buNone/>
            </a:pPr>
            <a:r>
              <a:rPr lang="en-US" sz="1050" dirty="0">
                <a:solidFill>
                  <a:srgbClr val="2A1A3A"/>
                </a:solidFill>
                <a:latin typeface="Calibri" pitchFamily="34" charset="0"/>
                <a:ea typeface="Calibri" pitchFamily="34" charset="-122"/>
                <a:cs typeface="Calibri" pitchFamily="34" charset="-120"/>
              </a:rPr>
              <a:t>False-alarm rate after tuning</a:t>
            </a:r>
            <a:endParaRPr lang="en-US" sz="1050" dirty="0"/>
          </a:p>
        </p:txBody>
      </p:sp>
      <p:sp>
        <p:nvSpPr>
          <p:cNvPr id="17" name="Shape 14"/>
          <p:cNvSpPr/>
          <p:nvPr/>
        </p:nvSpPr>
        <p:spPr>
          <a:xfrm>
            <a:off x="4663440" y="2194560"/>
            <a:ext cx="1920240"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18" name="Text 15"/>
          <p:cNvSpPr txBox="1"/>
          <p:nvPr/>
        </p:nvSpPr>
        <p:spPr>
          <a:xfrm>
            <a:off x="4663440" y="2249424"/>
            <a:ext cx="1920240" cy="164592"/>
          </a:xfrm>
          <a:prstGeom prst="rect">
            <a:avLst/>
          </a:prstGeom>
          <a:noFill/>
          <a:ln/>
        </p:spPr>
        <p:txBody>
          <a:bodyPr wrap="square" lIns="0" tIns="0" rIns="0" bIns="0" rtlCol="0" anchor="t"/>
          <a:lstStyle/>
          <a:p>
            <a:pPr marL="0" indent="0" algn="ctr">
              <a:buNone/>
            </a:pPr>
            <a:r>
              <a:rPr lang="en-US" sz="800" b="1" dirty="0">
                <a:solidFill>
                  <a:srgbClr val="6B5B7B"/>
                </a:solidFill>
                <a:latin typeface="Calibri" pitchFamily="34" charset="0"/>
                <a:ea typeface="Calibri" pitchFamily="34" charset="-122"/>
                <a:cs typeface="Calibri" pitchFamily="34" charset="-120"/>
              </a:rPr>
              <a:t>TARGET</a:t>
            </a:r>
            <a:endParaRPr lang="en-US" sz="800" dirty="0"/>
          </a:p>
        </p:txBody>
      </p:sp>
      <p:sp>
        <p:nvSpPr>
          <p:cNvPr id="19" name="Text 16"/>
          <p:cNvSpPr txBox="1"/>
          <p:nvPr/>
        </p:nvSpPr>
        <p:spPr>
          <a:xfrm>
            <a:off x="4663440" y="2395728"/>
            <a:ext cx="1920240" cy="502920"/>
          </a:xfrm>
          <a:prstGeom prst="rect">
            <a:avLst/>
          </a:prstGeom>
          <a:noFill/>
          <a:ln/>
        </p:spPr>
        <p:txBody>
          <a:bodyPr wrap="square" lIns="0" tIns="0" rIns="0" bIns="0" rtlCol="0" anchor="ctr"/>
          <a:lstStyle/>
          <a:p>
            <a:pPr marL="0" indent="0" algn="ctr">
              <a:buNone/>
            </a:pPr>
            <a:r>
              <a:rPr lang="en-US" sz="2800" b="1" dirty="0">
                <a:solidFill>
                  <a:srgbClr val="C2185B"/>
                </a:solidFill>
                <a:latin typeface="Calibri" pitchFamily="34" charset="0"/>
                <a:ea typeface="Calibri" pitchFamily="34" charset="-122"/>
                <a:cs typeface="Calibri" pitchFamily="34" charset="-120"/>
              </a:rPr>
              <a:t>&lt; 15 s</a:t>
            </a:r>
            <a:endParaRPr lang="en-US" sz="2800" dirty="0"/>
          </a:p>
        </p:txBody>
      </p:sp>
      <p:sp>
        <p:nvSpPr>
          <p:cNvPr id="20" name="Text 17"/>
          <p:cNvSpPr txBox="1"/>
          <p:nvPr/>
        </p:nvSpPr>
        <p:spPr>
          <a:xfrm>
            <a:off x="4800600" y="2907792"/>
            <a:ext cx="1645920" cy="411480"/>
          </a:xfrm>
          <a:prstGeom prst="rect">
            <a:avLst/>
          </a:prstGeom>
          <a:noFill/>
          <a:ln/>
        </p:spPr>
        <p:txBody>
          <a:bodyPr wrap="square" lIns="0" tIns="0" rIns="0" bIns="0" rtlCol="0" anchor="t"/>
          <a:lstStyle/>
          <a:p>
            <a:pPr marL="0" indent="0" algn="ctr">
              <a:buNone/>
            </a:pPr>
            <a:r>
              <a:rPr lang="en-US" sz="1050" dirty="0">
                <a:solidFill>
                  <a:srgbClr val="2A1A3A"/>
                </a:solidFill>
                <a:latin typeface="Calibri" pitchFamily="34" charset="0"/>
                <a:ea typeface="Calibri" pitchFamily="34" charset="-122"/>
                <a:cs typeface="Calibri" pitchFamily="34" charset="-120"/>
              </a:rPr>
              <a:t>Trigger to SOS received (GSM version)</a:t>
            </a:r>
            <a:endParaRPr lang="en-US" sz="1050" dirty="0"/>
          </a:p>
        </p:txBody>
      </p:sp>
      <p:sp>
        <p:nvSpPr>
          <p:cNvPr id="21" name="Shape 18"/>
          <p:cNvSpPr/>
          <p:nvPr/>
        </p:nvSpPr>
        <p:spPr>
          <a:xfrm>
            <a:off x="6766560" y="2194560"/>
            <a:ext cx="1920240" cy="1188720"/>
          </a:xfrm>
          <a:prstGeom prst="roundRect">
            <a:avLst>
              <a:gd name="adj" fmla="val 6154"/>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2" name="Text 19"/>
          <p:cNvSpPr txBox="1"/>
          <p:nvPr/>
        </p:nvSpPr>
        <p:spPr>
          <a:xfrm>
            <a:off x="6766560" y="2249424"/>
            <a:ext cx="1920240" cy="164592"/>
          </a:xfrm>
          <a:prstGeom prst="rect">
            <a:avLst/>
          </a:prstGeom>
          <a:noFill/>
          <a:ln/>
        </p:spPr>
        <p:txBody>
          <a:bodyPr wrap="square" lIns="0" tIns="0" rIns="0" bIns="0" rtlCol="0" anchor="t"/>
          <a:lstStyle/>
          <a:p>
            <a:pPr marL="0" indent="0" algn="ctr">
              <a:buNone/>
            </a:pPr>
            <a:r>
              <a:rPr lang="en-US" sz="800" b="1" dirty="0">
                <a:solidFill>
                  <a:srgbClr val="6B5B7B"/>
                </a:solidFill>
                <a:latin typeface="Calibri" pitchFamily="34" charset="0"/>
                <a:ea typeface="Calibri" pitchFamily="34" charset="-122"/>
                <a:cs typeface="Calibri" pitchFamily="34" charset="-120"/>
              </a:rPr>
              <a:t>TARGET</a:t>
            </a:r>
            <a:endParaRPr lang="en-US" sz="800" dirty="0"/>
          </a:p>
        </p:txBody>
      </p:sp>
      <p:sp>
        <p:nvSpPr>
          <p:cNvPr id="23" name="Text 20"/>
          <p:cNvSpPr txBox="1"/>
          <p:nvPr/>
        </p:nvSpPr>
        <p:spPr>
          <a:xfrm>
            <a:off x="6766560" y="2395728"/>
            <a:ext cx="1920240" cy="502920"/>
          </a:xfrm>
          <a:prstGeom prst="rect">
            <a:avLst/>
          </a:prstGeom>
          <a:noFill/>
          <a:ln/>
        </p:spPr>
        <p:txBody>
          <a:bodyPr wrap="square" lIns="0" tIns="0" rIns="0" bIns="0" rtlCol="0" anchor="ctr"/>
          <a:lstStyle/>
          <a:p>
            <a:pPr marL="0" indent="0" algn="ctr">
              <a:buNone/>
            </a:pPr>
            <a:r>
              <a:rPr lang="en-US" sz="2800" b="1" dirty="0">
                <a:solidFill>
                  <a:srgbClr val="C2185B"/>
                </a:solidFill>
                <a:latin typeface="Calibri" pitchFamily="34" charset="0"/>
                <a:ea typeface="Calibri" pitchFamily="34" charset="-122"/>
                <a:cs typeface="Calibri" pitchFamily="34" charset="-120"/>
              </a:rPr>
              <a:t>≥ 70%</a:t>
            </a:r>
            <a:endParaRPr lang="en-US" sz="2800" dirty="0"/>
          </a:p>
        </p:txBody>
      </p:sp>
      <p:sp>
        <p:nvSpPr>
          <p:cNvPr id="24" name="Text 21"/>
          <p:cNvSpPr txBox="1"/>
          <p:nvPr/>
        </p:nvSpPr>
        <p:spPr>
          <a:xfrm>
            <a:off x="6903720" y="2907792"/>
            <a:ext cx="1645920" cy="411480"/>
          </a:xfrm>
          <a:prstGeom prst="rect">
            <a:avLst/>
          </a:prstGeom>
          <a:noFill/>
          <a:ln/>
        </p:spPr>
        <p:txBody>
          <a:bodyPr wrap="square" lIns="0" tIns="0" rIns="0" bIns="0" rtlCol="0" anchor="t"/>
          <a:lstStyle/>
          <a:p>
            <a:pPr marL="0" indent="0" algn="ctr">
              <a:buNone/>
            </a:pPr>
            <a:r>
              <a:rPr lang="en-US" sz="1050" dirty="0">
                <a:solidFill>
                  <a:srgbClr val="2A1A3A"/>
                </a:solidFill>
                <a:latin typeface="Calibri" pitchFamily="34" charset="0"/>
                <a:ea typeface="Calibri" pitchFamily="34" charset="-122"/>
                <a:cs typeface="Calibri" pitchFamily="34" charset="-120"/>
              </a:rPr>
              <a:t>Daily wear compliance</a:t>
            </a:r>
            <a:endParaRPr lang="en-US" sz="1050" dirty="0"/>
          </a:p>
        </p:txBody>
      </p:sp>
      <p:sp>
        <p:nvSpPr>
          <p:cNvPr id="25" name="Shape 22"/>
          <p:cNvSpPr/>
          <p:nvPr/>
        </p:nvSpPr>
        <p:spPr>
          <a:xfrm>
            <a:off x="457200" y="3547872"/>
            <a:ext cx="4023360" cy="1115568"/>
          </a:xfrm>
          <a:prstGeom prst="roundRect">
            <a:avLst>
              <a:gd name="adj" fmla="val 6557"/>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6" name="Shape 23"/>
          <p:cNvSpPr/>
          <p:nvPr/>
        </p:nvSpPr>
        <p:spPr>
          <a:xfrm>
            <a:off x="4663440" y="3547872"/>
            <a:ext cx="4023360" cy="1115568"/>
          </a:xfrm>
          <a:prstGeom prst="roundRect">
            <a:avLst>
              <a:gd name="adj" fmla="val 6557"/>
            </a:avLst>
          </a:prstGeom>
          <a:solidFill>
            <a:srgbClr val="FFFFFF"/>
          </a:solidFill>
          <a:ln w="9525">
            <a:solidFill>
              <a:srgbClr val="D9C3EA"/>
            </a:solidFill>
            <a:prstDash val="solid"/>
          </a:ln>
          <a:effectLst>
            <a:outerShdw blurRad="76200" dist="25400" dir="5400000" algn="bl" rotWithShape="0">
              <a:srgbClr val="000000">
                <a:alpha val="12000"/>
              </a:srgbClr>
            </a:outerShdw>
          </a:effectLst>
        </p:spPr>
      </p:sp>
      <p:sp>
        <p:nvSpPr>
          <p:cNvPr id="27" name="Shape 24"/>
          <p:cNvSpPr/>
          <p:nvPr/>
        </p:nvSpPr>
        <p:spPr>
          <a:xfrm>
            <a:off x="621792" y="3813048"/>
            <a:ext cx="548640" cy="548640"/>
          </a:xfrm>
          <a:prstGeom prst="ellipse">
            <a:avLst/>
          </a:prstGeom>
          <a:solidFill>
            <a:srgbClr val="5E1B8E"/>
          </a:solidFill>
          <a:ln w="12700">
            <a:solidFill>
              <a:srgbClr val="5E1B8E"/>
            </a:solidFill>
            <a:prstDash val="solid"/>
          </a:ln>
        </p:spPr>
      </p:sp>
      <p:pic>
        <p:nvPicPr>
          <p:cNvPr id="28" name="Image 1" descr="preencoded.png"/>
          <p:cNvPicPr>
            <a:picLocks noChangeAspect="1"/>
          </p:cNvPicPr>
          <p:nvPr/>
        </p:nvPicPr>
        <p:blipFill>
          <a:blip r:embed="rId4"/>
          <a:stretch>
            <a:fillRect/>
          </a:stretch>
        </p:blipFill>
        <p:spPr>
          <a:xfrm>
            <a:off x="764438" y="3955694"/>
            <a:ext cx="263347" cy="263347"/>
          </a:xfrm>
          <a:prstGeom prst="rect">
            <a:avLst/>
          </a:prstGeom>
        </p:spPr>
      </p:pic>
      <p:sp>
        <p:nvSpPr>
          <p:cNvPr id="29" name="Shape 25"/>
          <p:cNvSpPr/>
          <p:nvPr/>
        </p:nvSpPr>
        <p:spPr>
          <a:xfrm>
            <a:off x="4828032" y="3813048"/>
            <a:ext cx="548640" cy="548640"/>
          </a:xfrm>
          <a:prstGeom prst="ellipse">
            <a:avLst/>
          </a:prstGeom>
          <a:solidFill>
            <a:srgbClr val="C2185B"/>
          </a:solidFill>
          <a:ln w="12700">
            <a:solidFill>
              <a:srgbClr val="C2185B"/>
            </a:solidFill>
            <a:prstDash val="solid"/>
          </a:ln>
        </p:spPr>
      </p:sp>
      <p:pic>
        <p:nvPicPr>
          <p:cNvPr id="30" name="Image 2" descr="preencoded.png"/>
          <p:cNvPicPr>
            <a:picLocks noChangeAspect="1"/>
          </p:cNvPicPr>
          <p:nvPr/>
        </p:nvPicPr>
        <p:blipFill>
          <a:blip r:embed="rId5"/>
          <a:stretch>
            <a:fillRect/>
          </a:stretch>
        </p:blipFill>
        <p:spPr>
          <a:xfrm>
            <a:off x="4970678" y="3955694"/>
            <a:ext cx="263347" cy="263347"/>
          </a:xfrm>
          <a:prstGeom prst="rect">
            <a:avLst/>
          </a:prstGeom>
        </p:spPr>
      </p:pic>
      <p:sp>
        <p:nvSpPr>
          <p:cNvPr id="31" name="Text 26"/>
          <p:cNvSpPr txBox="1"/>
          <p:nvPr/>
        </p:nvSpPr>
        <p:spPr>
          <a:xfrm>
            <a:off x="1371600" y="3547872"/>
            <a:ext cx="3017520" cy="1115568"/>
          </a:xfrm>
          <a:prstGeom prst="rect">
            <a:avLst/>
          </a:prstGeom>
          <a:noFill/>
          <a:ln/>
        </p:spPr>
        <p:txBody>
          <a:bodyPr wrap="square" lIns="0" tIns="0" rIns="0" bIns="0" rtlCol="0" anchor="ctr"/>
          <a:lstStyle/>
          <a:p>
            <a:pPr marL="0" indent="0">
              <a:buNone/>
            </a:pPr>
            <a:r>
              <a:rPr lang="en-US" sz="1100" b="1" dirty="0">
                <a:solidFill>
                  <a:srgbClr val="5E1B8E"/>
                </a:solidFill>
                <a:latin typeface="Calibri" pitchFamily="34" charset="0"/>
                <a:ea typeface="Calibri" pitchFamily="34" charset="-122"/>
                <a:cs typeface="Calibri" pitchFamily="34" charset="-120"/>
              </a:rPr>
              <a:t>INCLUSION</a:t>
            </a:r>
            <a:endParaRPr lang="en-US" sz="1150" dirty="0"/>
          </a:p>
          <a:p>
            <a:pPr marL="0" indent="0">
              <a:buNone/>
            </a:pPr>
            <a:r>
              <a:rPr lang="en-US" sz="1150" dirty="0">
                <a:solidFill>
                  <a:srgbClr val="2A1A3A"/>
                </a:solidFill>
                <a:latin typeface="Calibri" pitchFamily="34" charset="0"/>
                <a:ea typeface="Calibri" pitchFamily="34" charset="-122"/>
                <a:cs typeface="Calibri" pitchFamily="34" charset="-120"/>
              </a:rPr>
              <a:t>Removes a real barrier to women’s education, work and public life.</a:t>
            </a:r>
            <a:endParaRPr lang="en-US" sz="1150" dirty="0"/>
          </a:p>
        </p:txBody>
      </p:sp>
      <p:sp>
        <p:nvSpPr>
          <p:cNvPr id="32" name="Text 27"/>
          <p:cNvSpPr txBox="1"/>
          <p:nvPr/>
        </p:nvSpPr>
        <p:spPr>
          <a:xfrm>
            <a:off x="5577840" y="3547872"/>
            <a:ext cx="3017520" cy="1115568"/>
          </a:xfrm>
          <a:prstGeom prst="rect">
            <a:avLst/>
          </a:prstGeom>
          <a:noFill/>
          <a:ln/>
        </p:spPr>
        <p:txBody>
          <a:bodyPr wrap="square" lIns="0" tIns="0" rIns="0" bIns="0" rtlCol="0" anchor="ctr"/>
          <a:lstStyle/>
          <a:p>
            <a:pPr marL="0" indent="0">
              <a:buNone/>
            </a:pPr>
            <a:r>
              <a:rPr lang="en-US" sz="1100" b="1" dirty="0">
                <a:solidFill>
                  <a:srgbClr val="5E1B8E"/>
                </a:solidFill>
                <a:latin typeface="Calibri" pitchFamily="34" charset="0"/>
                <a:ea typeface="Calibri" pitchFamily="34" charset="-122"/>
                <a:cs typeface="Calibri" pitchFamily="34" charset="-120"/>
              </a:rPr>
              <a:t>SUSTAINABILITY</a:t>
            </a:r>
            <a:endParaRPr lang="en-US" sz="1150" dirty="0"/>
          </a:p>
          <a:p>
            <a:pPr marL="0" indent="0">
              <a:buNone/>
            </a:pPr>
            <a:r>
              <a:rPr lang="en-US" sz="1150" dirty="0">
                <a:solidFill>
                  <a:srgbClr val="2A1A3A"/>
                </a:solidFill>
                <a:latin typeface="Calibri" pitchFamily="34" charset="0"/>
                <a:ea typeface="Calibri" pitchFamily="34" charset="-122"/>
                <a:cs typeface="Calibri" pitchFamily="34" charset="-120"/>
              </a:rPr>
              <a:t>Low-power, repairable, modular hardware with no cloud dependency.</a:t>
            </a:r>
            <a:endParaRPr lang="en-US" sz="1150" dirty="0"/>
          </a:p>
        </p:txBody>
      </p:sp>
      <p:sp>
        <p:nvSpPr>
          <p:cNvPr id="33" name="Text 28"/>
          <p:cNvSpPr txBox="1"/>
          <p:nvPr/>
        </p:nvSpPr>
        <p:spPr>
          <a:xfrm>
            <a:off x="457200" y="4864608"/>
            <a:ext cx="5486400" cy="182880"/>
          </a:xfrm>
          <a:prstGeom prst="rect">
            <a:avLst/>
          </a:prstGeom>
          <a:noFill/>
          <a:ln/>
        </p:spPr>
        <p:txBody>
          <a:bodyPr wrap="square" lIns="0" tIns="0" rIns="0" bIns="0" rtlCol="0" anchor="t"/>
          <a:lstStyle/>
          <a:p>
            <a:pPr marL="0" indent="0">
              <a:buNone/>
            </a:pPr>
            <a:r>
              <a:rPr lang="en-US" sz="900" dirty="0">
                <a:solidFill>
                  <a:srgbClr val="6B5B7B"/>
                </a:solidFill>
                <a:latin typeface="Calibri" pitchFamily="34" charset="0"/>
                <a:ea typeface="Calibri" pitchFamily="34" charset="-122"/>
                <a:cs typeface="Calibri" pitchFamily="34" charset="-120"/>
              </a:rPr>
              <a:t>IEEE WIE ILS 2026 · Hack Monster’z · SheShield</a:t>
            </a:r>
            <a:endParaRPr lang="en-US" sz="900" dirty="0"/>
          </a:p>
        </p:txBody>
      </p:sp>
      <p:sp>
        <p:nvSpPr>
          <p:cNvPr id="34" name="Text 29"/>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6B5B7B"/>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F0F66"/>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SheShield acts when she cannot.</a:t>
            </a:r>
            <a:endParaRPr lang="en-US" sz="3200" dirty="0"/>
          </a:p>
        </p:txBody>
      </p:sp>
      <p:sp>
        <p:nvSpPr>
          <p:cNvPr id="3" name="Text 1"/>
          <p:cNvSpPr txBox="1"/>
          <p:nvPr/>
        </p:nvSpPr>
        <p:spPr>
          <a:xfrm>
            <a:off x="457200" y="868680"/>
            <a:ext cx="8229600" cy="228600"/>
          </a:xfrm>
          <a:prstGeom prst="rect">
            <a:avLst/>
          </a:prstGeom>
          <a:noFill/>
          <a:ln/>
        </p:spPr>
        <p:txBody>
          <a:bodyPr wrap="square" lIns="0" tIns="0" rIns="0" bIns="0" rtlCol="0" anchor="t"/>
          <a:lstStyle/>
          <a:p>
            <a:pPr marL="0" indent="0">
              <a:buNone/>
            </a:pPr>
            <a:r>
              <a:rPr lang="en-US" sz="1100" b="1" kern="0" spc="300" dirty="0">
                <a:solidFill>
                  <a:srgbClr val="F4B6D2"/>
                </a:solidFill>
                <a:latin typeface="Calibri" pitchFamily="34" charset="0"/>
                <a:ea typeface="Calibri" pitchFamily="34" charset="-122"/>
                <a:cs typeface="Calibri" pitchFamily="34" charset="-120"/>
              </a:rPr>
              <a:t>DETECT  ·  DECIDE  ·  PROTECT</a:t>
            </a:r>
            <a:endParaRPr lang="en-US" sz="1100" dirty="0"/>
          </a:p>
        </p:txBody>
      </p:sp>
      <p:sp>
        <p:nvSpPr>
          <p:cNvPr id="4" name="Shape 2"/>
          <p:cNvSpPr/>
          <p:nvPr/>
        </p:nvSpPr>
        <p:spPr>
          <a:xfrm>
            <a:off x="457200" y="1280160"/>
            <a:ext cx="2606040" cy="1417320"/>
          </a:xfrm>
          <a:prstGeom prst="roundRect">
            <a:avLst>
              <a:gd name="adj" fmla="val 5161"/>
            </a:avLst>
          </a:prstGeom>
          <a:solidFill>
            <a:srgbClr val="5E1B8E"/>
          </a:solidFill>
          <a:ln w="12700">
            <a:solidFill>
              <a:srgbClr val="5E1B8E"/>
            </a:solidFill>
            <a:prstDash val="solid"/>
          </a:ln>
        </p:spPr>
      </p:sp>
      <p:sp>
        <p:nvSpPr>
          <p:cNvPr id="5" name="Shape 3"/>
          <p:cNvSpPr/>
          <p:nvPr/>
        </p:nvSpPr>
        <p:spPr>
          <a:xfrm>
            <a:off x="640080" y="1389888"/>
            <a:ext cx="502920" cy="502920"/>
          </a:xfrm>
          <a:prstGeom prst="ellipse">
            <a:avLst/>
          </a:prstGeom>
          <a:solidFill>
            <a:srgbClr val="C2185B"/>
          </a:solidFill>
          <a:ln w="12700">
            <a:solidFill>
              <a:srgbClr val="C2185B"/>
            </a:solidFill>
            <a:prstDash val="solid"/>
          </a:ln>
        </p:spPr>
      </p:sp>
      <p:pic>
        <p:nvPicPr>
          <p:cNvPr id="6" name="Image 0" descr="preencoded.png"/>
          <p:cNvPicPr>
            <a:picLocks noChangeAspect="1"/>
          </p:cNvPicPr>
          <p:nvPr/>
        </p:nvPicPr>
        <p:blipFill>
          <a:blip r:embed="rId3"/>
          <a:stretch>
            <a:fillRect/>
          </a:stretch>
        </p:blipFill>
        <p:spPr>
          <a:xfrm>
            <a:off x="770839" y="1520647"/>
            <a:ext cx="241402" cy="241402"/>
          </a:xfrm>
          <a:prstGeom prst="rect">
            <a:avLst/>
          </a:prstGeom>
        </p:spPr>
      </p:pic>
      <p:sp>
        <p:nvSpPr>
          <p:cNvPr id="7" name="Text 4"/>
          <p:cNvSpPr txBox="1"/>
          <p:nvPr/>
        </p:nvSpPr>
        <p:spPr>
          <a:xfrm>
            <a:off x="1280160" y="1389888"/>
            <a:ext cx="164592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DETECT</a:t>
            </a:r>
            <a:endParaRPr lang="en-US" sz="1500" dirty="0"/>
          </a:p>
        </p:txBody>
      </p:sp>
      <p:sp>
        <p:nvSpPr>
          <p:cNvPr id="8" name="Text 5"/>
          <p:cNvSpPr txBox="1"/>
          <p:nvPr/>
        </p:nvSpPr>
        <p:spPr>
          <a:xfrm>
            <a:off x="640080" y="2011680"/>
            <a:ext cx="2286000" cy="640080"/>
          </a:xfrm>
          <a:prstGeom prst="rect">
            <a:avLst/>
          </a:prstGeom>
          <a:noFill/>
          <a:ln/>
        </p:spPr>
        <p:txBody>
          <a:bodyPr wrap="square" lIns="0" tIns="0" rIns="0" bIns="0" rtlCol="0" anchor="t"/>
          <a:lstStyle/>
          <a:p>
            <a:pPr marL="0" indent="0">
              <a:buNone/>
            </a:pPr>
            <a:r>
              <a:rPr lang="en-US" sz="1150" dirty="0">
                <a:solidFill>
                  <a:srgbClr val="EAD6F6"/>
                </a:solidFill>
                <a:latin typeface="Calibri" pitchFamily="34" charset="0"/>
                <a:ea typeface="Calibri" pitchFamily="34" charset="-122"/>
                <a:cs typeface="Calibri" pitchFamily="34" charset="-120"/>
              </a:rPr>
              <a:t>Heart-rate + motion, no button press needed</a:t>
            </a:r>
            <a:endParaRPr lang="en-US" sz="1150" dirty="0"/>
          </a:p>
        </p:txBody>
      </p:sp>
      <p:sp>
        <p:nvSpPr>
          <p:cNvPr id="9" name="Shape 6"/>
          <p:cNvSpPr/>
          <p:nvPr/>
        </p:nvSpPr>
        <p:spPr>
          <a:xfrm>
            <a:off x="3246120" y="1280160"/>
            <a:ext cx="2606040" cy="1417320"/>
          </a:xfrm>
          <a:prstGeom prst="roundRect">
            <a:avLst>
              <a:gd name="adj" fmla="val 5161"/>
            </a:avLst>
          </a:prstGeom>
          <a:solidFill>
            <a:srgbClr val="5E1B8E"/>
          </a:solidFill>
          <a:ln w="12700">
            <a:solidFill>
              <a:srgbClr val="5E1B8E"/>
            </a:solidFill>
            <a:prstDash val="solid"/>
          </a:ln>
        </p:spPr>
      </p:sp>
      <p:sp>
        <p:nvSpPr>
          <p:cNvPr id="10" name="Shape 7"/>
          <p:cNvSpPr/>
          <p:nvPr/>
        </p:nvSpPr>
        <p:spPr>
          <a:xfrm>
            <a:off x="3429000" y="1389888"/>
            <a:ext cx="502920" cy="502920"/>
          </a:xfrm>
          <a:prstGeom prst="ellipse">
            <a:avLst/>
          </a:prstGeom>
          <a:solidFill>
            <a:srgbClr val="C2185B"/>
          </a:solidFill>
          <a:ln w="12700">
            <a:solidFill>
              <a:srgbClr val="C2185B"/>
            </a:solidFill>
            <a:prstDash val="solid"/>
          </a:ln>
        </p:spPr>
      </p:sp>
      <p:pic>
        <p:nvPicPr>
          <p:cNvPr id="11" name="Image 1" descr="preencoded.png"/>
          <p:cNvPicPr>
            <a:picLocks noChangeAspect="1"/>
          </p:cNvPicPr>
          <p:nvPr/>
        </p:nvPicPr>
        <p:blipFill>
          <a:blip r:embed="rId4"/>
          <a:stretch>
            <a:fillRect/>
          </a:stretch>
        </p:blipFill>
        <p:spPr>
          <a:xfrm>
            <a:off x="3559759" y="1520647"/>
            <a:ext cx="241402" cy="241402"/>
          </a:xfrm>
          <a:prstGeom prst="rect">
            <a:avLst/>
          </a:prstGeom>
        </p:spPr>
      </p:pic>
      <p:sp>
        <p:nvSpPr>
          <p:cNvPr id="12" name="Text 8"/>
          <p:cNvSpPr txBox="1"/>
          <p:nvPr/>
        </p:nvSpPr>
        <p:spPr>
          <a:xfrm>
            <a:off x="4069080" y="1389888"/>
            <a:ext cx="164592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DECIDE</a:t>
            </a:r>
            <a:endParaRPr lang="en-US" sz="1500" dirty="0"/>
          </a:p>
        </p:txBody>
      </p:sp>
      <p:sp>
        <p:nvSpPr>
          <p:cNvPr id="13" name="Text 9"/>
          <p:cNvSpPr txBox="1"/>
          <p:nvPr/>
        </p:nvSpPr>
        <p:spPr>
          <a:xfrm>
            <a:off x="3429000" y="2011680"/>
            <a:ext cx="2286000" cy="640080"/>
          </a:xfrm>
          <a:prstGeom prst="rect">
            <a:avLst/>
          </a:prstGeom>
          <a:noFill/>
          <a:ln/>
        </p:spPr>
        <p:txBody>
          <a:bodyPr wrap="square" lIns="0" tIns="0" rIns="0" bIns="0" rtlCol="0" anchor="t"/>
          <a:lstStyle/>
          <a:p>
            <a:pPr marL="0" indent="0">
              <a:buNone/>
            </a:pPr>
            <a:r>
              <a:rPr lang="en-US" sz="1150" dirty="0">
                <a:solidFill>
                  <a:srgbClr val="EAD6F6"/>
                </a:solidFill>
                <a:latin typeface="Calibri" pitchFamily="34" charset="0"/>
                <a:ea typeface="Calibri" pitchFamily="34" charset="-122"/>
                <a:cs typeface="Calibri" pitchFamily="34" charset="-120"/>
              </a:rPr>
              <a:t>Explainable 0–100 confidence score, trigger at 70</a:t>
            </a:r>
            <a:endParaRPr lang="en-US" sz="1150" dirty="0"/>
          </a:p>
        </p:txBody>
      </p:sp>
      <p:sp>
        <p:nvSpPr>
          <p:cNvPr id="14" name="Shape 10"/>
          <p:cNvSpPr/>
          <p:nvPr/>
        </p:nvSpPr>
        <p:spPr>
          <a:xfrm>
            <a:off x="6035040" y="1280160"/>
            <a:ext cx="2606040" cy="1417320"/>
          </a:xfrm>
          <a:prstGeom prst="roundRect">
            <a:avLst>
              <a:gd name="adj" fmla="val 5161"/>
            </a:avLst>
          </a:prstGeom>
          <a:solidFill>
            <a:srgbClr val="5E1B8E"/>
          </a:solidFill>
          <a:ln w="12700">
            <a:solidFill>
              <a:srgbClr val="5E1B8E"/>
            </a:solidFill>
            <a:prstDash val="solid"/>
          </a:ln>
        </p:spPr>
      </p:sp>
      <p:sp>
        <p:nvSpPr>
          <p:cNvPr id="15" name="Shape 11"/>
          <p:cNvSpPr/>
          <p:nvPr/>
        </p:nvSpPr>
        <p:spPr>
          <a:xfrm>
            <a:off x="6217920" y="1389888"/>
            <a:ext cx="502920" cy="502920"/>
          </a:xfrm>
          <a:prstGeom prst="ellipse">
            <a:avLst/>
          </a:prstGeom>
          <a:solidFill>
            <a:srgbClr val="C2185B"/>
          </a:solidFill>
          <a:ln w="12700">
            <a:solidFill>
              <a:srgbClr val="C2185B"/>
            </a:solidFill>
            <a:prstDash val="solid"/>
          </a:ln>
        </p:spPr>
      </p:sp>
      <p:pic>
        <p:nvPicPr>
          <p:cNvPr id="16" name="Image 2" descr="preencoded.png"/>
          <p:cNvPicPr>
            <a:picLocks noChangeAspect="1"/>
          </p:cNvPicPr>
          <p:nvPr/>
        </p:nvPicPr>
        <p:blipFill>
          <a:blip r:embed="rId5"/>
          <a:stretch>
            <a:fillRect/>
          </a:stretch>
        </p:blipFill>
        <p:spPr>
          <a:xfrm>
            <a:off x="6348679" y="1520647"/>
            <a:ext cx="241402" cy="241402"/>
          </a:xfrm>
          <a:prstGeom prst="rect">
            <a:avLst/>
          </a:prstGeom>
        </p:spPr>
      </p:pic>
      <p:sp>
        <p:nvSpPr>
          <p:cNvPr id="17" name="Text 12"/>
          <p:cNvSpPr txBox="1"/>
          <p:nvPr/>
        </p:nvSpPr>
        <p:spPr>
          <a:xfrm>
            <a:off x="6858000" y="1389888"/>
            <a:ext cx="164592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PROTECT</a:t>
            </a:r>
            <a:endParaRPr lang="en-US" sz="1500" dirty="0"/>
          </a:p>
        </p:txBody>
      </p:sp>
      <p:sp>
        <p:nvSpPr>
          <p:cNvPr id="18" name="Text 13"/>
          <p:cNvSpPr txBox="1"/>
          <p:nvPr/>
        </p:nvSpPr>
        <p:spPr>
          <a:xfrm>
            <a:off x="6217920" y="2011680"/>
            <a:ext cx="2286000" cy="640080"/>
          </a:xfrm>
          <a:prstGeom prst="rect">
            <a:avLst/>
          </a:prstGeom>
          <a:noFill/>
          <a:ln/>
        </p:spPr>
        <p:txBody>
          <a:bodyPr wrap="square" lIns="0" tIns="0" rIns="0" bIns="0" rtlCol="0" anchor="t"/>
          <a:lstStyle/>
          <a:p>
            <a:pPr marL="0" indent="0">
              <a:buNone/>
            </a:pPr>
            <a:r>
              <a:rPr lang="en-US" sz="1150" dirty="0">
                <a:solidFill>
                  <a:srgbClr val="EAD6F6"/>
                </a:solidFill>
                <a:latin typeface="Calibri" pitchFamily="34" charset="0"/>
                <a:ea typeface="Calibri" pitchFamily="34" charset="-122"/>
                <a:cs typeface="Calibri" pitchFamily="34" charset="-120"/>
              </a:rPr>
              <a:t>8-second cancel window, then SOS. Long-press = instant SOS</a:t>
            </a:r>
            <a:endParaRPr lang="en-US" sz="1150" dirty="0"/>
          </a:p>
        </p:txBody>
      </p:sp>
      <p:sp>
        <p:nvSpPr>
          <p:cNvPr id="19" name="Shape 14"/>
          <p:cNvSpPr/>
          <p:nvPr/>
        </p:nvSpPr>
        <p:spPr>
          <a:xfrm>
            <a:off x="457200" y="2834640"/>
            <a:ext cx="4023360" cy="566928"/>
          </a:xfrm>
          <a:prstGeom prst="roundRect">
            <a:avLst>
              <a:gd name="adj" fmla="val 12903"/>
            </a:avLst>
          </a:prstGeom>
          <a:solidFill>
            <a:srgbClr val="54207F"/>
          </a:solidFill>
          <a:ln w="12700">
            <a:solidFill>
              <a:srgbClr val="54207F"/>
            </a:solidFill>
            <a:prstDash val="solid"/>
          </a:ln>
        </p:spPr>
      </p:sp>
      <p:sp>
        <p:nvSpPr>
          <p:cNvPr id="20" name="Text 15"/>
          <p:cNvSpPr txBox="1"/>
          <p:nvPr/>
        </p:nvSpPr>
        <p:spPr>
          <a:xfrm>
            <a:off x="640080" y="2834640"/>
            <a:ext cx="3703320" cy="566928"/>
          </a:xfrm>
          <a:prstGeom prst="rect">
            <a:avLst/>
          </a:prstGeom>
          <a:noFill/>
          <a:ln/>
        </p:spPr>
        <p:txBody>
          <a:bodyPr wrap="square" lIns="0" tIns="0" rIns="0" bIns="0" rtlCol="0" anchor="ctr"/>
          <a:lstStyle/>
          <a:p>
            <a:pPr marL="0" indent="0">
              <a:buNone/>
            </a:pPr>
            <a:r>
              <a:rPr lang="en-US" sz="850" b="1" dirty="0">
                <a:solidFill>
                  <a:srgbClr val="F4B6D2"/>
                </a:solidFill>
                <a:latin typeface="Calibri" pitchFamily="34" charset="0"/>
                <a:ea typeface="Calibri" pitchFamily="34" charset="-122"/>
                <a:cs typeface="Calibri" pitchFamily="34" charset="-120"/>
              </a:rPr>
              <a:t>WORKING TODAY</a:t>
            </a:r>
            <a:endParaRPr lang="en-US" sz="1200" dirty="0"/>
          </a:p>
          <a:p>
            <a:pPr marL="0" indent="0">
              <a:buNone/>
            </a:pPr>
            <a:r>
              <a:rPr lang="en-US" sz="1100" dirty="0">
                <a:solidFill>
                  <a:srgbClr val="FFFFFF"/>
                </a:solidFill>
                <a:latin typeface="Calibri" pitchFamily="34" charset="0"/>
                <a:ea typeface="Calibri" pitchFamily="34" charset="-122"/>
                <a:cs typeface="Calibri" pitchFamily="34" charset="-120"/>
              </a:rPr>
              <a:t>Prototype ≈ ₹900–1,400, bench-tested, Telegram SOS + live GPS</a:t>
            </a:r>
            <a:endParaRPr lang="en-US" sz="1200" dirty="0"/>
          </a:p>
        </p:txBody>
      </p:sp>
      <p:sp>
        <p:nvSpPr>
          <p:cNvPr id="21" name="Shape 16"/>
          <p:cNvSpPr/>
          <p:nvPr/>
        </p:nvSpPr>
        <p:spPr>
          <a:xfrm>
            <a:off x="4663440" y="2834640"/>
            <a:ext cx="4023360" cy="566928"/>
          </a:xfrm>
          <a:prstGeom prst="roundRect">
            <a:avLst>
              <a:gd name="adj" fmla="val 12903"/>
            </a:avLst>
          </a:prstGeom>
          <a:solidFill>
            <a:srgbClr val="54207F"/>
          </a:solidFill>
          <a:ln w="12700">
            <a:solidFill>
              <a:srgbClr val="54207F"/>
            </a:solidFill>
            <a:prstDash val="solid"/>
          </a:ln>
        </p:spPr>
      </p:sp>
      <p:sp>
        <p:nvSpPr>
          <p:cNvPr id="22" name="Text 17"/>
          <p:cNvSpPr txBox="1"/>
          <p:nvPr/>
        </p:nvSpPr>
        <p:spPr>
          <a:xfrm>
            <a:off x="4846320" y="2834640"/>
            <a:ext cx="3703320" cy="566928"/>
          </a:xfrm>
          <a:prstGeom prst="rect">
            <a:avLst/>
          </a:prstGeom>
          <a:noFill/>
          <a:ln/>
        </p:spPr>
        <p:txBody>
          <a:bodyPr wrap="square" lIns="0" tIns="0" rIns="0" bIns="0" rtlCol="0" anchor="ctr"/>
          <a:lstStyle/>
          <a:p>
            <a:pPr marL="0" indent="0">
              <a:buNone/>
            </a:pPr>
            <a:r>
              <a:rPr lang="en-US" sz="850" b="1" dirty="0">
                <a:solidFill>
                  <a:srgbClr val="F4B6D2"/>
                </a:solidFill>
                <a:latin typeface="Calibri" pitchFamily="34" charset="0"/>
                <a:ea typeface="Calibri" pitchFamily="34" charset="-122"/>
                <a:cs typeface="Calibri" pitchFamily="34" charset="-120"/>
              </a:rPr>
              <a:t>NEXT</a:t>
            </a:r>
            <a:endParaRPr lang="en-US" sz="1200" dirty="0"/>
          </a:p>
          <a:p>
            <a:pPr marL="0" indent="0">
              <a:buNone/>
            </a:pPr>
            <a:r>
              <a:rPr lang="en-US" sz="1100" dirty="0">
                <a:solidFill>
                  <a:srgbClr val="FFFFFF"/>
                </a:solidFill>
                <a:latin typeface="Calibri" pitchFamily="34" charset="0"/>
                <a:ea typeface="Calibri" pitchFamily="34" charset="-122"/>
                <a:cs typeface="Calibri" pitchFamily="34" charset="-120"/>
              </a:rPr>
              <a:t>GSM · wearable PCB · pilot, 10–15 volunteers</a:t>
            </a:r>
            <a:endParaRPr lang="en-US" sz="1200" dirty="0"/>
          </a:p>
        </p:txBody>
      </p:sp>
      <p:sp>
        <p:nvSpPr>
          <p:cNvPr id="23" name="Shape 18"/>
          <p:cNvSpPr/>
          <p:nvPr/>
        </p:nvSpPr>
        <p:spPr>
          <a:xfrm>
            <a:off x="457200" y="3538728"/>
            <a:ext cx="8229600" cy="640080"/>
          </a:xfrm>
          <a:prstGeom prst="roundRect">
            <a:avLst>
              <a:gd name="adj" fmla="val 11429"/>
            </a:avLst>
          </a:prstGeom>
          <a:solidFill>
            <a:srgbClr val="C2185B"/>
          </a:solidFill>
          <a:ln w="12700">
            <a:solidFill>
              <a:srgbClr val="C2185B"/>
            </a:solidFill>
            <a:prstDash val="solid"/>
          </a:ln>
        </p:spPr>
      </p:sp>
      <p:sp>
        <p:nvSpPr>
          <p:cNvPr id="24" name="Text 19"/>
          <p:cNvSpPr txBox="1"/>
          <p:nvPr/>
        </p:nvSpPr>
        <p:spPr>
          <a:xfrm>
            <a:off x="685800" y="3538728"/>
            <a:ext cx="7772400" cy="6400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Our ask  </a:t>
            </a:r>
            <a:r>
              <a:rPr lang="en-US" sz="1300" dirty="0">
                <a:solidFill>
                  <a:srgbClr val="FFFFFF"/>
                </a:solidFill>
                <a:latin typeface="Calibri" pitchFamily="34" charset="0"/>
                <a:ea typeface="Calibri" pitchFamily="34" charset="-122"/>
                <a:cs typeface="Calibri" pitchFamily="34" charset="-120"/>
              </a:rPr>
              <a:t>Pilot partners (IEEE WIE chapters, colleges) and mentorship to harden the GSM version.</a:t>
            </a:r>
            <a:endParaRPr lang="en-US" sz="1300" dirty="0"/>
          </a:p>
        </p:txBody>
      </p:sp>
      <p:sp>
        <p:nvSpPr>
          <p:cNvPr id="25" name="Text 20"/>
          <p:cNvSpPr txBox="1"/>
          <p:nvPr/>
        </p:nvSpPr>
        <p:spPr>
          <a:xfrm>
            <a:off x="457200" y="4315968"/>
            <a:ext cx="8229600" cy="256032"/>
          </a:xfrm>
          <a:prstGeom prst="rect">
            <a:avLst/>
          </a:prstGeom>
          <a:noFill/>
          <a:ln/>
        </p:spPr>
        <p:txBody>
          <a:bodyPr wrap="square" lIns="0" tIns="0" rIns="0" bIns="0" rtlCol="0" anchor="t"/>
          <a:lstStyle/>
          <a:p>
            <a:r>
              <a:rPr lang="en-US" sz="1200" b="1" dirty="0">
                <a:solidFill>
                  <a:srgbClr val="EAD6F6"/>
                </a:solidFill>
                <a:latin typeface="Calibri" pitchFamily="34" charset="0"/>
                <a:ea typeface="Calibri" pitchFamily="34" charset="-122"/>
                <a:cs typeface="Calibri" pitchFamily="34" charset="-120"/>
              </a:rPr>
              <a:t>GitHub  </a:t>
            </a:r>
            <a:r>
              <a:rPr lang="en-US" sz="1200" dirty="0">
                <a:solidFill>
                  <a:srgbClr val="EAD6F6"/>
                </a:solidFill>
                <a:latin typeface="Calibri" pitchFamily="34" charset="0"/>
                <a:ea typeface="Calibri" pitchFamily="34" charset="-122"/>
                <a:cs typeface="Calibri" pitchFamily="34" charset="-120"/>
              </a:rPr>
              <a:t>github.com/HarshParmar029/</a:t>
            </a:r>
            <a:r>
              <a:rPr lang="en-US" sz="1200">
                <a:solidFill>
                  <a:srgbClr val="EAD6F6"/>
                </a:solidFill>
                <a:latin typeface="Calibri" pitchFamily="34" charset="0"/>
                <a:ea typeface="Calibri" pitchFamily="34" charset="-122"/>
                <a:cs typeface="Calibri" pitchFamily="34" charset="-120"/>
              </a:rPr>
              <a:t>SheShield-Wearable      </a:t>
            </a:r>
          </a:p>
          <a:p>
            <a:r>
              <a:rPr lang="en-US" sz="1200" b="1">
                <a:solidFill>
                  <a:srgbClr val="EAD6F6"/>
                </a:solidFill>
                <a:latin typeface="Calibri" pitchFamily="34" charset="0"/>
                <a:ea typeface="Calibri" pitchFamily="34" charset="-122"/>
                <a:cs typeface="Calibri" pitchFamily="34" charset="-120"/>
              </a:rPr>
              <a:t>Demo video  </a:t>
            </a:r>
            <a:r>
              <a:rPr lang="en-US" sz="1200">
                <a:solidFill>
                  <a:srgbClr val="EAD6F6"/>
                </a:solidFill>
                <a:latin typeface="Calibri" pitchFamily="34" charset="0"/>
                <a:ea typeface="Calibri" pitchFamily="34" charset="-122"/>
                <a:cs typeface="Calibri" pitchFamily="34" charset="-120"/>
              </a:rPr>
              <a:t>https://drive.google.com/file/d/1BlsPJShyzV3eILE0zheHAcHvunwJRicK/view?usp=sharing</a:t>
            </a:r>
            <a:endParaRPr lang="en-US" sz="1200" dirty="0"/>
          </a:p>
        </p:txBody>
      </p:sp>
      <p:sp>
        <p:nvSpPr>
          <p:cNvPr id="26" name="Text 21"/>
          <p:cNvSpPr txBox="1"/>
          <p:nvPr/>
        </p:nvSpPr>
        <p:spPr>
          <a:xfrm>
            <a:off x="457200" y="4736592"/>
            <a:ext cx="8229600" cy="256032"/>
          </a:xfrm>
          <a:prstGeom prst="rect">
            <a:avLst/>
          </a:prstGeom>
          <a:noFill/>
          <a:ln/>
        </p:spPr>
        <p:txBody>
          <a:bodyPr wrap="square" lIns="0" tIns="0" rIns="0" bIns="0" rtlCol="0" anchor="t"/>
          <a:lstStyle/>
          <a:p>
            <a:pPr marL="0" indent="0">
              <a:buNone/>
            </a:pPr>
            <a:r>
              <a:rPr lang="en-US" sz="1150" dirty="0">
                <a:solidFill>
                  <a:srgbClr val="EAD6F6"/>
                </a:solidFill>
                <a:latin typeface="Calibri" pitchFamily="34" charset="0"/>
                <a:ea typeface="Calibri" pitchFamily="34" charset="-122"/>
                <a:cs typeface="Calibri" pitchFamily="34" charset="-120"/>
              </a:rPr>
              <a:t>Thank you  ·  Team Hack Monster’z  ·  Marwadi University &amp; Atmiya University, Rajkot</a:t>
            </a:r>
            <a:endParaRPr lang="en-US" sz="1150" dirty="0"/>
          </a:p>
        </p:txBody>
      </p:sp>
      <p:sp>
        <p:nvSpPr>
          <p:cNvPr id="27" name="Text 22"/>
          <p:cNvSpPr txBox="1"/>
          <p:nvPr/>
        </p:nvSpPr>
        <p:spPr>
          <a:xfrm>
            <a:off x="7772400" y="4864608"/>
            <a:ext cx="914400" cy="182880"/>
          </a:xfrm>
          <a:prstGeom prst="rect">
            <a:avLst/>
          </a:prstGeom>
          <a:noFill/>
          <a:ln/>
        </p:spPr>
        <p:txBody>
          <a:bodyPr wrap="square" lIns="0" tIns="0" rIns="0" bIns="0" rtlCol="0" anchor="t"/>
          <a:lstStyle/>
          <a:p>
            <a:pPr marL="0" indent="0" algn="r">
              <a:buNone/>
            </a:pPr>
            <a:r>
              <a:rPr lang="en-US" sz="900" dirty="0">
                <a:solidFill>
                  <a:srgbClr val="CDB0E0"/>
                </a:solidFill>
                <a:latin typeface="Calibri" pitchFamily="34" charset="0"/>
                <a:ea typeface="Calibri" pitchFamily="34" charset="-122"/>
                <a:cs typeface="Calibri"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2202</Words>
  <Application>Microsoft Office PowerPoint</Application>
  <PresentationFormat>On-screen Show (16:9)</PresentationFormat>
  <Paragraphs>343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SheShield - IEEE WIE ILS 2026 Round 2</dc:title>
  <dc:subject>PptxGenJS Presentation</dc:subject>
  <dc:creator>Hack Monster'z</dc:creator>
  <cp:lastModifiedBy>harsh parmar</cp:lastModifiedBy>
  <cp:revision>2</cp:revision>
  <dcterms:created xsi:type="dcterms:W3CDTF">2026-09-21T10:08:21Z</dcterms:created>
  <dcterms:modified xsi:type="dcterms:W3CDTF">2026-09-30T01:41:24Z</dcterms:modified>
</cp:coreProperties>
</file>